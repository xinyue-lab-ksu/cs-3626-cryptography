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840" r:id="rId2"/>
  </p:sldMasterIdLst>
  <p:notesMasterIdLst>
    <p:notesMasterId r:id="rId22"/>
  </p:notesMasterIdLst>
  <p:handoutMasterIdLst>
    <p:handoutMasterId r:id="rId23"/>
  </p:handoutMasterIdLst>
  <p:sldIdLst>
    <p:sldId id="324" r:id="rId3"/>
    <p:sldId id="376" r:id="rId4"/>
    <p:sldId id="257" r:id="rId5"/>
    <p:sldId id="293" r:id="rId6"/>
    <p:sldId id="378" r:id="rId7"/>
    <p:sldId id="281" r:id="rId8"/>
    <p:sldId id="305" r:id="rId9"/>
    <p:sldId id="306" r:id="rId10"/>
    <p:sldId id="286" r:id="rId11"/>
    <p:sldId id="330" r:id="rId12"/>
    <p:sldId id="331" r:id="rId13"/>
    <p:sldId id="379" r:id="rId14"/>
    <p:sldId id="263" r:id="rId15"/>
    <p:sldId id="380" r:id="rId16"/>
    <p:sldId id="333" r:id="rId17"/>
    <p:sldId id="334" r:id="rId18"/>
    <p:sldId id="381" r:id="rId19"/>
    <p:sldId id="336" r:id="rId20"/>
    <p:sldId id="382" r:id="rId21"/>
  </p:sldIdLst>
  <p:sldSz cx="12192000" cy="6858000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6" autoAdjust="0"/>
    <p:restoredTop sz="86441" autoAdjust="0"/>
  </p:normalViewPr>
  <p:slideViewPr>
    <p:cSldViewPr>
      <p:cViewPr varScale="1">
        <p:scale>
          <a:sx n="78" d="100"/>
          <a:sy n="78" d="100"/>
        </p:scale>
        <p:origin x="120" y="4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-1496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F217DA43-F7AE-7641-96F9-03D7730E69DC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B1B765E1-EB55-3F42-96E6-9BC39CDD5E7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213168-CBB8-004E-B161-E3C8E26BC09B}" type="slidenum">
              <a:rPr lang="en-AU">
                <a:latin typeface="Arial" pitchFamily="-84" charset="0"/>
              </a:rPr>
              <a:pPr/>
              <a:t>1</a:t>
            </a:fld>
            <a:endParaRPr lang="en-AU">
              <a:latin typeface="Arial" pitchFamily="-8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702A24-FA59-FB47-B5ED-F3B289B39302}" type="slidenum">
              <a:rPr lang="en-AU">
                <a:latin typeface="Arial" pitchFamily="-84" charset="0"/>
              </a:rPr>
              <a:pPr/>
              <a:t>6</a:t>
            </a:fld>
            <a:endParaRPr lang="en-AU">
              <a:latin typeface="Arial" pitchFamily="-8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i="1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D348B4-5558-1C4E-9943-D091830B32AF}" type="slidenum">
              <a:rPr lang="en-AU" smtClean="0">
                <a:latin typeface="Arial" pitchFamily="-84" charset="0"/>
              </a:rPr>
              <a:pPr/>
              <a:t>7</a:t>
            </a:fld>
            <a:endParaRPr lang="en-AU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b="1" i="1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3DC2E6-EEFD-874E-B170-9A85AC6E093F}" type="slidenum">
              <a:rPr lang="en-AU" smtClean="0">
                <a:latin typeface="Arial" pitchFamily="-84" charset="0"/>
              </a:rPr>
              <a:pPr/>
              <a:t>8</a:t>
            </a:fld>
            <a:endParaRPr lang="en-AU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6F37AB-E29E-B94D-B797-40264BDA9EBB}" type="slidenum">
              <a:rPr lang="en-AU">
                <a:latin typeface="Arial" pitchFamily="-84" charset="0"/>
              </a:rPr>
              <a:pPr/>
              <a:t>9</a:t>
            </a:fld>
            <a:endParaRPr lang="en-AU">
              <a:latin typeface="Arial" pitchFamily="-8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D3896B-A8FC-4A47-B28C-34D1D9795B34}" type="slidenum">
              <a:rPr lang="en-AU" smtClean="0">
                <a:latin typeface="Arial" pitchFamily="-84" charset="0"/>
              </a:rPr>
              <a:pPr/>
              <a:t>10</a:t>
            </a:fld>
            <a:endParaRPr lang="en-AU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3B5EFD-BDF2-DC42-8674-BFFF97780EEF}" type="slidenum">
              <a:rPr lang="en-AU" smtClean="0">
                <a:latin typeface="Arial" pitchFamily="-84" charset="0"/>
              </a:rPr>
              <a:pPr/>
              <a:t>11</a:t>
            </a:fld>
            <a:endParaRPr lang="en-AU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0118FC-DFA6-EC48-AF68-EC43E4DB831B}" type="slidenum">
              <a:rPr lang="en-AU" smtClean="0">
                <a:latin typeface="Arial" pitchFamily="-84" charset="0"/>
              </a:rPr>
              <a:pPr/>
              <a:t>15</a:t>
            </a:fld>
            <a:endParaRPr lang="en-AU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baseline="30000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0F70A2-E83B-B941-A8BF-73D587A67417}" type="slidenum">
              <a:rPr lang="en-AU" smtClean="0">
                <a:latin typeface="Arial" pitchFamily="-84" charset="0"/>
              </a:rPr>
              <a:pPr/>
              <a:t>16</a:t>
            </a:fld>
            <a:endParaRPr lang="en-AU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5B2419-3275-C04F-8FDC-CEB8F0A9BFC5}" type="slidenum">
              <a:rPr lang="en-AU" smtClean="0">
                <a:latin typeface="Arial" pitchFamily="-84" charset="0"/>
              </a:rPr>
              <a:pPr/>
              <a:t>18</a:t>
            </a:fld>
            <a:endParaRPr lang="en-AU">
              <a:latin typeface="Arial" pitchFamily="-8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4234" y="4267200"/>
            <a:ext cx="12187767" cy="2590800"/>
            <a:chOff x="2" y="2688"/>
            <a:chExt cx="5758" cy="1632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7" name="Group 5"/>
              <p:cNvGrpSpPr>
                <a:grpSpLocks/>
              </p:cNvGrpSpPr>
              <p:nvPr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60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1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2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3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4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5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6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7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9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0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1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2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3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4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5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6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7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8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9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0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1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2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3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4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5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6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7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8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9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0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1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2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3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4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5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6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7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8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9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0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1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2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3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4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5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6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7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48" name="Group 54"/>
              <p:cNvGrpSpPr>
                <a:grpSpLocks/>
              </p:cNvGrpSpPr>
              <p:nvPr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54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5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6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7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8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9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49" name="Group 61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50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1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2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3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90178" name="Rectangle 66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692276"/>
            <a:ext cx="103632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017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8" name="Rectangle 68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5EF581-0E8B-1644-973A-58ABAC7E08A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B294C-D295-9A41-A644-AA4385FA01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0B9FC7-6686-5347-9CB0-1546F2BC5E3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6401"/>
            <a:ext cx="53848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1"/>
            <a:ext cx="53848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5C8B5-2ACE-8D46-AC11-C6D02B882DB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9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E763C-3782-2941-8360-E3F03AEA7D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5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40AA3-233B-FB4A-9F8F-C96C5A6CF6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4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D372B-D420-C54D-8767-D73AC5A101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642DF-26EE-714A-A24A-028B6D1762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7D039-DE9B-EB48-B3A9-EAE8E52898D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571F1-141D-9947-B89B-C71570E7C7A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9F3187-063D-B44F-AB3F-7977ABF9E0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E36E-C226-4E45-936C-DCC5B8C69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21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38E293-5757-B443-AD77-BD23F0D77BC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719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38D00E-85F4-444E-87C2-78E53B8874D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3366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EC1D24-2EC1-FF44-89DA-12B55CC0C8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6327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751168-E824-D04D-83FF-C98F1CA6593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09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30744C-4E5E-B44F-858E-4DFAADC1692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1406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50C4C7-E6BB-984E-935A-7BAFFF217E5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3045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71B74E-94C9-3A46-BDDD-4A5C29C0C52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309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EC72D9-0234-0849-A78E-7C9F74E65B5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065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6FEB9-CF7A-B848-AF2F-BE9E1FDF15D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1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8130B2-53C1-C742-BB72-C65A7D6485D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1685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2267" y="3693646"/>
            <a:ext cx="7262284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2267" y="5204012"/>
            <a:ext cx="7262284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4410636" y="950260"/>
            <a:ext cx="3370728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7010400" y="6356351"/>
            <a:ext cx="28448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36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4234" y="4267200"/>
            <a:ext cx="12187767" cy="2590800"/>
            <a:chOff x="2" y="2688"/>
            <a:chExt cx="5758" cy="1632"/>
          </a:xfrm>
        </p:grpSpPr>
        <p:sp>
          <p:nvSpPr>
            <p:cNvPr id="89091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1034" name="Group 5"/>
              <p:cNvGrpSpPr>
                <a:grpSpLocks/>
              </p:cNvGrpSpPr>
              <p:nvPr userDrawn="1"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89094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5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6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7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8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9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00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01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9102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3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4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5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6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7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8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9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0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1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2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3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4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5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6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7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8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9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0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1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2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3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4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5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6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7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8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9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0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1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2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3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4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5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6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7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8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9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40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41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1075" name="Group 54"/>
              <p:cNvGrpSpPr>
                <a:grpSpLocks/>
              </p:cNvGrpSpPr>
              <p:nvPr userDrawn="1"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89143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4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5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6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7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8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1076" name="Group 61"/>
              <p:cNvGrpSpPr>
                <a:grpSpLocks/>
              </p:cNvGrpSpPr>
              <p:nvPr userDrawn="1"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89150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51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52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53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89154" name="Rectangle 66"/>
          <p:cNvSpPr>
            <a:spLocks noGrp="1" noChangeArrowheads="1"/>
          </p:cNvSpPr>
          <p:nvPr>
            <p:ph type="title"/>
          </p:nvPr>
        </p:nvSpPr>
        <p:spPr bwMode="black">
          <a:xfrm>
            <a:off x="609600" y="277814"/>
            <a:ext cx="109728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9155" name="Rectangle 67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156" name="Rectangle 68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89157" name="Rectangle 69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fld id="{6D4DF42E-3762-4049-AE2C-F3CF68EA27A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9158" name="Rectangle 70"/>
          <p:cNvSpPr>
            <a:spLocks noGrp="1" noChangeArrowheads="1"/>
          </p:cNvSpPr>
          <p:nvPr>
            <p:ph type="body" idx="1"/>
          </p:nvPr>
        </p:nvSpPr>
        <p:spPr bwMode="black">
          <a:xfrm>
            <a:off x="609600" y="1676401"/>
            <a:ext cx="109728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5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-84" charset="2"/>
        <a:buChar char="Ø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-84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84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D4DF42E-3762-4049-AE2C-F3CF68EA27A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92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microsoft.com/office/2007/relationships/hdphoto" Target="../media/hdphoto2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microsoft.com/office/2007/relationships/hdphoto" Target="../media/hdphoto4.wdp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7.wdp"/><Relationship Id="rId18" Type="http://schemas.openxmlformats.org/officeDocument/2006/relationships/image" Target="../media/image11.png"/><Relationship Id="rId3" Type="http://schemas.microsoft.com/office/2007/relationships/hdphoto" Target="../media/hdphoto4.wdp"/><Relationship Id="rId7" Type="http://schemas.microsoft.com/office/2007/relationships/hdphoto" Target="../media/hdphoto5.wdp"/><Relationship Id="rId12" Type="http://schemas.openxmlformats.org/officeDocument/2006/relationships/image" Target="../media/image9.png"/><Relationship Id="rId17" Type="http://schemas.microsoft.com/office/2007/relationships/hdphoto" Target="../media/hdphoto8.wdp"/><Relationship Id="rId2" Type="http://schemas.openxmlformats.org/officeDocument/2006/relationships/image" Target="../media/image5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microsoft.com/office/2007/relationships/hdphoto" Target="../media/hdphoto2.wdp"/><Relationship Id="rId5" Type="http://schemas.microsoft.com/office/2007/relationships/hdphoto" Target="../media/hdphoto1.wdp"/><Relationship Id="rId15" Type="http://schemas.microsoft.com/office/2007/relationships/hdphoto" Target="../media/hdphoto3.wdp"/><Relationship Id="rId10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microsoft.com/office/2007/relationships/hdphoto" Target="../media/hdphoto6.wdp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ubtitle 13">
            <a:extLst>
              <a:ext uri="{FF2B5EF4-FFF2-40B4-BE49-F238E27FC236}">
                <a16:creationId xmlns:a16="http://schemas.microsoft.com/office/drawing/2014/main" id="{2AD4D9B4-88BB-4963-9F9E-52307223834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 bwMode="auto">
          <a:xfrm>
            <a:off x="1285240" y="1050595"/>
            <a:ext cx="8074815" cy="161848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marL="0" indent="0" algn="ctr" rtl="0" fontAlgn="base">
              <a:spcBef>
                <a:spcPts val="3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None/>
              <a:defRPr sz="18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defRPr>
            </a:lvl1pPr>
            <a:lvl2pPr marL="457200" indent="0" algn="ctr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pitchFamily="-84" charset="-128"/>
                <a:cs typeface="+mn-cs"/>
              </a:defRPr>
            </a:lvl2pPr>
            <a:lvl3pPr marL="914400" indent="0" algn="ctr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pitchFamily="-84" charset="-128"/>
                <a:cs typeface="+mn-cs"/>
              </a:defRPr>
            </a:lvl3pPr>
            <a:lvl4pPr marL="1371600" indent="0" algn="ctr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pitchFamily="-84" charset="-128"/>
                <a:cs typeface="+mn-cs"/>
              </a:defRPr>
            </a:lvl4pPr>
            <a:lvl5pPr marL="1828800" indent="0" algn="ctr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pitchFamily="-84" charset="-128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BAABE3"/>
              </a:buClr>
              <a:buSzTx/>
              <a:buFont typeface="Candara" pitchFamily="-84" charset="0"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Modular Arithmetic</a:t>
            </a:r>
          </a:p>
        </p:txBody>
      </p:sp>
      <p:sp>
        <p:nvSpPr>
          <p:cNvPr id="26" name="Subtitle 13">
            <a:extLst>
              <a:ext uri="{FF2B5EF4-FFF2-40B4-BE49-F238E27FC236}">
                <a16:creationId xmlns:a16="http://schemas.microsoft.com/office/drawing/2014/main" id="{A225EC53-CA53-4019-BD48-766A60667F7B}"/>
              </a:ext>
            </a:extLst>
          </p:cNvPr>
          <p:cNvSpPr txBox="1">
            <a:spLocks/>
          </p:cNvSpPr>
          <p:nvPr/>
        </p:nvSpPr>
        <p:spPr bwMode="auto">
          <a:xfrm>
            <a:off x="1285240" y="2969469"/>
            <a:ext cx="8074815" cy="2800395"/>
          </a:xfrm>
          <a:prstGeom prst="rect">
            <a:avLst/>
          </a:prstGeom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BAABE3"/>
              </a:buClr>
              <a:buFont typeface="Candara" pitchFamily="-1" charset="0"/>
              <a:buNone/>
              <a:defRPr sz="1800" kern="1200">
                <a:solidFill>
                  <a:schemeClr val="tx2"/>
                </a:solidFill>
                <a:latin typeface="+mn-lt"/>
                <a:ea typeface="ＭＳ Ｐゴシック" pitchFamily="-1" charset="-128"/>
                <a:cs typeface="ＭＳ Ｐゴシック" pitchFamily="-1" charset="-128"/>
              </a:defRPr>
            </a:lvl1pPr>
            <a:lvl2pPr marL="457200" indent="0" algn="ctr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1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pitchFamily="-1" charset="-128"/>
                <a:cs typeface="+mn-cs"/>
              </a:defRPr>
            </a:lvl2pPr>
            <a:lvl3pPr marL="914400" indent="0" algn="ctr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1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pitchFamily="-1" charset="-128"/>
                <a:cs typeface="+mn-cs"/>
              </a:defRPr>
            </a:lvl3pPr>
            <a:lvl4pPr marL="1371600" indent="0" algn="ctr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1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pitchFamily="-1" charset="-128"/>
                <a:cs typeface="+mn-cs"/>
              </a:defRPr>
            </a:lvl4pPr>
            <a:lvl5pPr marL="1828800" indent="0" algn="ctr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1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pitchFamily="-1" charset="-128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algn="l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ea typeface="+mn-ea"/>
                <a:cs typeface="+mn-cs"/>
              </a:rPr>
              <a:t>Dr. Xinyue Zhang</a:t>
            </a:r>
          </a:p>
          <a:p>
            <a:pPr indent="-228600" algn="l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tx1"/>
              </a:solidFill>
              <a:ea typeface="+mn-ea"/>
              <a:cs typeface="+mn-cs"/>
            </a:endParaRPr>
          </a:p>
          <a:p>
            <a:pPr indent="-228600" algn="l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ea typeface="+mn-ea"/>
                <a:cs typeface="+mn-cs"/>
              </a:rPr>
              <a:t>Assistant Professor</a:t>
            </a:r>
          </a:p>
          <a:p>
            <a:pPr indent="-228600" algn="l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ea typeface="+mn-ea"/>
                <a:cs typeface="+mn-cs"/>
              </a:rPr>
              <a:t>Department of Computer Science</a:t>
            </a:r>
          </a:p>
          <a:p>
            <a:pPr indent="-228600" algn="l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ea typeface="+mn-ea"/>
                <a:cs typeface="+mn-cs"/>
              </a:rPr>
              <a:t>Kennesaw State University</a:t>
            </a:r>
          </a:p>
          <a:p>
            <a:pPr indent="-228600" algn="l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ea typeface="+mn-ea"/>
                <a:cs typeface="+mn-cs"/>
              </a:rPr>
              <a:t>Marietta, GA, USA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8525F-5D71-4442-968F-873C7CBD3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B29AB-62E3-2743-A1DD-AC1AB7B13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of Private-Key Cryptography &amp; Public-Key Cryptography</a:t>
            </a:r>
          </a:p>
          <a:p>
            <a:r>
              <a:rPr lang="en-US" dirty="0"/>
              <a:t>Divisibility</a:t>
            </a:r>
          </a:p>
          <a:p>
            <a:r>
              <a:rPr lang="en-US" dirty="0"/>
              <a:t>Greatest Common Divisor &amp; Euclidean Algorithm</a:t>
            </a:r>
          </a:p>
          <a:p>
            <a:r>
              <a:rPr lang="en-US" dirty="0"/>
              <a:t>Modular Arithmetic</a:t>
            </a:r>
          </a:p>
        </p:txBody>
      </p:sp>
    </p:spTree>
    <p:extLst>
      <p:ext uri="{BB962C8B-B14F-4D97-AF65-F5344CB8AC3E}">
        <p14:creationId xmlns:p14="http://schemas.microsoft.com/office/powerpoint/2010/main" val="338839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1926A-B550-4D45-B5C5-6C68E6E1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2"/>
                </a:solidFill>
              </a:rPr>
              <a:t>Private-Key Cryptography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C164-B4C1-41E5-BA0A-4971B4ED0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628800"/>
            <a:ext cx="11737304" cy="402336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buFont typeface="Wingdings" pitchFamily="-107" charset="2"/>
              <a:buChar char="Ø"/>
              <a:defRPr/>
            </a:pPr>
            <a:r>
              <a:rPr lang="en-AU" sz="2400" b="1" dirty="0"/>
              <a:t>Symmetric</a:t>
            </a:r>
            <a:r>
              <a:rPr lang="en-AU" sz="2400" dirty="0"/>
              <a:t>, parties are equal </a:t>
            </a:r>
          </a:p>
          <a:p>
            <a:pPr>
              <a:lnSpc>
                <a:spcPct val="70000"/>
              </a:lnSpc>
              <a:buFont typeface="Wingdings" pitchFamily="-107" charset="2"/>
              <a:buChar char="Ø"/>
              <a:defRPr/>
            </a:pPr>
            <a:r>
              <a:rPr lang="en-US" sz="2400" dirty="0"/>
              <a:t>Require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secure channel </a:t>
            </a:r>
            <a:r>
              <a:rPr lang="en-US" altLang="en-US" sz="2400" dirty="0"/>
              <a:t>for key distribution, i</a:t>
            </a:r>
            <a:r>
              <a:rPr lang="en-US" sz="2400" dirty="0"/>
              <a:t>mpossible for two parties having no prior relationship</a:t>
            </a:r>
          </a:p>
          <a:p>
            <a:pPr>
              <a:lnSpc>
                <a:spcPct val="70000"/>
              </a:lnSpc>
              <a:buFont typeface="Wingdings" pitchFamily="-107" charset="2"/>
              <a:buChar char="Ø"/>
              <a:defRPr/>
            </a:pPr>
            <a:r>
              <a:rPr lang="en-US" sz="2400" dirty="0"/>
              <a:t>Needs </a:t>
            </a:r>
            <a:r>
              <a:rPr lang="en-US" sz="2400" b="1" dirty="0">
                <a:solidFill>
                  <a:srgbClr val="FF0000"/>
                </a:solidFill>
              </a:rPr>
              <a:t>many keys </a:t>
            </a:r>
            <a:r>
              <a:rPr lang="en-US" sz="2400" dirty="0"/>
              <a:t>for n parties to communicate</a:t>
            </a:r>
          </a:p>
          <a:p>
            <a:pPr>
              <a:buFont typeface="Wingdings" pitchFamily="-107" charset="2"/>
              <a:buChar char="Ø"/>
              <a:defRPr/>
            </a:pPr>
            <a:endParaRPr lang="en-AU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89ABC-10E3-4033-95A4-25010081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3</a:t>
            </a:fld>
            <a:endParaRPr lang="en-US"/>
          </a:p>
        </p:txBody>
      </p: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74B02BE6-5299-4F5F-A822-4769A3F2E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302" b="96667" l="9941" r="96588">
                        <a14:foregroundMark x1="41543" y1="11111" x2="54303" y2="7302"/>
                        <a14:foregroundMark x1="54303" y1="7302" x2="56380" y2="9683"/>
                        <a14:foregroundMark x1="88872" y1="68095" x2="95252" y2="80476"/>
                        <a14:foregroundMark x1="95252" y1="80476" x2="95401" y2="95079"/>
                        <a14:foregroundMark x1="95401" y1="95079" x2="40801" y2="94921"/>
                        <a14:foregroundMark x1="40801" y1="94921" x2="53858" y2="84762"/>
                        <a14:foregroundMark x1="53858" y1="84762" x2="40356" y2="90159"/>
                        <a14:foregroundMark x1="40356" y1="90159" x2="57270" y2="81587"/>
                        <a14:foregroundMark x1="57270" y1="81587" x2="71810" y2="80794"/>
                        <a14:foregroundMark x1="71810" y1="80794" x2="85312" y2="83333"/>
                        <a14:foregroundMark x1="85312" y1="83333" x2="75223" y2="93016"/>
                        <a14:foregroundMark x1="75223" y1="93016" x2="45252" y2="92063"/>
                        <a14:foregroundMark x1="45252" y1="92063" x2="72404" y2="91587"/>
                        <a14:foregroundMark x1="72404" y1="91587" x2="33680" y2="87619"/>
                        <a14:foregroundMark x1="33680" y1="87619" x2="59199" y2="86825"/>
                        <a14:foregroundMark x1="59199" y1="86825" x2="43620" y2="87619"/>
                        <a14:foregroundMark x1="43620" y1="87619" x2="56380" y2="82222"/>
                        <a14:foregroundMark x1="56380" y1="82222" x2="43323" y2="88254"/>
                        <a14:foregroundMark x1="43323" y1="88254" x2="54896" y2="80794"/>
                        <a14:foregroundMark x1="54896" y1="80794" x2="35905" y2="87619"/>
                        <a14:foregroundMark x1="35905" y1="87619" x2="66914" y2="83175"/>
                        <a14:foregroundMark x1="66914" y1="83175" x2="47478" y2="87460"/>
                        <a14:foregroundMark x1="47478" y1="87460" x2="82938" y2="86667"/>
                        <a14:foregroundMark x1="82938" y1="86667" x2="63353" y2="88095"/>
                        <a14:foregroundMark x1="63353" y1="88095" x2="64243" y2="88571"/>
                        <a14:foregroundMark x1="10089" y1="75714" x2="8605" y2="90635"/>
                        <a14:foregroundMark x1="8605" y1="90635" x2="26706" y2="91905"/>
                        <a14:foregroundMark x1="26706" y1="91905" x2="11573" y2="85714"/>
                        <a14:foregroundMark x1="11573" y1="85714" x2="40950" y2="88889"/>
                        <a14:foregroundMark x1="40950" y1="88889" x2="18398" y2="89841"/>
                        <a14:foregroundMark x1="18398" y1="89841" x2="34125" y2="90159"/>
                        <a14:foregroundMark x1="34125" y1="90159" x2="17507" y2="90000"/>
                        <a14:foregroundMark x1="17507" y1="90000" x2="32789" y2="89524"/>
                        <a14:foregroundMark x1="32789" y1="89524" x2="50593" y2="90476"/>
                        <a14:foregroundMark x1="50593" y1="90476" x2="14243" y2="93810"/>
                        <a14:foregroundMark x1="14243" y1="93810" x2="34273" y2="96825"/>
                        <a14:foregroundMark x1="34273" y1="96825" x2="79525" y2="92063"/>
                        <a14:foregroundMark x1="79525" y1="92063" x2="90801" y2="83968"/>
                        <a14:foregroundMark x1="90801" y1="83968" x2="85163" y2="97143"/>
                        <a14:foregroundMark x1="85163" y1="97143" x2="15579" y2="94762"/>
                        <a14:foregroundMark x1="15579" y1="94762" x2="31157" y2="95397"/>
                        <a14:foregroundMark x1="31157" y1="95397" x2="45549" y2="95079"/>
                        <a14:foregroundMark x1="45549" y1="95079" x2="17062" y2="96667"/>
                        <a14:foregroundMark x1="17062" y1="96667" x2="82641" y2="90317"/>
                        <a14:foregroundMark x1="82641" y1="90317" x2="92285" y2="79365"/>
                        <a14:foregroundMark x1="92285" y1="79365" x2="91543" y2="93810"/>
                        <a14:foregroundMark x1="91543" y1="93810" x2="61128" y2="94127"/>
                        <a14:foregroundMark x1="61128" y1="94127" x2="79970" y2="92063"/>
                        <a14:foregroundMark x1="92433" y1="71429" x2="95994" y2="84921"/>
                        <a14:foregroundMark x1="95994" y1="84921" x2="92730" y2="71270"/>
                        <a14:foregroundMark x1="92730" y1="71270" x2="96142" y2="84921"/>
                        <a14:foregroundMark x1="96142" y1="84921" x2="89466" y2="97302"/>
                        <a14:foregroundMark x1="89466" y1="97302" x2="94659" y2="82381"/>
                        <a14:foregroundMark x1="94659" y1="82381" x2="95104" y2="96667"/>
                        <a14:foregroundMark x1="95104" y1="96667" x2="96588" y2="94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727" y="4810935"/>
            <a:ext cx="1165891" cy="10897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59E2521-27B4-4368-9203-105C34601EF2}"/>
              </a:ext>
            </a:extLst>
          </p:cNvPr>
          <p:cNvSpPr txBox="1"/>
          <p:nvPr/>
        </p:nvSpPr>
        <p:spPr>
          <a:xfrm>
            <a:off x="2120544" y="5900715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E6BCD2-C0DB-4159-98BD-AE0962D1928A}"/>
              </a:ext>
            </a:extLst>
          </p:cNvPr>
          <p:cNvSpPr txBox="1"/>
          <p:nvPr/>
        </p:nvSpPr>
        <p:spPr>
          <a:xfrm>
            <a:off x="9845702" y="5900715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Bob</a:t>
            </a:r>
          </a:p>
        </p:txBody>
      </p:sp>
      <p:pic>
        <p:nvPicPr>
          <p:cNvPr id="39" name="Picture 38" descr="Cartoon illustration of a red devil holding a trident, positioned to the left of bold red text reading &quot;Eavesdropping, packet sniffing, illegal copying.&quot; The graphic conveys a warning about network security threats using a simple, eye-catching design with a white background.">
            <a:extLst>
              <a:ext uri="{FF2B5EF4-FFF2-40B4-BE49-F238E27FC236}">
                <a16:creationId xmlns:a16="http://schemas.microsoft.com/office/drawing/2014/main" id="{28DA77A4-36F6-4B74-B375-0DDB7F2D79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177" y="3258541"/>
            <a:ext cx="1229061" cy="542233"/>
          </a:xfrm>
          <a:prstGeom prst="rect">
            <a:avLst/>
          </a:prstGeom>
        </p:spPr>
      </p:pic>
      <p:sp>
        <p:nvSpPr>
          <p:cNvPr id="22" name="Cloud 21">
            <a:extLst>
              <a:ext uri="{FF2B5EF4-FFF2-40B4-BE49-F238E27FC236}">
                <a16:creationId xmlns:a16="http://schemas.microsoft.com/office/drawing/2014/main" id="{DE22C875-6FDE-4AE5-979A-3EA687A52B71}"/>
              </a:ext>
            </a:extLst>
          </p:cNvPr>
          <p:cNvSpPr/>
          <p:nvPr/>
        </p:nvSpPr>
        <p:spPr>
          <a:xfrm>
            <a:off x="5422127" y="3820184"/>
            <a:ext cx="2015976" cy="115515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Insecure Channel(e.g., Internet)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148A921-8AB2-46C4-8A0B-AB5728D84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964895" y="4310916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6EA171-83D1-40A3-AD3F-DEF5AE240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27327" y="4266352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n 1" descr="Secure channel">
            <a:extLst>
              <a:ext uri="{FF2B5EF4-FFF2-40B4-BE49-F238E27FC236}">
                <a16:creationId xmlns:a16="http://schemas.microsoft.com/office/drawing/2014/main" id="{34A8A643-808A-4F21-81B9-4049F3D5B7B9}"/>
              </a:ext>
            </a:extLst>
          </p:cNvPr>
          <p:cNvSpPr/>
          <p:nvPr/>
        </p:nvSpPr>
        <p:spPr>
          <a:xfrm rot="16200000">
            <a:off x="5996684" y="4574029"/>
            <a:ext cx="609591" cy="278158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A44467-C8DB-45E0-9C26-E75C0F357031}"/>
              </a:ext>
            </a:extLst>
          </p:cNvPr>
          <p:cNvSpPr txBox="1"/>
          <p:nvPr/>
        </p:nvSpPr>
        <p:spPr>
          <a:xfrm>
            <a:off x="5453760" y="5780585"/>
            <a:ext cx="1797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</a:rPr>
              <a:t>Secure</a:t>
            </a:r>
            <a:r>
              <a:rPr lang="zh-CN" altLang="en-US" sz="2000" b="1" dirty="0">
                <a:solidFill>
                  <a:srgbClr val="FFFF00"/>
                </a:solidFill>
              </a:rPr>
              <a:t> </a:t>
            </a:r>
            <a:r>
              <a:rPr lang="en-US" altLang="zh-CN" sz="2000" b="1" dirty="0">
                <a:solidFill>
                  <a:srgbClr val="FFFF00"/>
                </a:solidFill>
              </a:rPr>
              <a:t>channel</a:t>
            </a:r>
            <a:endParaRPr lang="en-US" sz="2000" b="1" dirty="0">
              <a:solidFill>
                <a:srgbClr val="FFFF00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F826A58-D2AD-48DD-B189-E4137FA22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62" b="99438" l="0" r="93506">
                        <a14:foregroundMark x1="1948" y1="20787" x2="45130" y2="6180"/>
                        <a14:foregroundMark x1="45130" y1="6180" x2="90584" y2="11236"/>
                        <a14:foregroundMark x1="90584" y1="11236" x2="87987" y2="92135"/>
                        <a14:foregroundMark x1="87987" y1="92135" x2="41234" y2="96348"/>
                        <a14:foregroundMark x1="41234" y1="96348" x2="1623" y2="76124"/>
                        <a14:foregroundMark x1="1623" y1="76124" x2="4870" y2="31742"/>
                        <a14:foregroundMark x1="4870" y1="31742" x2="5519" y2="80899"/>
                        <a14:foregroundMark x1="5519" y1="80899" x2="8117" y2="36798"/>
                        <a14:foregroundMark x1="8117" y1="36798" x2="48052" y2="11236"/>
                        <a14:foregroundMark x1="48052" y1="11236" x2="87987" y2="30899"/>
                        <a14:foregroundMark x1="87987" y1="30899" x2="85065" y2="71067"/>
                        <a14:foregroundMark x1="85065" y1="71067" x2="45455" y2="91573"/>
                        <a14:foregroundMark x1="45455" y1="91573" x2="5519" y2="91292"/>
                        <a14:foregroundMark x1="24026" y1="6180" x2="71104" y2="6180"/>
                        <a14:foregroundMark x1="71104" y1="6180" x2="24351" y2="3090"/>
                        <a14:foregroundMark x1="24351" y1="3090" x2="74351" y2="1124"/>
                        <a14:foregroundMark x1="74351" y1="1124" x2="92857" y2="39888"/>
                        <a14:foregroundMark x1="92857" y1="39888" x2="92208" y2="81742"/>
                        <a14:foregroundMark x1="92208" y1="81742" x2="48701" y2="95506"/>
                        <a14:foregroundMark x1="48701" y1="95506" x2="5195" y2="82022"/>
                        <a14:foregroundMark x1="5195" y1="82022" x2="51948" y2="92416"/>
                        <a14:foregroundMark x1="51948" y1="92416" x2="6169" y2="97472"/>
                        <a14:foregroundMark x1="6169" y1="97472" x2="2922" y2="97191"/>
                        <a14:foregroundMark x1="0" y1="46910" x2="17532" y2="27528"/>
                        <a14:foregroundMark x1="35714" y1="40730" x2="32468" y2="19944"/>
                        <a14:foregroundMark x1="46429" y1="39045" x2="46429" y2="37640"/>
                        <a14:foregroundMark x1="48377" y1="35955" x2="35714" y2="42416"/>
                        <a14:foregroundMark x1="38636" y1="37079" x2="25974" y2="42416"/>
                        <a14:foregroundMark x1="18831" y1="36517" x2="67532" y2="37079"/>
                        <a14:foregroundMark x1="21104" y1="36517" x2="74351" y2="37079"/>
                        <a14:foregroundMark x1="32468" y1="35393" x2="74351" y2="35393"/>
                        <a14:foregroundMark x1="33766" y1="43258" x2="75325" y2="43820"/>
                        <a14:foregroundMark x1="16234" y1="53652" x2="78571" y2="55337"/>
                        <a14:foregroundMark x1="5519" y1="61517" x2="52597" y2="63764"/>
                        <a14:foregroundMark x1="52597" y1="63764" x2="61688" y2="53371"/>
                        <a14:foregroundMark x1="15584" y1="61517" x2="49351" y2="60674"/>
                        <a14:foregroundMark x1="71753" y1="53371" x2="68182" y2="53652"/>
                        <a14:foregroundMark x1="35065" y1="85674" x2="80195" y2="98034"/>
                        <a14:foregroundMark x1="80195" y1="98034" x2="73052" y2="87079"/>
                        <a14:foregroundMark x1="6494" y1="87640" x2="10390" y2="93820"/>
                        <a14:foregroundMark x1="9740" y1="82865" x2="10714" y2="85674"/>
                        <a14:foregroundMark x1="60390" y1="79775" x2="62013" y2="87079"/>
                        <a14:foregroundMark x1="80195" y1="81461" x2="83117" y2="88764"/>
                        <a14:foregroundMark x1="23377" y1="3652" x2="70455" y2="4213"/>
                        <a14:foregroundMark x1="70455" y1="4213" x2="25000" y2="12079"/>
                        <a14:foregroundMark x1="25000" y1="12079" x2="2273" y2="47753"/>
                        <a14:foregroundMark x1="2273" y1="47753" x2="2273" y2="87921"/>
                        <a14:foregroundMark x1="2273" y1="87921" x2="16234" y2="99719"/>
                        <a14:foregroundMark x1="5519" y1="18258" x2="51948" y2="4213"/>
                        <a14:foregroundMark x1="51948" y1="4213" x2="24675" y2="562"/>
                        <a14:foregroundMark x1="23377" y1="2528" x2="4870" y2="18258"/>
                        <a14:foregroundMark x1="649" y1="23034" x2="24675" y2="23596"/>
                        <a14:foregroundMark x1="24675" y1="25000" x2="25325" y2="12921"/>
                        <a14:foregroundMark x1="74351" y1="3090" x2="89286" y2="2528"/>
                        <a14:foregroundMark x1="87987" y1="2528" x2="92208" y2="98596"/>
                        <a14:foregroundMark x1="90584" y1="1966" x2="92208" y2="83708"/>
                        <a14:foregroundMark x1="92208" y1="83708" x2="93182" y2="4494"/>
                        <a14:foregroundMark x1="93182" y1="4494" x2="92208" y2="3652"/>
                        <a14:foregroundMark x1="25325" y1="10955" x2="25974" y2="29213"/>
                        <a14:foregroundMark x1="14935" y1="34551" x2="23052" y2="34831"/>
                        <a14:foregroundMark x1="19156" y1="99719" x2="45130" y2="99719"/>
                        <a14:foregroundMark x1="45130" y1="99157" x2="89935" y2="99157"/>
                        <a14:foregroundMark x1="90584" y1="44944" x2="92208" y2="84551"/>
                        <a14:foregroundMark x1="92208" y1="84551" x2="92857" y2="44663"/>
                        <a14:foregroundMark x1="92857" y1="44663" x2="92208" y2="79213"/>
                        <a14:foregroundMark x1="93506" y1="43258" x2="93506" y2="985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544" y="3906543"/>
            <a:ext cx="689980" cy="79750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6B3B29D-6116-4027-9DC0-D0ED152F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695" y="3886553"/>
            <a:ext cx="953847" cy="1088782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1D04FFA-BC8D-4708-9141-38D893C05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07727" y="4291673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FA3FC61D-DF3B-49AC-8CBB-706486F6A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127" y="3760906"/>
            <a:ext cx="953847" cy="1088782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8E1465-2821-4507-A8F4-D2311CAE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38103" y="4266352"/>
            <a:ext cx="6510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8BA539E2-658F-4226-9855-2E84A8F7D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62" b="99438" l="0" r="93506">
                        <a14:foregroundMark x1="1948" y1="20787" x2="45130" y2="6180"/>
                        <a14:foregroundMark x1="45130" y1="6180" x2="90584" y2="11236"/>
                        <a14:foregroundMark x1="90584" y1="11236" x2="87987" y2="92135"/>
                        <a14:foregroundMark x1="87987" y1="92135" x2="41234" y2="96348"/>
                        <a14:foregroundMark x1="41234" y1="96348" x2="1623" y2="76124"/>
                        <a14:foregroundMark x1="1623" y1="76124" x2="4870" y2="31742"/>
                        <a14:foregroundMark x1="4870" y1="31742" x2="5519" y2="80899"/>
                        <a14:foregroundMark x1="5519" y1="80899" x2="8117" y2="36798"/>
                        <a14:foregroundMark x1="8117" y1="36798" x2="48052" y2="11236"/>
                        <a14:foregroundMark x1="48052" y1="11236" x2="87987" y2="30899"/>
                        <a14:foregroundMark x1="87987" y1="30899" x2="85065" y2="71067"/>
                        <a14:foregroundMark x1="85065" y1="71067" x2="45455" y2="91573"/>
                        <a14:foregroundMark x1="45455" y1="91573" x2="5519" y2="91292"/>
                        <a14:foregroundMark x1="24026" y1="6180" x2="71104" y2="6180"/>
                        <a14:foregroundMark x1="71104" y1="6180" x2="24351" y2="3090"/>
                        <a14:foregroundMark x1="24351" y1="3090" x2="74351" y2="1124"/>
                        <a14:foregroundMark x1="74351" y1="1124" x2="92857" y2="39888"/>
                        <a14:foregroundMark x1="92857" y1="39888" x2="92208" y2="81742"/>
                        <a14:foregroundMark x1="92208" y1="81742" x2="48701" y2="95506"/>
                        <a14:foregroundMark x1="48701" y1="95506" x2="5195" y2="82022"/>
                        <a14:foregroundMark x1="5195" y1="82022" x2="51948" y2="92416"/>
                        <a14:foregroundMark x1="51948" y1="92416" x2="6169" y2="97472"/>
                        <a14:foregroundMark x1="6169" y1="97472" x2="2922" y2="97191"/>
                        <a14:foregroundMark x1="0" y1="46910" x2="17532" y2="27528"/>
                        <a14:foregroundMark x1="35714" y1="40730" x2="32468" y2="19944"/>
                        <a14:foregroundMark x1="46429" y1="39045" x2="46429" y2="37640"/>
                        <a14:foregroundMark x1="48377" y1="35955" x2="35714" y2="42416"/>
                        <a14:foregroundMark x1="38636" y1="37079" x2="25974" y2="42416"/>
                        <a14:foregroundMark x1="18831" y1="36517" x2="67532" y2="37079"/>
                        <a14:foregroundMark x1="21104" y1="36517" x2="74351" y2="37079"/>
                        <a14:foregroundMark x1="32468" y1="35393" x2="74351" y2="35393"/>
                        <a14:foregroundMark x1="33766" y1="43258" x2="75325" y2="43820"/>
                        <a14:foregroundMark x1="16234" y1="53652" x2="78571" y2="55337"/>
                        <a14:foregroundMark x1="5519" y1="61517" x2="52597" y2="63764"/>
                        <a14:foregroundMark x1="52597" y1="63764" x2="61688" y2="53371"/>
                        <a14:foregroundMark x1="15584" y1="61517" x2="49351" y2="60674"/>
                        <a14:foregroundMark x1="71753" y1="53371" x2="68182" y2="53652"/>
                        <a14:foregroundMark x1="35065" y1="85674" x2="80195" y2="98034"/>
                        <a14:foregroundMark x1="80195" y1="98034" x2="73052" y2="87079"/>
                        <a14:foregroundMark x1="6494" y1="87640" x2="10390" y2="93820"/>
                        <a14:foregroundMark x1="9740" y1="82865" x2="10714" y2="85674"/>
                        <a14:foregroundMark x1="60390" y1="79775" x2="62013" y2="87079"/>
                        <a14:foregroundMark x1="80195" y1="81461" x2="83117" y2="88764"/>
                        <a14:foregroundMark x1="23377" y1="3652" x2="70455" y2="4213"/>
                        <a14:foregroundMark x1="70455" y1="4213" x2="25000" y2="12079"/>
                        <a14:foregroundMark x1="25000" y1="12079" x2="2273" y2="47753"/>
                        <a14:foregroundMark x1="2273" y1="47753" x2="2273" y2="87921"/>
                        <a14:foregroundMark x1="2273" y1="87921" x2="16234" y2="99719"/>
                        <a14:foregroundMark x1="5519" y1="18258" x2="51948" y2="4213"/>
                        <a14:foregroundMark x1="51948" y1="4213" x2="24675" y2="562"/>
                        <a14:foregroundMark x1="23377" y1="2528" x2="4870" y2="18258"/>
                        <a14:foregroundMark x1="649" y1="23034" x2="24675" y2="23596"/>
                        <a14:foregroundMark x1="24675" y1="25000" x2="25325" y2="12921"/>
                        <a14:foregroundMark x1="74351" y1="3090" x2="89286" y2="2528"/>
                        <a14:foregroundMark x1="87987" y1="2528" x2="92208" y2="98596"/>
                        <a14:foregroundMark x1="90584" y1="1966" x2="92208" y2="83708"/>
                        <a14:foregroundMark x1="92208" y1="83708" x2="93182" y2="4494"/>
                        <a14:foregroundMark x1="93182" y1="4494" x2="92208" y2="3652"/>
                        <a14:foregroundMark x1="25325" y1="10955" x2="25974" y2="29213"/>
                        <a14:foregroundMark x1="14935" y1="34551" x2="23052" y2="34831"/>
                        <a14:foregroundMark x1="19156" y1="99719" x2="45130" y2="99719"/>
                        <a14:foregroundMark x1="45130" y1="99157" x2="89935" y2="99157"/>
                        <a14:foregroundMark x1="90584" y1="44944" x2="92208" y2="84551"/>
                        <a14:foregroundMark x1="92208" y1="84551" x2="92857" y2="44663"/>
                        <a14:foregroundMark x1="92857" y1="44663" x2="92208" y2="79213"/>
                        <a14:foregroundMark x1="93506" y1="43258" x2="93506" y2="985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411" y="3842543"/>
            <a:ext cx="710516" cy="82124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95F1D58-0FA7-406B-806E-02AFBFDB0A86}"/>
              </a:ext>
            </a:extLst>
          </p:cNvPr>
          <p:cNvSpPr txBox="1"/>
          <p:nvPr/>
        </p:nvSpPr>
        <p:spPr>
          <a:xfrm>
            <a:off x="3568046" y="3555280"/>
            <a:ext cx="1196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Encryption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830F59-A15D-45F5-961C-1D6805D76C37}"/>
              </a:ext>
            </a:extLst>
          </p:cNvPr>
          <p:cNvSpPr txBox="1"/>
          <p:nvPr/>
        </p:nvSpPr>
        <p:spPr>
          <a:xfrm>
            <a:off x="7852991" y="3391574"/>
            <a:ext cx="1220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Decryption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218E863-F1D8-4662-A157-383C520AE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896" b="89827" l="9949" r="92347">
                        <a14:foregroundMark x1="53444" y1="14394" x2="53444" y2="14394"/>
                        <a14:foregroundMark x1="55995" y1="12338" x2="55995" y2="12338"/>
                        <a14:foregroundMark x1="56760" y1="15801" x2="56760" y2="15801"/>
                        <a14:foregroundMark x1="59311" y1="20779" x2="59311" y2="20779"/>
                        <a14:foregroundMark x1="59311" y1="20779" x2="59311" y2="20779"/>
                        <a14:foregroundMark x1="29464" y1="14394" x2="29464" y2="14394"/>
                        <a14:foregroundMark x1="29464" y1="14394" x2="29464" y2="14394"/>
                        <a14:foregroundMark x1="27041" y1="22835" x2="37755" y2="17208"/>
                        <a14:foregroundMark x1="32015" y1="12987" x2="66582" y2="33658"/>
                        <a14:foregroundMark x1="66582" y1="33658" x2="70026" y2="69156"/>
                        <a14:foregroundMark x1="70026" y1="69156" x2="27296" y2="71970"/>
                        <a14:foregroundMark x1="27296" y1="71970" x2="75255" y2="74892"/>
                        <a14:foregroundMark x1="75255" y1="74892" x2="92347" y2="71320"/>
                        <a14:foregroundMark x1="71684" y1="29221" x2="49362" y2="11580"/>
                        <a14:foregroundMark x1="40306" y1="10173" x2="71684" y2="34957"/>
                        <a14:foregroundMark x1="71684" y1="34957" x2="50383" y2="3896"/>
                        <a14:foregroundMark x1="50383" y1="3896" x2="21684" y2="30736"/>
                        <a14:foregroundMark x1="12370" y1="58046" x2="10204" y2="64394"/>
                        <a14:foregroundMark x1="21684" y1="30736" x2="13678" y2="54212"/>
                        <a14:foregroundMark x1="10204" y1="64394" x2="50128" y2="78247"/>
                        <a14:foregroundMark x1="50128" y1="78247" x2="91071" y2="70022"/>
                        <a14:foregroundMark x1="91071" y1="70022" x2="66709" y2="53030"/>
                        <a14:foregroundMark x1="77423" y1="66342" x2="84056" y2="71320"/>
                        <a14:backgroundMark x1="13010" y1="56494" x2="13010" y2="56494"/>
                        <a14:backgroundMark x1="10459" y1="56494" x2="10459" y2="56494"/>
                        <a14:backgroundMark x1="8801" y1="56494" x2="13776" y2="56494"/>
                        <a14:backgroundMark x1="9694" y1="55087" x2="9694" y2="55087"/>
                        <a14:backgroundMark x1="8036" y1="54437" x2="13010" y2="55844"/>
                        <a14:backgroundMark x1="13010" y1="55087" x2="13010" y2="550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9202" y="4727783"/>
            <a:ext cx="1163782" cy="1371600"/>
          </a:xfrm>
          <a:prstGeom prst="rect">
            <a:avLst/>
          </a:prstGeom>
        </p:spPr>
      </p:pic>
      <p:pic>
        <p:nvPicPr>
          <p:cNvPr id="41" name="Picture 2" descr="IconExperience » G-Collection » Key Icon">
            <a:extLst>
              <a:ext uri="{FF2B5EF4-FFF2-40B4-BE49-F238E27FC236}">
                <a16:creationId xmlns:a16="http://schemas.microsoft.com/office/drawing/2014/main" id="{A8CF9324-60D4-443B-ADE0-0CDBDC7C3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049" y="5404026"/>
            <a:ext cx="511996" cy="511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IconExperience » G-Collection » Key Icon">
            <a:extLst>
              <a:ext uri="{FF2B5EF4-FFF2-40B4-BE49-F238E27FC236}">
                <a16:creationId xmlns:a16="http://schemas.microsoft.com/office/drawing/2014/main" id="{DF138C78-A38E-4776-BA84-7AFD8A497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5331" y="5404026"/>
            <a:ext cx="511996" cy="511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325170-B75E-4C13-82BE-932010052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3142232" y="5964820"/>
            <a:ext cx="17684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5C122C-6B49-420F-8194-54BA5C5D3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7692271" y="5964820"/>
            <a:ext cx="1712528" cy="12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184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2077F-6A63-4198-8CA0-B92CFBD6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2"/>
                </a:solidFill>
              </a:rPr>
              <a:t>Public-Key Cryptography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F401D-8498-4757-A1F7-0754E19F3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79" y="1762126"/>
            <a:ext cx="11700931" cy="42894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AU" altLang="en-US" sz="2400" b="1" dirty="0">
                <a:ea typeface="ＭＳ Ｐゴシック" panose="020B0600070205080204" pitchFamily="34" charset="-128"/>
              </a:rPr>
              <a:t>Asymmetric</a:t>
            </a:r>
            <a:r>
              <a:rPr lang="en-AU" altLang="en-US" sz="2400" dirty="0">
                <a:ea typeface="ＭＳ Ｐゴシック" panose="020B0600070205080204" pitchFamily="34" charset="-128"/>
              </a:rPr>
              <a:t> since parties are </a:t>
            </a:r>
            <a:r>
              <a:rPr lang="en-AU" altLang="en-US" sz="2400" b="1" dirty="0">
                <a:ea typeface="ＭＳ Ｐゴシック" panose="020B0600070205080204" pitchFamily="34" charset="-128"/>
              </a:rPr>
              <a:t>not</a:t>
            </a:r>
            <a:r>
              <a:rPr lang="en-AU" altLang="en-US" sz="2400" dirty="0">
                <a:ea typeface="ＭＳ Ｐゴシック" panose="020B0600070205080204" pitchFamily="34" charset="-128"/>
              </a:rPr>
              <a:t> equal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ea typeface="ＭＳ Ｐゴシック" panose="020B0600070205080204" pitchFamily="34" charset="-128"/>
              </a:rPr>
              <a:t>It should not be possible to deduce the plaintext from knowledge of the ciphertext and the public key.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44489-3E29-444A-8F84-5FD72241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89600" y="6485464"/>
            <a:ext cx="812800" cy="365125"/>
          </a:xfrm>
        </p:spPr>
        <p:txBody>
          <a:bodyPr/>
          <a:lstStyle/>
          <a:p>
            <a:fld id="{3EE413A7-32C0-42B9-8169-A32BFBDA280A}" type="slidenum">
              <a:rPr lang="en-US" smtClean="0"/>
              <a:t>4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1BB095A-2B80-47D6-9827-0A485CFBA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8754" y="4548479"/>
            <a:ext cx="1163782" cy="1595330"/>
            <a:chOff x="1038754" y="4419366"/>
            <a:chExt cx="1163782" cy="15953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8AAC2C-34B2-4202-B856-6D601744344B}"/>
                </a:ext>
              </a:extLst>
            </p:cNvPr>
            <p:cNvSpPr/>
            <p:nvPr/>
          </p:nvSpPr>
          <p:spPr>
            <a:xfrm>
              <a:off x="1286258" y="5645364"/>
              <a:ext cx="89460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Alice</a:t>
              </a:r>
              <a:r>
                <a:rPr lang="en-US" b="1" dirty="0">
                  <a:latin typeface="Times" pitchFamily="2" charset="0"/>
                </a:rPr>
                <a:t> </a:t>
              </a:r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55E9ACE-445F-42F1-ABD5-04F66EF8F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896" b="89827" l="9949" r="92347">
                          <a14:foregroundMark x1="53444" y1="14394" x2="53444" y2="14394"/>
                          <a14:foregroundMark x1="55995" y1="12338" x2="55995" y2="12338"/>
                          <a14:foregroundMark x1="56760" y1="15801" x2="56760" y2="15801"/>
                          <a14:foregroundMark x1="59311" y1="20779" x2="59311" y2="20779"/>
                          <a14:foregroundMark x1="59311" y1="20779" x2="59311" y2="20779"/>
                          <a14:foregroundMark x1="29464" y1="14394" x2="29464" y2="14394"/>
                          <a14:foregroundMark x1="29464" y1="14394" x2="29464" y2="14394"/>
                          <a14:foregroundMark x1="27041" y1="22835" x2="37755" y2="17208"/>
                          <a14:foregroundMark x1="32015" y1="12987" x2="66582" y2="33658"/>
                          <a14:foregroundMark x1="66582" y1="33658" x2="70026" y2="69156"/>
                          <a14:foregroundMark x1="70026" y1="69156" x2="27296" y2="71970"/>
                          <a14:foregroundMark x1="27296" y1="71970" x2="75255" y2="74892"/>
                          <a14:foregroundMark x1="75255" y1="74892" x2="92347" y2="71320"/>
                          <a14:foregroundMark x1="71684" y1="29221" x2="49362" y2="11580"/>
                          <a14:foregroundMark x1="40306" y1="10173" x2="71684" y2="34957"/>
                          <a14:foregroundMark x1="71684" y1="34957" x2="50383" y2="3896"/>
                          <a14:foregroundMark x1="50383" y1="3896" x2="21684" y2="30736"/>
                          <a14:foregroundMark x1="12370" y1="58046" x2="10204" y2="64394"/>
                          <a14:foregroundMark x1="21684" y1="30736" x2="13678" y2="54212"/>
                          <a14:foregroundMark x1="10204" y1="64394" x2="50128" y2="78247"/>
                          <a14:foregroundMark x1="50128" y1="78247" x2="91071" y2="70022"/>
                          <a14:foregroundMark x1="91071" y1="70022" x2="66709" y2="53030"/>
                          <a14:foregroundMark x1="77423" y1="66342" x2="84056" y2="71320"/>
                          <a14:backgroundMark x1="13010" y1="56494" x2="13010" y2="56494"/>
                          <a14:backgroundMark x1="10459" y1="56494" x2="10459" y2="56494"/>
                          <a14:backgroundMark x1="8801" y1="56494" x2="13776" y2="56494"/>
                          <a14:backgroundMark x1="9694" y1="55087" x2="9694" y2="55087"/>
                          <a14:backgroundMark x1="8036" y1="54437" x2="13010" y2="55844"/>
                          <a14:backgroundMark x1="13010" y1="55087" x2="13010" y2="5508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38754" y="4419366"/>
              <a:ext cx="1163782" cy="1371600"/>
            </a:xfrm>
            <a:prstGeom prst="rect">
              <a:avLst/>
            </a:prstGeom>
          </p:spPr>
        </p:pic>
      </p:grp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6819DF0-DFEA-40C2-9530-096B78888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302" b="96667" l="9941" r="96588">
                        <a14:foregroundMark x1="41543" y1="11111" x2="54303" y2="7302"/>
                        <a14:foregroundMark x1="54303" y1="7302" x2="56380" y2="9683"/>
                        <a14:foregroundMark x1="88872" y1="68095" x2="95252" y2="80476"/>
                        <a14:foregroundMark x1="95252" y1="80476" x2="95401" y2="95079"/>
                        <a14:foregroundMark x1="95401" y1="95079" x2="40801" y2="94921"/>
                        <a14:foregroundMark x1="40801" y1="94921" x2="53858" y2="84762"/>
                        <a14:foregroundMark x1="53858" y1="84762" x2="40356" y2="90159"/>
                        <a14:foregroundMark x1="40356" y1="90159" x2="57270" y2="81587"/>
                        <a14:foregroundMark x1="57270" y1="81587" x2="71810" y2="80794"/>
                        <a14:foregroundMark x1="71810" y1="80794" x2="85312" y2="83333"/>
                        <a14:foregroundMark x1="85312" y1="83333" x2="75223" y2="93016"/>
                        <a14:foregroundMark x1="75223" y1="93016" x2="45252" y2="92063"/>
                        <a14:foregroundMark x1="45252" y1="92063" x2="72404" y2="91587"/>
                        <a14:foregroundMark x1="72404" y1="91587" x2="33680" y2="87619"/>
                        <a14:foregroundMark x1="33680" y1="87619" x2="59199" y2="86825"/>
                        <a14:foregroundMark x1="59199" y1="86825" x2="43620" y2="87619"/>
                        <a14:foregroundMark x1="43620" y1="87619" x2="56380" y2="82222"/>
                        <a14:foregroundMark x1="56380" y1="82222" x2="43323" y2="88254"/>
                        <a14:foregroundMark x1="43323" y1="88254" x2="54896" y2="80794"/>
                        <a14:foregroundMark x1="54896" y1="80794" x2="35905" y2="87619"/>
                        <a14:foregroundMark x1="35905" y1="87619" x2="66914" y2="83175"/>
                        <a14:foregroundMark x1="66914" y1="83175" x2="47478" y2="87460"/>
                        <a14:foregroundMark x1="47478" y1="87460" x2="82938" y2="86667"/>
                        <a14:foregroundMark x1="82938" y1="86667" x2="63353" y2="88095"/>
                        <a14:foregroundMark x1="63353" y1="88095" x2="64243" y2="88571"/>
                        <a14:foregroundMark x1="10089" y1="75714" x2="8605" y2="90635"/>
                        <a14:foregroundMark x1="8605" y1="90635" x2="26706" y2="91905"/>
                        <a14:foregroundMark x1="26706" y1="91905" x2="11573" y2="85714"/>
                        <a14:foregroundMark x1="11573" y1="85714" x2="40950" y2="88889"/>
                        <a14:foregroundMark x1="40950" y1="88889" x2="18398" y2="89841"/>
                        <a14:foregroundMark x1="18398" y1="89841" x2="34125" y2="90159"/>
                        <a14:foregroundMark x1="34125" y1="90159" x2="17507" y2="90000"/>
                        <a14:foregroundMark x1="17507" y1="90000" x2="32789" y2="89524"/>
                        <a14:foregroundMark x1="32789" y1="89524" x2="50593" y2="90476"/>
                        <a14:foregroundMark x1="50593" y1="90476" x2="14243" y2="93810"/>
                        <a14:foregroundMark x1="14243" y1="93810" x2="34273" y2="96825"/>
                        <a14:foregroundMark x1="34273" y1="96825" x2="79525" y2="92063"/>
                        <a14:foregroundMark x1="79525" y1="92063" x2="90801" y2="83968"/>
                        <a14:foregroundMark x1="90801" y1="83968" x2="85163" y2="97143"/>
                        <a14:foregroundMark x1="85163" y1="97143" x2="15579" y2="94762"/>
                        <a14:foregroundMark x1="15579" y1="94762" x2="31157" y2="95397"/>
                        <a14:foregroundMark x1="31157" y1="95397" x2="45549" y2="95079"/>
                        <a14:foregroundMark x1="45549" y1="95079" x2="17062" y2="96667"/>
                        <a14:foregroundMark x1="17062" y1="96667" x2="82641" y2="90317"/>
                        <a14:foregroundMark x1="82641" y1="90317" x2="92285" y2="79365"/>
                        <a14:foregroundMark x1="92285" y1="79365" x2="91543" y2="93810"/>
                        <a14:foregroundMark x1="91543" y1="93810" x2="61128" y2="94127"/>
                        <a14:foregroundMark x1="61128" y1="94127" x2="79970" y2="92063"/>
                        <a14:foregroundMark x1="92433" y1="71429" x2="95994" y2="84921"/>
                        <a14:foregroundMark x1="95994" y1="84921" x2="92730" y2="71270"/>
                        <a14:foregroundMark x1="92730" y1="71270" x2="96142" y2="84921"/>
                        <a14:foregroundMark x1="96142" y1="84921" x2="89466" y2="97302"/>
                        <a14:foregroundMark x1="89466" y1="97302" x2="94659" y2="82381"/>
                        <a14:foregroundMark x1="94659" y1="82381" x2="95104" y2="96667"/>
                        <a14:foregroundMark x1="95104" y1="96667" x2="96588" y2="94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912" y="4609390"/>
            <a:ext cx="1165891" cy="108978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047817-8563-4FB2-A8ED-8BABBD66E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550979" y="4154311"/>
            <a:ext cx="28203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FCDC8-A1DD-427F-BCB6-BB43479AAD56}"/>
              </a:ext>
            </a:extLst>
          </p:cNvPr>
          <p:cNvSpPr/>
          <p:nvPr/>
        </p:nvSpPr>
        <p:spPr>
          <a:xfrm>
            <a:off x="10090564" y="5699170"/>
            <a:ext cx="6687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" pitchFamily="2" charset="0"/>
              </a:rPr>
              <a:t> </a:t>
            </a:r>
            <a:r>
              <a:rPr lang="en-US" dirty="0"/>
              <a:t>Bob</a:t>
            </a:r>
            <a:r>
              <a:rPr lang="en-US" b="1" dirty="0">
                <a:latin typeface="Times" pitchFamily="2" charset="0"/>
              </a:rPr>
              <a:t> 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88EBCA7-9F4C-42DF-B2E3-1984FE24E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64904" y="3757927"/>
            <a:ext cx="457200" cy="457200"/>
          </a:xfrm>
          <a:prstGeom prst="rect">
            <a:avLst/>
          </a:prstGeom>
        </p:spPr>
      </p:pic>
      <p:pic>
        <p:nvPicPr>
          <p:cNvPr id="1030" name="Picture 6" descr="Green key icon - Free green key icons">
            <a:extLst>
              <a:ext uri="{FF2B5EF4-FFF2-40B4-BE49-F238E27FC236}">
                <a16:creationId xmlns:a16="http://schemas.microsoft.com/office/drawing/2014/main" id="{1E6C7B2F-86C1-4233-9AD7-6FE006F56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78" b="89778" l="889" r="98667">
                        <a14:foregroundMark x1="889" y1="44889" x2="889" y2="44889"/>
                        <a14:foregroundMark x1="93778" y1="48889" x2="93778" y2="48889"/>
                        <a14:foregroundMark x1="98667" y1="49333" x2="98667" y2="49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599" y="596591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07A6FD66-0E46-4368-B4FD-2F015FB23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403825" y="4383895"/>
            <a:ext cx="983610" cy="1358598"/>
            <a:chOff x="3366606" y="4095150"/>
            <a:chExt cx="983610" cy="13585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04B383F-BCEA-4962-AADE-051BE247D01F}"/>
                </a:ext>
              </a:extLst>
            </p:cNvPr>
            <p:cNvSpPr/>
            <p:nvPr/>
          </p:nvSpPr>
          <p:spPr>
            <a:xfrm>
              <a:off x="3366606" y="4908807"/>
              <a:ext cx="983610" cy="544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Encrypt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807C1AF-0656-4275-B69C-97F7AB7F6226}"/>
                </a:ext>
              </a:extLst>
            </p:cNvPr>
            <p:cNvGrpSpPr/>
            <p:nvPr/>
          </p:nvGrpSpPr>
          <p:grpSpPr>
            <a:xfrm>
              <a:off x="3526527" y="4095150"/>
              <a:ext cx="689980" cy="797509"/>
              <a:chOff x="3526527" y="4095150"/>
              <a:chExt cx="689980" cy="797509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4A907F7A-047C-4CBF-AF00-056AC6361E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62" b="99438" l="0" r="93506">
                            <a14:foregroundMark x1="1948" y1="20787" x2="45130" y2="6180"/>
                            <a14:foregroundMark x1="45130" y1="6180" x2="90584" y2="11236"/>
                            <a14:foregroundMark x1="90584" y1="11236" x2="87987" y2="92135"/>
                            <a14:foregroundMark x1="87987" y1="92135" x2="41234" y2="96348"/>
                            <a14:foregroundMark x1="41234" y1="96348" x2="1623" y2="76124"/>
                            <a14:foregroundMark x1="1623" y1="76124" x2="4870" y2="31742"/>
                            <a14:foregroundMark x1="4870" y1="31742" x2="5519" y2="80899"/>
                            <a14:foregroundMark x1="5519" y1="80899" x2="8117" y2="36798"/>
                            <a14:foregroundMark x1="8117" y1="36798" x2="48052" y2="11236"/>
                            <a14:foregroundMark x1="48052" y1="11236" x2="87987" y2="30899"/>
                            <a14:foregroundMark x1="87987" y1="30899" x2="85065" y2="71067"/>
                            <a14:foregroundMark x1="85065" y1="71067" x2="45455" y2="91573"/>
                            <a14:foregroundMark x1="45455" y1="91573" x2="5519" y2="91292"/>
                            <a14:foregroundMark x1="24026" y1="6180" x2="71104" y2="6180"/>
                            <a14:foregroundMark x1="71104" y1="6180" x2="24351" y2="3090"/>
                            <a14:foregroundMark x1="24351" y1="3090" x2="74351" y2="1124"/>
                            <a14:foregroundMark x1="74351" y1="1124" x2="92857" y2="39888"/>
                            <a14:foregroundMark x1="92857" y1="39888" x2="92208" y2="81742"/>
                            <a14:foregroundMark x1="92208" y1="81742" x2="48701" y2="95506"/>
                            <a14:foregroundMark x1="48701" y1="95506" x2="5195" y2="82022"/>
                            <a14:foregroundMark x1="5195" y1="82022" x2="51948" y2="92416"/>
                            <a14:foregroundMark x1="51948" y1="92416" x2="6169" y2="97472"/>
                            <a14:foregroundMark x1="6169" y1="97472" x2="2922" y2="97191"/>
                            <a14:foregroundMark x1="0" y1="46910" x2="17532" y2="27528"/>
                            <a14:foregroundMark x1="35714" y1="40730" x2="32468" y2="19944"/>
                            <a14:foregroundMark x1="46429" y1="39045" x2="46429" y2="37640"/>
                            <a14:foregroundMark x1="48377" y1="35955" x2="35714" y2="42416"/>
                            <a14:foregroundMark x1="38636" y1="37079" x2="25974" y2="42416"/>
                            <a14:foregroundMark x1="18831" y1="36517" x2="67532" y2="37079"/>
                            <a14:foregroundMark x1="21104" y1="36517" x2="74351" y2="37079"/>
                            <a14:foregroundMark x1="32468" y1="35393" x2="74351" y2="35393"/>
                            <a14:foregroundMark x1="33766" y1="43258" x2="75325" y2="43820"/>
                            <a14:foregroundMark x1="16234" y1="53652" x2="78571" y2="55337"/>
                            <a14:foregroundMark x1="5519" y1="61517" x2="52597" y2="63764"/>
                            <a14:foregroundMark x1="52597" y1="63764" x2="61688" y2="53371"/>
                            <a14:foregroundMark x1="15584" y1="61517" x2="49351" y2="60674"/>
                            <a14:foregroundMark x1="71753" y1="53371" x2="68182" y2="53652"/>
                            <a14:foregroundMark x1="35065" y1="85674" x2="80195" y2="98034"/>
                            <a14:foregroundMark x1="80195" y1="98034" x2="73052" y2="87079"/>
                            <a14:foregroundMark x1="6494" y1="87640" x2="10390" y2="93820"/>
                            <a14:foregroundMark x1="9740" y1="82865" x2="10714" y2="85674"/>
                            <a14:foregroundMark x1="60390" y1="79775" x2="62013" y2="87079"/>
                            <a14:foregroundMark x1="80195" y1="81461" x2="83117" y2="88764"/>
                            <a14:foregroundMark x1="23377" y1="3652" x2="70455" y2="4213"/>
                            <a14:foregroundMark x1="70455" y1="4213" x2="25000" y2="12079"/>
                            <a14:foregroundMark x1="25000" y1="12079" x2="2273" y2="47753"/>
                            <a14:foregroundMark x1="2273" y1="47753" x2="2273" y2="87921"/>
                            <a14:foregroundMark x1="2273" y1="87921" x2="16234" y2="99719"/>
                            <a14:foregroundMark x1="5519" y1="18258" x2="51948" y2="4213"/>
                            <a14:foregroundMark x1="51948" y1="4213" x2="24675" y2="562"/>
                            <a14:foregroundMark x1="23377" y1="2528" x2="4870" y2="18258"/>
                            <a14:foregroundMark x1="649" y1="23034" x2="24675" y2="23596"/>
                            <a14:foregroundMark x1="24675" y1="25000" x2="25325" y2="12921"/>
                            <a14:foregroundMark x1="74351" y1="3090" x2="89286" y2="2528"/>
                            <a14:foregroundMark x1="87987" y1="2528" x2="92208" y2="98596"/>
                            <a14:foregroundMark x1="90584" y1="1966" x2="92208" y2="83708"/>
                            <a14:foregroundMark x1="92208" y1="83708" x2="93182" y2="4494"/>
                            <a14:foregroundMark x1="93182" y1="4494" x2="92208" y2="3652"/>
                            <a14:foregroundMark x1="25325" y1="10955" x2="25974" y2="29213"/>
                            <a14:foregroundMark x1="14935" y1="34551" x2="23052" y2="34831"/>
                            <a14:foregroundMark x1="19156" y1="99719" x2="45130" y2="99719"/>
                            <a14:foregroundMark x1="45130" y1="99157" x2="89935" y2="99157"/>
                            <a14:foregroundMark x1="90584" y1="44944" x2="92208" y2="84551"/>
                            <a14:foregroundMark x1="92208" y1="84551" x2="92857" y2="44663"/>
                            <a14:foregroundMark x1="92857" y1="44663" x2="92208" y2="79213"/>
                            <a14:foregroundMark x1="93506" y1="43258" x2="93506" y2="9859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26527" y="4095150"/>
                <a:ext cx="689980" cy="797509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32BADF2-A3C7-4527-BDC1-4BE759946F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1778" b="96889" l="9778" r="89778">
                            <a14:foregroundMark x1="48000" y1="6667" x2="48000" y2="6667"/>
                            <a14:foregroundMark x1="50667" y1="1778" x2="50667" y2="1778"/>
                            <a14:foregroundMark x1="54667" y1="92000" x2="54667" y2="92000"/>
                            <a14:foregroundMark x1="51111" y1="96889" x2="51111" y2="96889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642917" y="4287670"/>
                <a:ext cx="457200" cy="457200"/>
              </a:xfrm>
              <a:prstGeom prst="rect">
                <a:avLst/>
              </a:prstGeom>
            </p:spPr>
          </p:pic>
        </p:grp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786E16AB-B85E-4860-8E60-52C97F074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799" y="4592591"/>
            <a:ext cx="953847" cy="108878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2FF25D6F-6B89-44A4-9772-66CB07A5D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52474" y="4361824"/>
            <a:ext cx="983610" cy="1357077"/>
            <a:chOff x="6091871" y="4111298"/>
            <a:chExt cx="983610" cy="135707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A276724-F237-4431-895E-706EB9C374EE}"/>
                </a:ext>
              </a:extLst>
            </p:cNvPr>
            <p:cNvSpPr/>
            <p:nvPr/>
          </p:nvSpPr>
          <p:spPr>
            <a:xfrm>
              <a:off x="6091871" y="4923434"/>
              <a:ext cx="983610" cy="544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Decrypt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2E59B8-E98D-4ECF-B574-46629237FD18}"/>
                </a:ext>
              </a:extLst>
            </p:cNvPr>
            <p:cNvGrpSpPr/>
            <p:nvPr/>
          </p:nvGrpSpPr>
          <p:grpSpPr>
            <a:xfrm>
              <a:off x="6241606" y="4111298"/>
              <a:ext cx="689980" cy="797509"/>
              <a:chOff x="7285455" y="4148561"/>
              <a:chExt cx="689980" cy="797509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3ADA6707-0E71-43A6-BE8D-93678A030E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62" b="99438" l="0" r="93506">
                            <a14:foregroundMark x1="1948" y1="20787" x2="45130" y2="6180"/>
                            <a14:foregroundMark x1="45130" y1="6180" x2="90584" y2="11236"/>
                            <a14:foregroundMark x1="90584" y1="11236" x2="87987" y2="92135"/>
                            <a14:foregroundMark x1="87987" y1="92135" x2="41234" y2="96348"/>
                            <a14:foregroundMark x1="41234" y1="96348" x2="1623" y2="76124"/>
                            <a14:foregroundMark x1="1623" y1="76124" x2="4870" y2="31742"/>
                            <a14:foregroundMark x1="4870" y1="31742" x2="5519" y2="80899"/>
                            <a14:foregroundMark x1="5519" y1="80899" x2="8117" y2="36798"/>
                            <a14:foregroundMark x1="8117" y1="36798" x2="48052" y2="11236"/>
                            <a14:foregroundMark x1="48052" y1="11236" x2="87987" y2="30899"/>
                            <a14:foregroundMark x1="87987" y1="30899" x2="85065" y2="71067"/>
                            <a14:foregroundMark x1="85065" y1="71067" x2="45455" y2="91573"/>
                            <a14:foregroundMark x1="45455" y1="91573" x2="5519" y2="91292"/>
                            <a14:foregroundMark x1="24026" y1="6180" x2="71104" y2="6180"/>
                            <a14:foregroundMark x1="71104" y1="6180" x2="24351" y2="3090"/>
                            <a14:foregroundMark x1="24351" y1="3090" x2="74351" y2="1124"/>
                            <a14:foregroundMark x1="74351" y1="1124" x2="92857" y2="39888"/>
                            <a14:foregroundMark x1="92857" y1="39888" x2="92208" y2="81742"/>
                            <a14:foregroundMark x1="92208" y1="81742" x2="48701" y2="95506"/>
                            <a14:foregroundMark x1="48701" y1="95506" x2="5195" y2="82022"/>
                            <a14:foregroundMark x1="5195" y1="82022" x2="51948" y2="92416"/>
                            <a14:foregroundMark x1="51948" y1="92416" x2="6169" y2="97472"/>
                            <a14:foregroundMark x1="6169" y1="97472" x2="2922" y2="97191"/>
                            <a14:foregroundMark x1="0" y1="46910" x2="17532" y2="27528"/>
                            <a14:foregroundMark x1="35714" y1="40730" x2="32468" y2="19944"/>
                            <a14:foregroundMark x1="46429" y1="39045" x2="46429" y2="37640"/>
                            <a14:foregroundMark x1="48377" y1="35955" x2="35714" y2="42416"/>
                            <a14:foregroundMark x1="38636" y1="37079" x2="25974" y2="42416"/>
                            <a14:foregroundMark x1="18831" y1="36517" x2="67532" y2="37079"/>
                            <a14:foregroundMark x1="21104" y1="36517" x2="74351" y2="37079"/>
                            <a14:foregroundMark x1="32468" y1="35393" x2="74351" y2="35393"/>
                            <a14:foregroundMark x1="33766" y1="43258" x2="75325" y2="43820"/>
                            <a14:foregroundMark x1="16234" y1="53652" x2="78571" y2="55337"/>
                            <a14:foregroundMark x1="5519" y1="61517" x2="52597" y2="63764"/>
                            <a14:foregroundMark x1="52597" y1="63764" x2="61688" y2="53371"/>
                            <a14:foregroundMark x1="15584" y1="61517" x2="49351" y2="60674"/>
                            <a14:foregroundMark x1="71753" y1="53371" x2="68182" y2="53652"/>
                            <a14:foregroundMark x1="35065" y1="85674" x2="80195" y2="98034"/>
                            <a14:foregroundMark x1="80195" y1="98034" x2="73052" y2="87079"/>
                            <a14:foregroundMark x1="6494" y1="87640" x2="10390" y2="93820"/>
                            <a14:foregroundMark x1="9740" y1="82865" x2="10714" y2="85674"/>
                            <a14:foregroundMark x1="60390" y1="79775" x2="62013" y2="87079"/>
                            <a14:foregroundMark x1="80195" y1="81461" x2="83117" y2="88764"/>
                            <a14:foregroundMark x1="23377" y1="3652" x2="70455" y2="4213"/>
                            <a14:foregroundMark x1="70455" y1="4213" x2="25000" y2="12079"/>
                            <a14:foregroundMark x1="25000" y1="12079" x2="2273" y2="47753"/>
                            <a14:foregroundMark x1="2273" y1="47753" x2="2273" y2="87921"/>
                            <a14:foregroundMark x1="2273" y1="87921" x2="16234" y2="99719"/>
                            <a14:foregroundMark x1="5519" y1="18258" x2="51948" y2="4213"/>
                            <a14:foregroundMark x1="51948" y1="4213" x2="24675" y2="562"/>
                            <a14:foregroundMark x1="23377" y1="2528" x2="4870" y2="18258"/>
                            <a14:foregroundMark x1="649" y1="23034" x2="24675" y2="23596"/>
                            <a14:foregroundMark x1="24675" y1="25000" x2="25325" y2="12921"/>
                            <a14:foregroundMark x1="74351" y1="3090" x2="89286" y2="2528"/>
                            <a14:foregroundMark x1="87987" y1="2528" x2="92208" y2="98596"/>
                            <a14:foregroundMark x1="90584" y1="1966" x2="92208" y2="83708"/>
                            <a14:foregroundMark x1="92208" y1="83708" x2="93182" y2="4494"/>
                            <a14:foregroundMark x1="93182" y1="4494" x2="92208" y2="3652"/>
                            <a14:foregroundMark x1="25325" y1="10955" x2="25974" y2="29213"/>
                            <a14:foregroundMark x1="14935" y1="34551" x2="23052" y2="34831"/>
                            <a14:foregroundMark x1="19156" y1="99719" x2="45130" y2="99719"/>
                            <a14:foregroundMark x1="45130" y1="99157" x2="89935" y2="99157"/>
                            <a14:foregroundMark x1="90584" y1="44944" x2="92208" y2="84551"/>
                            <a14:foregroundMark x1="92208" y1="84551" x2="92857" y2="44663"/>
                            <a14:foregroundMark x1="92857" y1="44663" x2="92208" y2="79213"/>
                            <a14:foregroundMark x1="93506" y1="43258" x2="93506" y2="9859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85455" y="4148561"/>
                <a:ext cx="689980" cy="797509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523DA92E-8C74-44FC-B657-C6262FDF3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1778" b="99111" l="9778" r="89778">
                            <a14:foregroundMark x1="54667" y1="6222" x2="54667" y2="6222"/>
                            <a14:foregroundMark x1="49778" y1="2222" x2="49778" y2="2222"/>
                            <a14:foregroundMark x1="53333" y1="92889" x2="53333" y2="92889"/>
                            <a14:foregroundMark x1="51556" y1="99111" x2="51556" y2="99111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401845" y="4331501"/>
                <a:ext cx="457200" cy="457200"/>
              </a:xfrm>
              <a:prstGeom prst="rect">
                <a:avLst/>
              </a:prstGeom>
            </p:spPr>
          </p:pic>
        </p:grp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43A0C324-FC43-4528-AB8E-4FEB2B136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62" b="99438" l="0" r="93506">
                        <a14:foregroundMark x1="1948" y1="20787" x2="45130" y2="6180"/>
                        <a14:foregroundMark x1="45130" y1="6180" x2="90584" y2="11236"/>
                        <a14:foregroundMark x1="90584" y1="11236" x2="87987" y2="92135"/>
                        <a14:foregroundMark x1="87987" y1="92135" x2="41234" y2="96348"/>
                        <a14:foregroundMark x1="41234" y1="96348" x2="1623" y2="76124"/>
                        <a14:foregroundMark x1="1623" y1="76124" x2="4870" y2="31742"/>
                        <a14:foregroundMark x1="4870" y1="31742" x2="5519" y2="80899"/>
                        <a14:foregroundMark x1="5519" y1="80899" x2="8117" y2="36798"/>
                        <a14:foregroundMark x1="8117" y1="36798" x2="48052" y2="11236"/>
                        <a14:foregroundMark x1="48052" y1="11236" x2="87987" y2="30899"/>
                        <a14:foregroundMark x1="87987" y1="30899" x2="85065" y2="71067"/>
                        <a14:foregroundMark x1="85065" y1="71067" x2="45455" y2="91573"/>
                        <a14:foregroundMark x1="45455" y1="91573" x2="5519" y2="91292"/>
                        <a14:foregroundMark x1="24026" y1="6180" x2="71104" y2="6180"/>
                        <a14:foregroundMark x1="71104" y1="6180" x2="24351" y2="3090"/>
                        <a14:foregroundMark x1="24351" y1="3090" x2="74351" y2="1124"/>
                        <a14:foregroundMark x1="74351" y1="1124" x2="92857" y2="39888"/>
                        <a14:foregroundMark x1="92857" y1="39888" x2="92208" y2="81742"/>
                        <a14:foregroundMark x1="92208" y1="81742" x2="48701" y2="95506"/>
                        <a14:foregroundMark x1="48701" y1="95506" x2="5195" y2="82022"/>
                        <a14:foregroundMark x1="5195" y1="82022" x2="51948" y2="92416"/>
                        <a14:foregroundMark x1="51948" y1="92416" x2="6169" y2="97472"/>
                        <a14:foregroundMark x1="6169" y1="97472" x2="2922" y2="97191"/>
                        <a14:foregroundMark x1="0" y1="46910" x2="17532" y2="27528"/>
                        <a14:foregroundMark x1="35714" y1="40730" x2="32468" y2="19944"/>
                        <a14:foregroundMark x1="46429" y1="39045" x2="46429" y2="37640"/>
                        <a14:foregroundMark x1="48377" y1="35955" x2="35714" y2="42416"/>
                        <a14:foregroundMark x1="38636" y1="37079" x2="25974" y2="42416"/>
                        <a14:foregroundMark x1="18831" y1="36517" x2="67532" y2="37079"/>
                        <a14:foregroundMark x1="21104" y1="36517" x2="74351" y2="37079"/>
                        <a14:foregroundMark x1="32468" y1="35393" x2="74351" y2="35393"/>
                        <a14:foregroundMark x1="33766" y1="43258" x2="75325" y2="43820"/>
                        <a14:foregroundMark x1="16234" y1="53652" x2="78571" y2="55337"/>
                        <a14:foregroundMark x1="5519" y1="61517" x2="52597" y2="63764"/>
                        <a14:foregroundMark x1="52597" y1="63764" x2="61688" y2="53371"/>
                        <a14:foregroundMark x1="15584" y1="61517" x2="49351" y2="60674"/>
                        <a14:foregroundMark x1="71753" y1="53371" x2="68182" y2="53652"/>
                        <a14:foregroundMark x1="35065" y1="85674" x2="80195" y2="98034"/>
                        <a14:foregroundMark x1="80195" y1="98034" x2="73052" y2="87079"/>
                        <a14:foregroundMark x1="6494" y1="87640" x2="10390" y2="93820"/>
                        <a14:foregroundMark x1="9740" y1="82865" x2="10714" y2="85674"/>
                        <a14:foregroundMark x1="60390" y1="79775" x2="62013" y2="87079"/>
                        <a14:foregroundMark x1="80195" y1="81461" x2="83117" y2="88764"/>
                        <a14:foregroundMark x1="23377" y1="3652" x2="70455" y2="4213"/>
                        <a14:foregroundMark x1="70455" y1="4213" x2="25000" y2="12079"/>
                        <a14:foregroundMark x1="25000" y1="12079" x2="2273" y2="47753"/>
                        <a14:foregroundMark x1="2273" y1="47753" x2="2273" y2="87921"/>
                        <a14:foregroundMark x1="2273" y1="87921" x2="16234" y2="99719"/>
                        <a14:foregroundMark x1="5519" y1="18258" x2="51948" y2="4213"/>
                        <a14:foregroundMark x1="51948" y1="4213" x2="24675" y2="562"/>
                        <a14:foregroundMark x1="23377" y1="2528" x2="4870" y2="18258"/>
                        <a14:foregroundMark x1="649" y1="23034" x2="24675" y2="23596"/>
                        <a14:foregroundMark x1="24675" y1="25000" x2="25325" y2="12921"/>
                        <a14:foregroundMark x1="74351" y1="3090" x2="89286" y2="2528"/>
                        <a14:foregroundMark x1="87987" y1="2528" x2="92208" y2="98596"/>
                        <a14:foregroundMark x1="90584" y1="1966" x2="92208" y2="83708"/>
                        <a14:foregroundMark x1="92208" y1="83708" x2="93182" y2="4494"/>
                        <a14:foregroundMark x1="93182" y1="4494" x2="92208" y2="3652"/>
                        <a14:foregroundMark x1="25325" y1="10955" x2="25974" y2="29213"/>
                        <a14:foregroundMark x1="14935" y1="34551" x2="23052" y2="34831"/>
                        <a14:foregroundMark x1="19156" y1="99719" x2="45130" y2="99719"/>
                        <a14:foregroundMark x1="45130" y1="99157" x2="89935" y2="99157"/>
                        <a14:foregroundMark x1="90584" y1="44944" x2="92208" y2="84551"/>
                        <a14:foregroundMark x1="92208" y1="84551" x2="92857" y2="44663"/>
                        <a14:foregroundMark x1="92857" y1="44663" x2="92208" y2="79213"/>
                        <a14:foregroundMark x1="93506" y1="43258" x2="93506" y2="985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269" y="4670418"/>
            <a:ext cx="689980" cy="79750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D6A8742-E00A-46D3-BFE1-31349644E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35502" y="4710514"/>
            <a:ext cx="457200" cy="457200"/>
          </a:xfrm>
          <a:prstGeom prst="rect">
            <a:avLst/>
          </a:prstGeom>
        </p:spPr>
      </p:pic>
      <p:pic>
        <p:nvPicPr>
          <p:cNvPr id="40" name="Picture 6" descr="Green key icon - Free green key icons">
            <a:extLst>
              <a:ext uri="{FF2B5EF4-FFF2-40B4-BE49-F238E27FC236}">
                <a16:creationId xmlns:a16="http://schemas.microsoft.com/office/drawing/2014/main" id="{3CAB9296-9B66-41D7-AD2D-A175B6857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78" b="89778" l="889" r="98667">
                        <a14:foregroundMark x1="889" y1="44889" x2="889" y2="44889"/>
                        <a14:foregroundMark x1="93778" y1="48889" x2="93778" y2="48889"/>
                        <a14:foregroundMark x1="98667" y1="49333" x2="98667" y2="49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5506" y="547057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959627A-9F28-479F-813C-6B060F5BFA7D}"/>
              </a:ext>
            </a:extLst>
          </p:cNvPr>
          <p:cNvSpPr txBox="1"/>
          <p:nvPr/>
        </p:nvSpPr>
        <p:spPr>
          <a:xfrm>
            <a:off x="11001283" y="4538113"/>
            <a:ext cx="925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Public Key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F74349-9B50-4731-9B8C-6A9846FB364C}"/>
              </a:ext>
            </a:extLst>
          </p:cNvPr>
          <p:cNvSpPr txBox="1"/>
          <p:nvPr/>
        </p:nvSpPr>
        <p:spPr>
          <a:xfrm>
            <a:off x="10971252" y="5280361"/>
            <a:ext cx="994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Private Key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782DB9-08FD-4ABE-B02F-71D9CB536AC8}"/>
              </a:ext>
            </a:extLst>
          </p:cNvPr>
          <p:cNvSpPr txBox="1"/>
          <p:nvPr/>
        </p:nvSpPr>
        <p:spPr>
          <a:xfrm>
            <a:off x="5492081" y="4367774"/>
            <a:ext cx="950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Ciphertext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8D7B0D-771D-4407-B878-F8233512A23D}"/>
              </a:ext>
            </a:extLst>
          </p:cNvPr>
          <p:cNvSpPr txBox="1"/>
          <p:nvPr/>
        </p:nvSpPr>
        <p:spPr>
          <a:xfrm>
            <a:off x="8873226" y="4428504"/>
            <a:ext cx="826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Plaintext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3F3D5A3-A290-4F45-9AA7-FA214296A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67030" y="5996044"/>
            <a:ext cx="457200" cy="457200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422DD80-F7F1-4BAD-BD63-511D053E2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7" idx="0"/>
            <a:endCxn id="19" idx="2"/>
          </p:cNvCxnSpPr>
          <p:nvPr/>
        </p:nvCxnSpPr>
        <p:spPr>
          <a:xfrm flipV="1">
            <a:off x="3895630" y="5742493"/>
            <a:ext cx="0" cy="253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FEC1DA-D305-4683-AD0F-5ECD068FB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030" idx="0"/>
            <a:endCxn id="31" idx="2"/>
          </p:cNvCxnSpPr>
          <p:nvPr/>
        </p:nvCxnSpPr>
        <p:spPr>
          <a:xfrm flipH="1" flipV="1">
            <a:off x="8144279" y="5718901"/>
            <a:ext cx="2920" cy="247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E076E54-BE09-4309-9E14-A464CB075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282358" y="4406304"/>
            <a:ext cx="1008932" cy="1258166"/>
            <a:chOff x="2596895" y="4284594"/>
            <a:chExt cx="1008932" cy="125816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64BE0D2-8E1F-40BC-89E2-C08822F09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562" b="99438" l="0" r="93506">
                          <a14:foregroundMark x1="1948" y1="20787" x2="45130" y2="6180"/>
                          <a14:foregroundMark x1="45130" y1="6180" x2="90584" y2="11236"/>
                          <a14:foregroundMark x1="90584" y1="11236" x2="87987" y2="92135"/>
                          <a14:foregroundMark x1="87987" y1="92135" x2="41234" y2="96348"/>
                          <a14:foregroundMark x1="41234" y1="96348" x2="1623" y2="76124"/>
                          <a14:foregroundMark x1="1623" y1="76124" x2="4870" y2="31742"/>
                          <a14:foregroundMark x1="4870" y1="31742" x2="5519" y2="80899"/>
                          <a14:foregroundMark x1="5519" y1="80899" x2="8117" y2="36798"/>
                          <a14:foregroundMark x1="8117" y1="36798" x2="48052" y2="11236"/>
                          <a14:foregroundMark x1="48052" y1="11236" x2="87987" y2="30899"/>
                          <a14:foregroundMark x1="87987" y1="30899" x2="85065" y2="71067"/>
                          <a14:foregroundMark x1="85065" y1="71067" x2="45455" y2="91573"/>
                          <a14:foregroundMark x1="45455" y1="91573" x2="5519" y2="91292"/>
                          <a14:foregroundMark x1="24026" y1="6180" x2="71104" y2="6180"/>
                          <a14:foregroundMark x1="71104" y1="6180" x2="24351" y2="3090"/>
                          <a14:foregroundMark x1="24351" y1="3090" x2="74351" y2="1124"/>
                          <a14:foregroundMark x1="74351" y1="1124" x2="92857" y2="39888"/>
                          <a14:foregroundMark x1="92857" y1="39888" x2="92208" y2="81742"/>
                          <a14:foregroundMark x1="92208" y1="81742" x2="48701" y2="95506"/>
                          <a14:foregroundMark x1="48701" y1="95506" x2="5195" y2="82022"/>
                          <a14:foregroundMark x1="5195" y1="82022" x2="51948" y2="92416"/>
                          <a14:foregroundMark x1="51948" y1="92416" x2="6169" y2="97472"/>
                          <a14:foregroundMark x1="6169" y1="97472" x2="2922" y2="97191"/>
                          <a14:foregroundMark x1="0" y1="46910" x2="17532" y2="27528"/>
                          <a14:foregroundMark x1="35714" y1="40730" x2="32468" y2="19944"/>
                          <a14:foregroundMark x1="46429" y1="39045" x2="46429" y2="37640"/>
                          <a14:foregroundMark x1="48377" y1="35955" x2="35714" y2="42416"/>
                          <a14:foregroundMark x1="38636" y1="37079" x2="25974" y2="42416"/>
                          <a14:foregroundMark x1="18831" y1="36517" x2="67532" y2="37079"/>
                          <a14:foregroundMark x1="21104" y1="36517" x2="74351" y2="37079"/>
                          <a14:foregroundMark x1="32468" y1="35393" x2="74351" y2="35393"/>
                          <a14:foregroundMark x1="33766" y1="43258" x2="75325" y2="43820"/>
                          <a14:foregroundMark x1="16234" y1="53652" x2="78571" y2="55337"/>
                          <a14:foregroundMark x1="5519" y1="61517" x2="52597" y2="63764"/>
                          <a14:foregroundMark x1="52597" y1="63764" x2="61688" y2="53371"/>
                          <a14:foregroundMark x1="15584" y1="61517" x2="49351" y2="60674"/>
                          <a14:foregroundMark x1="71753" y1="53371" x2="68182" y2="53652"/>
                          <a14:foregroundMark x1="35065" y1="85674" x2="80195" y2="98034"/>
                          <a14:foregroundMark x1="80195" y1="98034" x2="73052" y2="87079"/>
                          <a14:foregroundMark x1="6494" y1="87640" x2="10390" y2="93820"/>
                          <a14:foregroundMark x1="9740" y1="82865" x2="10714" y2="85674"/>
                          <a14:foregroundMark x1="60390" y1="79775" x2="62013" y2="87079"/>
                          <a14:foregroundMark x1="80195" y1="81461" x2="83117" y2="88764"/>
                          <a14:foregroundMark x1="23377" y1="3652" x2="70455" y2="4213"/>
                          <a14:foregroundMark x1="70455" y1="4213" x2="25000" y2="12079"/>
                          <a14:foregroundMark x1="25000" y1="12079" x2="2273" y2="47753"/>
                          <a14:foregroundMark x1="2273" y1="47753" x2="2273" y2="87921"/>
                          <a14:foregroundMark x1="2273" y1="87921" x2="16234" y2="99719"/>
                          <a14:foregroundMark x1="5519" y1="18258" x2="51948" y2="4213"/>
                          <a14:foregroundMark x1="51948" y1="4213" x2="24675" y2="562"/>
                          <a14:foregroundMark x1="23377" y1="2528" x2="4870" y2="18258"/>
                          <a14:foregroundMark x1="649" y1="23034" x2="24675" y2="23596"/>
                          <a14:foregroundMark x1="24675" y1="25000" x2="25325" y2="12921"/>
                          <a14:foregroundMark x1="74351" y1="3090" x2="89286" y2="2528"/>
                          <a14:foregroundMark x1="87987" y1="2528" x2="92208" y2="98596"/>
                          <a14:foregroundMark x1="90584" y1="1966" x2="92208" y2="83708"/>
                          <a14:foregroundMark x1="92208" y1="83708" x2="93182" y2="4494"/>
                          <a14:foregroundMark x1="93182" y1="4494" x2="92208" y2="3652"/>
                          <a14:foregroundMark x1="25325" y1="10955" x2="25974" y2="29213"/>
                          <a14:foregroundMark x1="14935" y1="34551" x2="23052" y2="34831"/>
                          <a14:foregroundMark x1="19156" y1="99719" x2="45130" y2="99719"/>
                          <a14:foregroundMark x1="45130" y1="99157" x2="89935" y2="99157"/>
                          <a14:foregroundMark x1="90584" y1="44944" x2="92208" y2="84551"/>
                          <a14:foregroundMark x1="92208" y1="84551" x2="92857" y2="44663"/>
                          <a14:foregroundMark x1="92857" y1="44663" x2="92208" y2="79213"/>
                          <a14:foregroundMark x1="93506" y1="43258" x2="93506" y2="9859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3094" y="4535327"/>
              <a:ext cx="689980" cy="797509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FD6A03E-0ED8-4810-8CF1-5A5698B8C97A}"/>
                </a:ext>
              </a:extLst>
            </p:cNvPr>
            <p:cNvSpPr txBox="1"/>
            <p:nvPr/>
          </p:nvSpPr>
          <p:spPr>
            <a:xfrm>
              <a:off x="2666174" y="4284594"/>
              <a:ext cx="8265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Plaintext</a:t>
              </a:r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1DA4D79C-99AB-47C9-85E8-2787E98A93DD}"/>
                </a:ext>
              </a:extLst>
            </p:cNvPr>
            <p:cNvSpPr/>
            <p:nvPr/>
          </p:nvSpPr>
          <p:spPr>
            <a:xfrm>
              <a:off x="2596895" y="5389165"/>
              <a:ext cx="1008932" cy="15359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DC679542-51ED-476E-9F6A-37625645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28149" y="5614196"/>
            <a:ext cx="2743200" cy="153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C3BFF89E-F94F-4F6F-80E0-31AD8ED56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80955" y="5509313"/>
            <a:ext cx="1008932" cy="153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0118E7-41EA-461E-A337-9AB72A965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415155" y="3849775"/>
            <a:ext cx="3156698" cy="2762471"/>
            <a:chOff x="4415155" y="3720662"/>
            <a:chExt cx="3156698" cy="276247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D2EC85-0555-41A3-8F26-C47CEE46BCBC}"/>
                </a:ext>
              </a:extLst>
            </p:cNvPr>
            <p:cNvSpPr/>
            <p:nvPr/>
          </p:nvSpPr>
          <p:spPr>
            <a:xfrm>
              <a:off x="4479406" y="3720662"/>
              <a:ext cx="3028197" cy="2116140"/>
            </a:xfrm>
            <a:prstGeom prst="rect">
              <a:avLst/>
            </a:prstGeom>
            <a:noFill/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01AEA7-713A-4E8E-BF9E-12366E78A691}"/>
                </a:ext>
              </a:extLst>
            </p:cNvPr>
            <p:cNvSpPr txBox="1"/>
            <p:nvPr/>
          </p:nvSpPr>
          <p:spPr>
            <a:xfrm>
              <a:off x="4415155" y="5836802"/>
              <a:ext cx="31566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Insecure Channel(e.g., Internet)</a:t>
              </a:r>
            </a:p>
            <a:p>
              <a:endParaRPr lang="en-US" dirty="0"/>
            </a:p>
          </p:txBody>
        </p:sp>
      </p:grpSp>
      <p:pic>
        <p:nvPicPr>
          <p:cNvPr id="43" name="Picture 8" descr="Evil Icon">
            <a:extLst>
              <a:ext uri="{FF2B5EF4-FFF2-40B4-BE49-F238E27FC236}">
                <a16:creationId xmlns:a16="http://schemas.microsoft.com/office/drawing/2014/main" id="{39735270-A772-430F-850A-6BFC26FD5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962" y="2924944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B42D771-9DCD-49AB-966B-DD98F652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47048" y="3159911"/>
            <a:ext cx="457200" cy="4572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FB138BF-0E01-4C5D-BBA8-400FDEEC5715}"/>
              </a:ext>
            </a:extLst>
          </p:cNvPr>
          <p:cNvSpPr txBox="1"/>
          <p:nvPr/>
        </p:nvSpPr>
        <p:spPr>
          <a:xfrm>
            <a:off x="6312829" y="2987510"/>
            <a:ext cx="925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Public Key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55B6926-3D49-4799-B3E2-D755D1FEB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538" y="3025398"/>
            <a:ext cx="548640" cy="62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01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umber theory linear icon. Arithmetic. Thin line illustration. Learning  number and counting. Contour symbol. Vector isolated outline drawing  7387884 Vector Art at Vecteezy">
            <a:extLst>
              <a:ext uri="{FF2B5EF4-FFF2-40B4-BE49-F238E27FC236}">
                <a16:creationId xmlns:a16="http://schemas.microsoft.com/office/drawing/2014/main" id="{24B5834A-1BBD-CA5C-09E5-2F717217A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34290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65AC4E-DFED-25FF-FF2B-B64877D91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AEBC3-238D-0628-EA7D-3BBA8273B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Why Do We Need Number Theory?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/>
              <a:t>Cryptographic algorithms operate on integers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/>
              <a:t>Security relies on hard mathematical problems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/>
              <a:t>Modular arithmetic enables efficient computation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222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Divisibility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3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An </a:t>
                </a:r>
                <a:r>
                  <a:rPr lang="en-US" dirty="0">
                    <a:solidFill>
                      <a:srgbClr val="FF0000"/>
                    </a:solidFill>
                  </a:rPr>
                  <a:t>integer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divides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𝑚𝑏</m:t>
                    </m:r>
                  </m:oMath>
                </a14:m>
                <a:r>
                  <a:rPr lang="en-US" dirty="0"/>
                  <a:t> for some </a:t>
                </a:r>
                <a:r>
                  <a:rPr lang="en-US" dirty="0">
                    <a:solidFill>
                      <a:srgbClr val="FF0000"/>
                    </a:solidFill>
                  </a:rPr>
                  <a:t>integer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i="1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, then division has no </a:t>
                </a:r>
                <a:r>
                  <a:rPr lang="en-US" i="1" u="sng" dirty="0"/>
                  <a:t>remainder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Example: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dirty="0"/>
                  <a:t>3 | 182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dirty="0"/>
                  <a:t>17 | 289</a:t>
                </a:r>
              </a:p>
              <a:p>
                <a:r>
                  <a:rPr lang="en-US" b="1" dirty="0"/>
                  <a:t>Why Do We Care About Divisibility?</a:t>
                </a:r>
                <a:endParaRPr lang="en-US" dirty="0"/>
              </a:p>
              <a:p>
                <a:pPr lvl="1"/>
                <a:r>
                  <a:rPr lang="en-US" dirty="0"/>
                  <a:t>Used to define greatest common divisor (</a:t>
                </a:r>
                <a:r>
                  <a:rPr lang="en-US" dirty="0" err="1"/>
                  <a:t>gcd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Used to define modular arithmetic</a:t>
                </a:r>
              </a:p>
              <a:p>
                <a:pPr lvl="1"/>
                <a:r>
                  <a:rPr lang="en-US" dirty="0"/>
                  <a:t>Determines when division is possible modulo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5843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Divisibility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56218" y="1762126"/>
                <a:ext cx="10094383" cy="4562475"/>
              </a:xfrm>
            </p:spPr>
            <p:txBody>
              <a:bodyPr rtlCol="0">
                <a:noAutofit/>
              </a:bodyPr>
              <a:lstStyle/>
              <a:p>
                <a:pPr>
                  <a:spcBef>
                    <a:spcPts val="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sz="3200" dirty="0"/>
                  <a:t>Key Properties of Divisibility</a:t>
                </a:r>
              </a:p>
              <a:p>
                <a:pPr lvl="1"/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800" dirty="0"/>
                  <a:t>, </a:t>
                </a:r>
              </a:p>
              <a:p>
                <a:pPr lvl="2"/>
                <a:r>
                  <a:rPr lang="en-US" sz="2400" dirty="0"/>
                  <a:t>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800" dirty="0"/>
                  <a:t>, </a:t>
                </a:r>
              </a:p>
              <a:p>
                <a:pPr lvl="2"/>
                <a:r>
                  <a:rPr lang="en-US" sz="2400" dirty="0"/>
                  <a:t>Then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∣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𝑚𝑔</m:t>
                        </m:r>
                        <m:r>
                          <a:rPr lang="ar-AE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400" dirty="0"/>
                  <a:t> for integers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800" dirty="0"/>
                  <a:t>Any nonzero integer divides 0</a:t>
                </a:r>
              </a:p>
              <a:p>
                <a:pPr lvl="1">
                  <a:spcBef>
                    <a:spcPts val="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endParaRPr lang="en-US" sz="2800" dirty="0"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6218" y="1762126"/>
                <a:ext cx="10094383" cy="4562475"/>
              </a:xfrm>
              <a:blipFill>
                <a:blip r:embed="rId3"/>
                <a:stretch>
                  <a:fillRect l="-1635" t="-2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83432" y="1695451"/>
                <a:ext cx="7570787" cy="48847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any integers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</a:t>
                </a:r>
              </a:p>
              <a:p>
                <a:r>
                  <a:rPr lang="en-US" dirty="0"/>
                  <a:t>There exist </a:t>
                </a:r>
                <a:r>
                  <a:rPr lang="en-US" b="1" dirty="0"/>
                  <a:t>unique</a:t>
                </a:r>
                <a:r>
                  <a:rPr lang="en-US" dirty="0"/>
                  <a:t> integers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dirty="0"/>
                  <a:t>such that:</a:t>
                </a:r>
              </a:p>
              <a:p>
                <a:pPr lvl="1" algn="ctr">
                  <a:buFont typeface="Candara" pitchFamily="-84" charset="0"/>
                  <a:buNone/>
                </a:pPr>
                <a:endParaRPr lang="en-US" dirty="0"/>
              </a:p>
              <a:p>
                <a:pPr lvl="1" algn="ctr">
                  <a:buFont typeface="Candara" pitchFamily="-84" charset="0"/>
                  <a:buNone/>
                </a:pPr>
                <a:r>
                  <a:rPr lang="en-US" sz="2800" i="1" dirty="0"/>
                  <a:t>a = </a:t>
                </a:r>
                <a:r>
                  <a:rPr lang="en-US" sz="2800" i="1" dirty="0" err="1"/>
                  <a:t>qb</a:t>
                </a:r>
                <a:r>
                  <a:rPr lang="en-US" sz="2800" i="1" dirty="0"/>
                  <a:t> + r             0 ≤ r &lt; n; </a:t>
                </a:r>
                <a:endParaRPr lang="en-US" dirty="0"/>
              </a:p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22 = 4 * 5 + 2</a:t>
                </a:r>
              </a:p>
              <a:p>
                <a:pPr lvl="1"/>
                <a:r>
                  <a:rPr lang="en-US" dirty="0"/>
                  <a:t>Quotient: q = 4 </a:t>
                </a:r>
              </a:p>
              <a:p>
                <a:pPr lvl="1"/>
                <a:r>
                  <a:rPr lang="en-US" dirty="0"/>
                  <a:t>Remainder: r = 2</a:t>
                </a:r>
              </a:p>
              <a:p>
                <a:pPr lvl="1"/>
                <a:r>
                  <a:rPr lang="en-US" dirty="0"/>
                  <a:t>The remainder is always smaller than the divisor</a:t>
                </a:r>
              </a:p>
            </p:txBody>
          </p:sp>
        </mc:Choice>
        <mc:Fallback xmlns="">
          <p:sp>
            <p:nvSpPr>
              <p:cNvPr id="4198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3432" y="1695451"/>
                <a:ext cx="7570787" cy="4884738"/>
              </a:xfrm>
              <a:blipFill>
                <a:blip r:embed="rId3"/>
                <a:stretch>
                  <a:fillRect l="-1340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FB7AFA-0134-888F-96D1-4FFD70C24696}"/>
              </a:ext>
            </a:extLst>
          </p:cNvPr>
          <p:cNvSpPr/>
          <p:nvPr/>
        </p:nvSpPr>
        <p:spPr>
          <a:xfrm>
            <a:off x="8058225" y="1916832"/>
            <a:ext cx="4014439" cy="35171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Basis of modular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Used in the Euclidean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Enables efficient computation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79376" y="836712"/>
            <a:ext cx="5038774" cy="2819400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Greatest Common Divisor &amp; Euclidean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8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410326" y="683790"/>
                <a:ext cx="5446314" cy="5697538"/>
              </a:xfrm>
            </p:spPr>
            <p:txBody>
              <a:bodyPr>
                <a:normAutofit/>
              </a:bodyPr>
              <a:lstStyle/>
              <a:p>
                <a:r>
                  <a:rPr lang="en-AU" sz="3200" dirty="0"/>
                  <a:t>One of the basic techniques of number theory</a:t>
                </a:r>
              </a:p>
              <a:p>
                <a:r>
                  <a:rPr lang="en-US" dirty="0"/>
                  <a:t>For integers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not both zero, the </a:t>
                </a:r>
                <a:r>
                  <a:rPr lang="en-US" b="1" dirty="0"/>
                  <a:t>greatest common divisor (GCD)</a:t>
                </a:r>
                <a:r>
                  <a:rPr lang="en-US" dirty="0"/>
                  <a:t>, written </a:t>
                </a:r>
                <a:r>
                  <a:rPr lang="en-US" i="1" dirty="0" err="1"/>
                  <a:t>gcd</a:t>
                </a:r>
                <a:r>
                  <a:rPr lang="en-US" i="1" dirty="0"/>
                  <a:t>(</a:t>
                </a:r>
                <a:r>
                  <a:rPr lang="en-US" i="1" dirty="0" err="1"/>
                  <a:t>a,b</a:t>
                </a:r>
                <a:r>
                  <a:rPr lang="en-US" i="1" dirty="0"/>
                  <a:t>)</a:t>
                </a:r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is the </a:t>
                </a:r>
                <a:r>
                  <a:rPr lang="en-US" b="1" dirty="0">
                    <a:solidFill>
                      <a:srgbClr val="FF0000"/>
                    </a:solidFill>
                  </a:rPr>
                  <a:t>largest positive integer </a:t>
                </a:r>
                <a:r>
                  <a:rPr lang="en-US" dirty="0"/>
                  <a:t>that divides both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60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10326" y="683790"/>
                <a:ext cx="5446314" cy="5697538"/>
              </a:xfrm>
              <a:blipFill>
                <a:blip r:embed="rId3"/>
                <a:stretch>
                  <a:fillRect l="-2558" t="-2222" r="-4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08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1263" y="3784748"/>
            <a:ext cx="2946400" cy="266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4"/>
          <p:cNvSpPr>
            <a:spLocks noGrp="1"/>
          </p:cNvSpPr>
          <p:nvPr>
            <p:ph type="title"/>
          </p:nvPr>
        </p:nvSpPr>
        <p:spPr>
          <a:xfrm>
            <a:off x="695400" y="39689"/>
            <a:ext cx="10729191" cy="1412875"/>
          </a:xfrm>
        </p:spPr>
        <p:txBody>
          <a:bodyPr/>
          <a:lstStyle/>
          <a:p>
            <a:r>
              <a:rPr lang="en-US" dirty="0"/>
              <a:t>Greatest Common Divisor (GCD)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695401" y="1752601"/>
                <a:ext cx="10729190" cy="4714875"/>
              </a:xfrm>
            </p:spPr>
            <p:txBody>
              <a:bodyPr rtlCol="0">
                <a:normAutofit/>
              </a:bodyPr>
              <a:lstStyle/>
              <a:p>
                <a:pPr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i="1" dirty="0"/>
                  <a:t>Definition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A positive 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is the greatest common divisor of integers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if: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and</a:t>
                </a:r>
              </a:p>
              <a:p>
                <a:pPr lvl="1"/>
                <a:r>
                  <a:rPr lang="en-US" dirty="0"/>
                  <a:t>for any 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,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/>
                  <a:t>Equivalently,</a:t>
                </a:r>
              </a:p>
              <a:p>
                <a:pPr algn="ctr"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sepChr m:val="∣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+:</m:t>
                            </m:r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𝑎𝑛𝑑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endParaRPr lang="en-US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/>
                  <a:t>For example, </a:t>
                </a:r>
                <a:r>
                  <a:rPr lang="en-US" dirty="0" err="1"/>
                  <a:t>gcd</a:t>
                </a:r>
                <a:r>
                  <a:rPr lang="en-US" dirty="0"/>
                  <a:t>(8,24) = 8</a:t>
                </a:r>
              </a:p>
              <a:p>
                <a:pPr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/>
                  <a:t>We also define </a:t>
                </a:r>
                <a:r>
                  <a:rPr lang="en-US" dirty="0" err="1"/>
                  <a:t>gcd</a:t>
                </a:r>
                <a:r>
                  <a:rPr lang="en-US" dirty="0"/>
                  <a:t>(0,0) = 0</a:t>
                </a:r>
              </a:p>
              <a:p>
                <a:pPr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401" y="1752601"/>
                <a:ext cx="10729190" cy="4714875"/>
              </a:xfrm>
              <a:blipFill>
                <a:blip r:embed="rId3"/>
                <a:stretch>
                  <a:fillRect l="-1182" t="-2688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4001"/>
                <a:ext cx="6419428" cy="4901803"/>
              </a:xfrm>
            </p:spPr>
            <p:txBody>
              <a:bodyPr rtlCol="0">
                <a:normAutofit/>
              </a:bodyPr>
              <a:lstStyle/>
              <a:p>
                <a:pPr>
                  <a:spcBef>
                    <a:spcPts val="18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b="1" dirty="0"/>
                  <a:t>Basic Properties</a:t>
                </a:r>
                <a:endParaRPr lang="en-US" dirty="0"/>
              </a:p>
              <a:p>
                <a:pPr lvl="1">
                  <a:spcBef>
                    <a:spcPts val="18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 err="1"/>
                  <a:t>gcd</a:t>
                </a:r>
                <a:r>
                  <a:rPr lang="en-US" dirty="0"/>
                  <a:t>(</a:t>
                </a:r>
                <a:r>
                  <a:rPr lang="en-US" dirty="0" err="1"/>
                  <a:t>a,b</a:t>
                </a:r>
                <a:r>
                  <a:rPr lang="en-US" dirty="0"/>
                  <a:t>)=</a:t>
                </a:r>
                <a:r>
                  <a:rPr lang="en-US" dirty="0" err="1"/>
                  <a:t>gcd</a:t>
                </a:r>
                <a:r>
                  <a:rPr lang="en-US" dirty="0"/>
                  <a:t>(∣a∣,∣b∣)</a:t>
                </a:r>
              </a:p>
              <a:p>
                <a:pPr lvl="1">
                  <a:spcBef>
                    <a:spcPts val="18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 err="1"/>
                  <a:t>gcd</a:t>
                </a:r>
                <a:r>
                  <a:rPr lang="en-US" dirty="0"/>
                  <a:t>(a,0)=∣a∣</a:t>
                </a:r>
              </a:p>
              <a:p>
                <a:pPr lvl="1">
                  <a:spcBef>
                    <a:spcPts val="18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 err="1"/>
                  <a:t>gcd</a:t>
                </a:r>
                <a:r>
                  <a:rPr lang="en-US" dirty="0"/>
                  <a:t>(</a:t>
                </a:r>
                <a:r>
                  <a:rPr lang="en-US" dirty="0" err="1"/>
                  <a:t>a,b</a:t>
                </a:r>
                <a:r>
                  <a:rPr lang="en-US" dirty="0"/>
                  <a:t>)=</a:t>
                </a:r>
                <a:r>
                  <a:rPr lang="en-US" dirty="0" err="1"/>
                  <a:t>gcd</a:t>
                </a:r>
                <a:r>
                  <a:rPr lang="en-US" dirty="0"/>
                  <a:t>(</a:t>
                </a:r>
                <a:r>
                  <a:rPr lang="en-US" dirty="0" err="1"/>
                  <a:t>b,a</a:t>
                </a:r>
                <a:r>
                  <a:rPr lang="en-US" dirty="0"/>
                  <a:t>)</a:t>
                </a:r>
                <a:endParaRPr lang="en-US" dirty="0">
                  <a:ea typeface="+mn-ea"/>
                  <a:cs typeface="+mn-cs"/>
                </a:endParaRPr>
              </a:p>
              <a:p>
                <a:r>
                  <a:rPr lang="en-US" dirty="0"/>
                  <a:t>Two integers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are said to be </a:t>
                </a:r>
                <a:r>
                  <a:rPr lang="en-US" b="1" u="sng" dirty="0"/>
                  <a:t>relatively prime</a:t>
                </a:r>
                <a:r>
                  <a:rPr lang="en-US" u="sng" dirty="0"/>
                  <a:t> </a:t>
                </a:r>
                <a:r>
                  <a:rPr lang="en-US" dirty="0"/>
                  <a:t>if:</a:t>
                </a:r>
              </a:p>
              <a:p>
                <a:pPr marL="457200" lvl="1" indent="0" algn="ctr">
                  <a:buNone/>
                </a:pPr>
                <a:r>
                  <a:rPr lang="en-US" sz="2800" dirty="0" err="1"/>
                  <a:t>gcd</a:t>
                </a:r>
                <a:r>
                  <a:rPr lang="en-US" sz="2800" dirty="0"/>
                  <a:t>(</a:t>
                </a:r>
                <a:r>
                  <a:rPr lang="en-US" sz="2800" dirty="0" err="1"/>
                  <a:t>a,b</a:t>
                </a:r>
                <a:r>
                  <a:rPr lang="en-US" sz="2800" dirty="0"/>
                  <a:t>)=1</a:t>
                </a:r>
              </a:p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 err="1"/>
                  <a:t>gcd</a:t>
                </a:r>
                <a:r>
                  <a:rPr lang="en-US" dirty="0"/>
                  <a:t>(8,15)=1 → relatively prime</a:t>
                </a:r>
              </a:p>
              <a:p>
                <a:pPr lvl="1"/>
                <a:r>
                  <a:rPr lang="en-US" dirty="0" err="1"/>
                  <a:t>gcd</a:t>
                </a:r>
                <a:r>
                  <a:rPr lang="en-US" dirty="0"/>
                  <a:t>(60,24)=12 → not relatively prime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4001"/>
                <a:ext cx="6419428" cy="4901803"/>
              </a:xfrm>
              <a:blipFill>
                <a:blip r:embed="rId3"/>
                <a:stretch>
                  <a:fillRect l="-1976" t="-2591" b="-1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E589560-F701-8A20-8C9E-130A13C0E1A2}"/>
              </a:ext>
            </a:extLst>
          </p:cNvPr>
          <p:cNvSpPr/>
          <p:nvPr/>
        </p:nvSpPr>
        <p:spPr>
          <a:xfrm>
            <a:off x="6889576" y="926455"/>
            <a:ext cx="4871864" cy="5514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The greatest common divisor is used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Test whether two numbers are relatively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Determine whether modular inverses exist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Construct and validate cryptographic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Detect weak or incorrectly generated parameters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7619-27F4-71AE-75B9-621860E44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Compute GCD </a:t>
            </a:r>
            <a:r>
              <a:rPr lang="en-US" b="1" dirty="0">
                <a:solidFill>
                  <a:srgbClr val="FF0000"/>
                </a:solidFill>
              </a:rPr>
              <a:t>Efficiently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9733E4-823E-69E7-1454-CD6CBEAC3D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Listing all divisors is inefficient</a:t>
                </a:r>
              </a:p>
              <a:p>
                <a:r>
                  <a:rPr lang="en-US" dirty="0"/>
                  <a:t>Cryptography uses very large integers</a:t>
                </a:r>
              </a:p>
              <a:p>
                <a:r>
                  <a:rPr lang="en-US" dirty="0"/>
                  <a:t>We need an efficient algorithm to compute </a:t>
                </a:r>
                <a:r>
                  <a:rPr lang="en-US" dirty="0" err="1"/>
                  <a:t>gcd</a:t>
                </a:r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b="1" dirty="0"/>
                  <a:t>Euclidean Algorithm</a:t>
                </a:r>
                <a:r>
                  <a:rPr lang="en-US" dirty="0"/>
                  <a:t> provides a fast method for computing </a:t>
                </a:r>
                <a:r>
                  <a:rPr lang="en-US" dirty="0" err="1"/>
                  <a:t>gcd</a:t>
                </a:r>
                <a:r>
                  <a:rPr lang="en-US" dirty="0"/>
                  <a:t>(</a:t>
                </a:r>
                <a:r>
                  <a:rPr lang="en-US" dirty="0" err="1"/>
                  <a:t>a,b</a:t>
                </a:r>
                <a:r>
                  <a:rPr lang="en-US" dirty="0"/>
                  <a:t>).</a:t>
                </a:r>
              </a:p>
              <a:p>
                <a:r>
                  <a:rPr lang="en-US" dirty="0"/>
                  <a:t>Key idea:</a:t>
                </a:r>
              </a:p>
              <a:p>
                <a:r>
                  <a:rPr lang="en-US" dirty="0"/>
                  <a:t>If integers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satisfy: </a:t>
                </a:r>
                <a:r>
                  <a:rPr lang="en-US" i="1" dirty="0"/>
                  <a:t>a = </a:t>
                </a:r>
                <a:r>
                  <a:rPr lang="en-US" i="1" dirty="0" err="1"/>
                  <a:t>qb</a:t>
                </a:r>
                <a:r>
                  <a:rPr lang="en-US" i="1" dirty="0"/>
                  <a:t> + r   0 ≤ r &lt; n; </a:t>
                </a:r>
              </a:p>
              <a:p>
                <a:r>
                  <a:rPr lang="en-US" i="1" dirty="0"/>
                  <a:t>Then, </a:t>
                </a:r>
                <a:r>
                  <a:rPr lang="en-US" dirty="0" err="1"/>
                  <a:t>gcd</a:t>
                </a:r>
                <a:r>
                  <a:rPr lang="en-US" dirty="0"/>
                  <a:t>(</a:t>
                </a:r>
                <a:r>
                  <a:rPr lang="en-US" dirty="0" err="1"/>
                  <a:t>a,b</a:t>
                </a:r>
                <a:r>
                  <a:rPr lang="en-US" dirty="0"/>
                  <a:t>)=</a:t>
                </a:r>
                <a:r>
                  <a:rPr lang="en-US" dirty="0" err="1"/>
                  <a:t>gcd</a:t>
                </a:r>
                <a:r>
                  <a:rPr lang="en-US" dirty="0"/>
                  <a:t>(</a:t>
                </a:r>
                <a:r>
                  <a:rPr lang="en-US" dirty="0" err="1"/>
                  <a:t>b,r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9733E4-823E-69E7-1454-CD6CBEAC3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0613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AD991-2CC4-4493-B6DD-8EEDCE05A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Euclidean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77576-E48C-497E-8A67-D9FEB44199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To compute </a:t>
                </a:r>
                <a:r>
                  <a:rPr lang="en-US" dirty="0" err="1"/>
                  <a:t>gcd</a:t>
                </a:r>
                <a:r>
                  <a:rPr lang="en-US" dirty="0"/>
                  <a:t>(</a:t>
                </a:r>
                <a:r>
                  <a:rPr lang="en-US" dirty="0" err="1"/>
                  <a:t>a,b</a:t>
                </a:r>
                <a:r>
                  <a:rPr lang="en-US" dirty="0"/>
                  <a:t>),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Divide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to obtain remainder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Replace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Repeat until the remainder is 0</a:t>
                </a:r>
              </a:p>
              <a:p>
                <a:pPr lvl="1"/>
                <a:r>
                  <a:rPr lang="en-US" dirty="0"/>
                  <a:t>The last nonzero remainder is </a:t>
                </a:r>
                <a:r>
                  <a:rPr lang="en-US" dirty="0" err="1"/>
                  <a:t>gcd</a:t>
                </a:r>
                <a:r>
                  <a:rPr lang="en-US" dirty="0"/>
                  <a:t>(</a:t>
                </a:r>
                <a:r>
                  <a:rPr lang="en-US" dirty="0" err="1"/>
                  <a:t>a,b</a:t>
                </a:r>
                <a:r>
                  <a:rPr lang="en-US" dirty="0"/>
                  <a:t>)</a:t>
                </a:r>
              </a:p>
              <a:p>
                <a:pPr marL="457200" lvl="1" indent="0">
                  <a:buNone/>
                </a:pPr>
                <a:endParaRPr lang="en-US" sz="24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400" i="1" u="sng" dirty="0"/>
                  <a:t>Finding the </a:t>
                </a:r>
                <a:r>
                  <a:rPr lang="en-US" sz="2400" i="1" u="sng" dirty="0" err="1"/>
                  <a:t>gcd</a:t>
                </a:r>
                <a:r>
                  <a:rPr lang="en-US" sz="2400" i="1" u="sng" dirty="0"/>
                  <a:t> of 81 and 57 by the Euclidean Algorithm:</a:t>
                </a:r>
              </a:p>
              <a:p>
                <a:pPr marL="201168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81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57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US" sz="2400" dirty="0"/>
              </a:p>
              <a:p>
                <a:pPr marL="201168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57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2400" dirty="0"/>
              </a:p>
              <a:p>
                <a:pPr marL="201168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</a:endParaRPr>
              </a:p>
              <a:p>
                <a:pPr marL="201168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201168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  <a:p>
                <a:pPr marL="201168" lvl="1" indent="0">
                  <a:buNone/>
                </a:pPr>
                <a:endParaRPr lang="en-US" sz="2400" dirty="0"/>
              </a:p>
              <a:p>
                <a:pPr marL="201168" lvl="1" indent="0">
                  <a:buNone/>
                </a:pPr>
                <a:endParaRPr lang="en-US" sz="2400" dirty="0"/>
              </a:p>
              <a:p>
                <a:pPr marL="201168" lvl="1" indent="0">
                  <a:buNone/>
                </a:pPr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77576-E48C-497E-8A67-D9FEB44199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C1EF8-8423-40CA-B4C1-6A634619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7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5A816-E37F-98FA-AA36-3E7F7812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Euclidean Algorithm Is Efficient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AEDC9-D7B6-EB10-08E3-D6B3668FC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step strictly reduces the size of the inputs</a:t>
            </a:r>
          </a:p>
          <a:p>
            <a:r>
              <a:rPr lang="en-US" dirty="0"/>
              <a:t>Terminates in a small number of steps</a:t>
            </a:r>
          </a:p>
          <a:p>
            <a:r>
              <a:rPr lang="en-US" dirty="0"/>
              <a:t>Runs in time proportional to the number of digits</a:t>
            </a:r>
          </a:p>
          <a:p>
            <a:endParaRPr lang="en-US" dirty="0"/>
          </a:p>
          <a:p>
            <a:r>
              <a:rPr lang="en-US" u="sng" dirty="0"/>
              <a:t>What next?</a:t>
            </a:r>
          </a:p>
          <a:p>
            <a:r>
              <a:rPr lang="en-US" dirty="0"/>
              <a:t>GCD enables modular inverses</a:t>
            </a:r>
          </a:p>
          <a:p>
            <a:r>
              <a:rPr lang="en-US" dirty="0"/>
              <a:t>Modular arithmetic builds on remainders</a:t>
            </a:r>
          </a:p>
          <a:p>
            <a:r>
              <a:rPr lang="en-US" dirty="0"/>
              <a:t>These tools power cryptographic algorithms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58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Arithmetic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275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say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is congruent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b="1" dirty="0"/>
                  <a:t> modulo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if: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∣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This is written as: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have the </a:t>
                </a:r>
                <a:r>
                  <a:rPr lang="en-US" b="1" dirty="0"/>
                  <a:t>same remainder</a:t>
                </a:r>
                <a:r>
                  <a:rPr lang="en-US" dirty="0"/>
                  <a:t> when divided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a multiple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427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038600" y="5222856"/>
            <a:ext cx="4114800" cy="95410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latin typeface="Arial" pitchFamily="-1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latin typeface="Arial" pitchFamily="-1" charset="0"/>
              </a:rPr>
              <a:t>15 mod 7 = 1; 28 mod 12 =  4</a:t>
            </a:r>
          </a:p>
          <a:p>
            <a:pPr algn="ctr">
              <a:defRPr/>
            </a:pPr>
            <a:endParaRPr lang="en-US" dirty="0">
              <a:latin typeface="Arial" pitchFamily="-1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Remainders and the Division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C2BB7B-4811-A93F-D13E-C4C5EE1FEA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By the Division Algorithm, for any 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:r>
                  <a:rPr lang="en-US" i="1" dirty="0"/>
                  <a:t>a = qn + r             0 ≤ r &lt; n; </a:t>
                </a:r>
                <a:endParaRPr lang="en-US" dirty="0"/>
              </a:p>
              <a:p>
                <a:r>
                  <a:rPr lang="en-US" dirty="0"/>
                  <a:t>The remainder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is called:</a:t>
                </a:r>
              </a:p>
              <a:p>
                <a:pPr marL="0" indent="0" algn="ctr">
                  <a:buNone/>
                </a:pPr>
                <a:r>
                  <a:rPr lang="en-US" dirty="0"/>
                  <a:t>a mod n</a:t>
                </a:r>
              </a:p>
              <a:p>
                <a:r>
                  <a:rPr lang="en-US" dirty="0"/>
                  <a:t>Modular arithmetic applies to </a:t>
                </a:r>
                <a:r>
                  <a:rPr lang="en-US" b="1" dirty="0"/>
                  <a:t>all integers</a:t>
                </a:r>
                <a:r>
                  <a:rPr lang="en-US" dirty="0"/>
                  <a:t>, including negatives.</a:t>
                </a:r>
              </a:p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Because: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C2BB7B-4811-A93F-D13E-C4C5EE1FEA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01DDC-4E26-6FB7-A647-DF45380F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Congruences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6BAFE9-2DA7-5C91-3FE0-5382121463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If: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≡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≡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≡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38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15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345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6BAFE9-2DA7-5C91-3FE0-5382121463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758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Arithmetic Operations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4000"/>
                <a:ext cx="9323388" cy="5181600"/>
              </a:xfrm>
            </p:spPr>
            <p:txBody>
              <a:bodyPr rtlCol="0"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  <a:spcBef>
                    <a:spcPts val="14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defRPr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be integers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lnSpc>
                    <a:spcPct val="120000"/>
                  </a:lnSpc>
                  <a:spcBef>
                    <a:spcPts val="14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defRPr/>
                </a:pPr>
                <a:r>
                  <a:rPr lang="en-US" dirty="0"/>
                  <a:t>When performing arithmetic modulo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ea typeface="+mn-ea"/>
                    <a:cs typeface="+mn-cs"/>
                  </a:rPr>
                  <a:t>, we will have</a:t>
                </a:r>
              </a:p>
              <a:p>
                <a:pPr lvl="1">
                  <a:lnSpc>
                    <a:spcPct val="120000"/>
                  </a:lnSpc>
                  <a:spcBef>
                    <a:spcPts val="14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defRPr/>
                </a:pPr>
                <a:r>
                  <a:rPr lang="en-US" dirty="0">
                    <a:ea typeface="+mn-ea"/>
                    <a:cs typeface="+mn-cs"/>
                  </a:rPr>
                  <a:t>[(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r>
                  <a:rPr lang="en-US" dirty="0">
                    <a:ea typeface="+mn-ea"/>
                    <a:cs typeface="+mn-cs"/>
                  </a:rPr>
                  <a:t> mod </a:t>
                </a:r>
                <a:r>
                  <a:rPr lang="en-US" i="1" dirty="0">
                    <a:ea typeface="+mn-ea"/>
                    <a:cs typeface="+mn-cs"/>
                  </a:rPr>
                  <a:t>n</a:t>
                </a:r>
                <a:r>
                  <a:rPr lang="en-US" dirty="0">
                    <a:ea typeface="+mn-ea"/>
                    <a:cs typeface="+mn-cs"/>
                  </a:rPr>
                  <a:t>) + (</a:t>
                </a:r>
                <a:r>
                  <a:rPr lang="en-US" i="1" dirty="0">
                    <a:ea typeface="+mn-ea"/>
                    <a:cs typeface="+mn-cs"/>
                  </a:rPr>
                  <a:t>b</a:t>
                </a:r>
                <a:r>
                  <a:rPr lang="en-US" dirty="0">
                    <a:ea typeface="+mn-ea"/>
                    <a:cs typeface="+mn-cs"/>
                  </a:rPr>
                  <a:t> mod </a:t>
                </a:r>
                <a:r>
                  <a:rPr lang="en-US" i="1" dirty="0">
                    <a:ea typeface="+mn-ea"/>
                    <a:cs typeface="+mn-cs"/>
                  </a:rPr>
                  <a:t>n</a:t>
                </a:r>
                <a:r>
                  <a:rPr lang="en-US" dirty="0">
                    <a:ea typeface="+mn-ea"/>
                    <a:cs typeface="+mn-cs"/>
                  </a:rPr>
                  <a:t>)] mod </a:t>
                </a:r>
                <a:r>
                  <a:rPr lang="en-US" i="1" dirty="0">
                    <a:ea typeface="+mn-ea"/>
                    <a:cs typeface="+mn-cs"/>
                  </a:rPr>
                  <a:t>n</a:t>
                </a:r>
                <a:r>
                  <a:rPr lang="en-US" dirty="0">
                    <a:ea typeface="+mn-ea"/>
                    <a:cs typeface="+mn-cs"/>
                  </a:rPr>
                  <a:t> </a:t>
                </a:r>
                <a:r>
                  <a:rPr lang="en-US" i="1" dirty="0">
                    <a:ea typeface="+mn-ea"/>
                    <a:cs typeface="+mn-cs"/>
                  </a:rPr>
                  <a:t>= (a + b) </a:t>
                </a:r>
                <a:r>
                  <a:rPr lang="en-US" dirty="0">
                    <a:ea typeface="+mn-ea"/>
                    <a:cs typeface="+mn-cs"/>
                  </a:rPr>
                  <a:t>mod </a:t>
                </a:r>
                <a:r>
                  <a:rPr lang="en-US" i="1" dirty="0">
                    <a:ea typeface="+mn-ea"/>
                    <a:cs typeface="+mn-cs"/>
                  </a:rPr>
                  <a:t>n</a:t>
                </a:r>
              </a:p>
              <a:p>
                <a:pPr lvl="1">
                  <a:lnSpc>
                    <a:spcPct val="120000"/>
                  </a:lnSpc>
                  <a:spcBef>
                    <a:spcPts val="14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defRPr/>
                </a:pPr>
                <a:r>
                  <a:rPr lang="en-US" dirty="0">
                    <a:ea typeface="+mn-ea"/>
                    <a:cs typeface="+mn-cs"/>
                  </a:rPr>
                  <a:t>[(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r>
                  <a:rPr lang="en-US" dirty="0">
                    <a:ea typeface="+mn-ea"/>
                    <a:cs typeface="+mn-cs"/>
                  </a:rPr>
                  <a:t> mod </a:t>
                </a:r>
                <a:r>
                  <a:rPr lang="en-US" i="1" dirty="0">
                    <a:ea typeface="+mn-ea"/>
                    <a:cs typeface="+mn-cs"/>
                  </a:rPr>
                  <a:t>n</a:t>
                </a:r>
                <a:r>
                  <a:rPr lang="en-US" dirty="0">
                    <a:ea typeface="+mn-ea"/>
                    <a:cs typeface="+mn-cs"/>
                  </a:rPr>
                  <a:t>) - (</a:t>
                </a:r>
                <a:r>
                  <a:rPr lang="en-US" i="1" dirty="0">
                    <a:ea typeface="+mn-ea"/>
                    <a:cs typeface="+mn-cs"/>
                  </a:rPr>
                  <a:t>b</a:t>
                </a:r>
                <a:r>
                  <a:rPr lang="en-US" dirty="0">
                    <a:ea typeface="+mn-ea"/>
                    <a:cs typeface="+mn-cs"/>
                  </a:rPr>
                  <a:t> mod </a:t>
                </a:r>
                <a:r>
                  <a:rPr lang="en-US" i="1" dirty="0">
                    <a:ea typeface="+mn-ea"/>
                    <a:cs typeface="+mn-cs"/>
                  </a:rPr>
                  <a:t>n</a:t>
                </a:r>
                <a:r>
                  <a:rPr lang="en-US" dirty="0">
                    <a:ea typeface="+mn-ea"/>
                    <a:cs typeface="+mn-cs"/>
                  </a:rPr>
                  <a:t>)] mod </a:t>
                </a:r>
                <a:r>
                  <a:rPr lang="en-US" i="1" dirty="0">
                    <a:ea typeface="+mn-ea"/>
                    <a:cs typeface="+mn-cs"/>
                  </a:rPr>
                  <a:t>n = (a - b) </a:t>
                </a:r>
                <a:r>
                  <a:rPr lang="en-US" dirty="0">
                    <a:ea typeface="+mn-ea"/>
                    <a:cs typeface="+mn-cs"/>
                  </a:rPr>
                  <a:t>mod </a:t>
                </a:r>
                <a:r>
                  <a:rPr lang="en-US" i="1" dirty="0">
                    <a:ea typeface="+mn-ea"/>
                    <a:cs typeface="+mn-cs"/>
                  </a:rPr>
                  <a:t>n</a:t>
                </a:r>
              </a:p>
              <a:p>
                <a:pPr lvl="1">
                  <a:lnSpc>
                    <a:spcPct val="120000"/>
                  </a:lnSpc>
                  <a:spcBef>
                    <a:spcPts val="14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defRPr/>
                </a:pPr>
                <a:r>
                  <a:rPr lang="en-US" dirty="0">
                    <a:ea typeface="+mn-ea"/>
                    <a:cs typeface="+mn-cs"/>
                  </a:rPr>
                  <a:t>[(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r>
                  <a:rPr lang="en-US" dirty="0">
                    <a:ea typeface="+mn-ea"/>
                    <a:cs typeface="+mn-cs"/>
                  </a:rPr>
                  <a:t> mod </a:t>
                </a:r>
                <a:r>
                  <a:rPr lang="en-US" i="1" dirty="0">
                    <a:ea typeface="+mn-ea"/>
                    <a:cs typeface="+mn-cs"/>
                  </a:rPr>
                  <a:t>n</a:t>
                </a:r>
                <a:r>
                  <a:rPr lang="en-US" dirty="0">
                    <a:ea typeface="+mn-ea"/>
                    <a:cs typeface="+mn-cs"/>
                  </a:rPr>
                  <a:t>) * (</a:t>
                </a:r>
                <a:r>
                  <a:rPr lang="en-US" i="1" dirty="0">
                    <a:ea typeface="+mn-ea"/>
                    <a:cs typeface="+mn-cs"/>
                  </a:rPr>
                  <a:t>b</a:t>
                </a:r>
                <a:r>
                  <a:rPr lang="en-US" dirty="0">
                    <a:ea typeface="+mn-ea"/>
                    <a:cs typeface="+mn-cs"/>
                  </a:rPr>
                  <a:t> mod </a:t>
                </a:r>
                <a:r>
                  <a:rPr lang="en-US" i="1" dirty="0">
                    <a:ea typeface="+mn-ea"/>
                    <a:cs typeface="+mn-cs"/>
                  </a:rPr>
                  <a:t>n</a:t>
                </a:r>
                <a:r>
                  <a:rPr lang="en-US" dirty="0">
                    <a:ea typeface="+mn-ea"/>
                    <a:cs typeface="+mn-cs"/>
                  </a:rPr>
                  <a:t>)] mod </a:t>
                </a:r>
                <a:r>
                  <a:rPr lang="en-US" i="1" dirty="0">
                    <a:ea typeface="+mn-ea"/>
                    <a:cs typeface="+mn-cs"/>
                  </a:rPr>
                  <a:t>n = (a * b) </a:t>
                </a:r>
                <a:r>
                  <a:rPr lang="en-US" dirty="0">
                    <a:ea typeface="+mn-ea"/>
                    <a:cs typeface="+mn-cs"/>
                  </a:rPr>
                  <a:t>mod </a:t>
                </a:r>
                <a:r>
                  <a:rPr lang="en-US" i="1" dirty="0">
                    <a:ea typeface="+mn-ea"/>
                    <a:cs typeface="+mn-cs"/>
                  </a:rPr>
                  <a:t>n</a:t>
                </a:r>
              </a:p>
              <a:p>
                <a:r>
                  <a:rPr lang="en-US" dirty="0"/>
                  <a:t>Example: 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nor/>
                          </m:rPr>
                          <a:rPr lang="ar-AE" i="1"/>
                          <m:t> 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m:rPr>
                            <m:nor/>
                          </m:rPr>
                          <a:rPr lang="en-US" i="1"/>
                          <m:t> </m:t>
                        </m:r>
                        <m:r>
                          <m:rPr>
                            <m:nor/>
                          </m:rPr>
                          <a:rPr lang="en-US" b="0" i="1" smtClean="0"/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nor/>
                          </m:rPr>
                          <a:rPr lang="ar-AE" i="1"/>
                          <m:t> 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m:rPr>
                            <m:nor/>
                          </m:rPr>
                          <a:rPr lang="en-US" i="1"/>
                          <m:t> </m:t>
                        </m:r>
                        <m:r>
                          <m:rPr>
                            <m:nor/>
                          </m:rPr>
                          <a:rPr lang="en-US" b="0" i="1" smtClean="0"/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7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m:rPr>
                        <m:nor/>
                      </m:rPr>
                      <a:rPr lang="en-US" b="0" i="1" smtClean="0"/>
                      <m:t> </m:t>
                    </m:r>
                    <m:r>
                      <m:rPr>
                        <m:nor/>
                      </m:rPr>
                      <a:rPr lang="ar-AE" i="1"/>
                      <m:t> 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US" i="1"/>
                      <m:t> 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nor/>
                      </m:rPr>
                      <a:rPr lang="en-US" i="1"/>
                      <m:t> 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US" i="1"/>
                      <m:t> 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m:rPr>
                        <m:nor/>
                      </m:rPr>
                      <a:rPr lang="ar-AE" i="1"/>
                      <m:t> 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US" i="1"/>
                      <m:t> 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165</m:t>
                    </m:r>
                    <m:r>
                      <m:rPr>
                        <m:nor/>
                      </m:rPr>
                      <a:rPr lang="en-US" i="1"/>
                      <m:t> 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US" b="0" i="1" smtClean="0"/>
                      <m:t> </m:t>
                    </m:r>
                    <m:r>
                      <m:rPr>
                        <m:nor/>
                      </m:rPr>
                      <a:rPr lang="en-US" i="1"/>
                      <m:t> 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m:rPr>
                        <m:nor/>
                      </m:rPr>
                      <a:rPr lang="ar-AE" i="1"/>
                      <m:t> 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US" i="1"/>
                      <m:t> 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nor/>
                      </m:rPr>
                      <a:rPr lang="en-US" i="1"/>
                      <m:t> 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1"/>
                      <m:t> 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>
                  <a:lnSpc>
                    <a:spcPct val="120000"/>
                  </a:lnSpc>
                  <a:spcBef>
                    <a:spcPts val="20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defRPr/>
                </a:pPr>
                <a:endParaRPr lang="en-US" i="1" dirty="0"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4000"/>
                <a:ext cx="9323388" cy="5181600"/>
              </a:xfrm>
              <a:blipFill>
                <a:blip r:embed="rId3"/>
                <a:stretch>
                  <a:fillRect l="-1046" t="-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41631-9870-8B94-1C64-C23F20826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53CA5-35A0-ADB9-F4B5-5BC00F2A3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Cryptographic algorithms operate on </a:t>
            </a:r>
            <a:r>
              <a:rPr lang="en-US" b="1" dirty="0"/>
              <a:t>integers</a:t>
            </a:r>
            <a:r>
              <a:rPr lang="en-US" dirty="0"/>
              <a:t>, not real numbers</a:t>
            </a:r>
          </a:p>
          <a:p>
            <a:r>
              <a:rPr lang="en-US" b="1" dirty="0"/>
              <a:t>Divisibility</a:t>
            </a:r>
            <a:r>
              <a:rPr lang="en-US" dirty="0"/>
              <a:t> and the </a:t>
            </a:r>
            <a:r>
              <a:rPr lang="en-US" b="1" dirty="0"/>
              <a:t>division algorithm</a:t>
            </a:r>
            <a:r>
              <a:rPr lang="en-US" dirty="0"/>
              <a:t> formalize how remainders arise</a:t>
            </a:r>
          </a:p>
          <a:p>
            <a:r>
              <a:rPr lang="en-US" dirty="0"/>
              <a:t>The </a:t>
            </a:r>
            <a:r>
              <a:rPr lang="en-US" b="1" dirty="0"/>
              <a:t>greatest common divisor (</a:t>
            </a:r>
            <a:r>
              <a:rPr lang="en-US" b="1" dirty="0" err="1"/>
              <a:t>gcd</a:t>
            </a:r>
            <a:r>
              <a:rPr lang="en-US" b="1" dirty="0"/>
              <a:t>)</a:t>
            </a:r>
            <a:r>
              <a:rPr lang="en-US" dirty="0"/>
              <a:t> measures shared structure between integers</a:t>
            </a:r>
          </a:p>
          <a:p>
            <a:r>
              <a:rPr lang="en-US" dirty="0"/>
              <a:t>The </a:t>
            </a:r>
            <a:r>
              <a:rPr lang="en-US" b="1" dirty="0"/>
              <a:t>Euclidean Algorithm</a:t>
            </a:r>
            <a:r>
              <a:rPr lang="en-US" dirty="0"/>
              <a:t> computes </a:t>
            </a:r>
            <a:r>
              <a:rPr lang="en-US" dirty="0" err="1"/>
              <a:t>gcd</a:t>
            </a:r>
            <a:r>
              <a:rPr lang="en-US" dirty="0"/>
              <a:t> efficiently, even for large numbers</a:t>
            </a:r>
          </a:p>
          <a:p>
            <a:r>
              <a:rPr lang="en-US" b="1" dirty="0"/>
              <a:t>Modular arithmetic</a:t>
            </a:r>
            <a:r>
              <a:rPr lang="en-US" dirty="0"/>
              <a:t> is arithmetic with remainders and preserves structure</a:t>
            </a:r>
          </a:p>
          <a:p>
            <a:r>
              <a:rPr lang="en-US" dirty="0"/>
              <a:t>These tools enable </a:t>
            </a:r>
            <a:r>
              <a:rPr lang="en-US" b="1" dirty="0"/>
              <a:t>efficient and secure cryptographic computation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84227"/>
      </p:ext>
    </p:extLst>
  </p:cSld>
  <p:clrMapOvr>
    <a:masterClrMapping/>
  </p:clrMapOvr>
</p:sld>
</file>

<file path=ppt/theme/theme1.xml><?xml version="1.0" encoding="utf-8"?>
<a:theme xmlns:a="http://schemas.openxmlformats.org/drawingml/2006/main" name="ch01">
  <a:themeElements>
    <a:clrScheme name="ch01 4">
      <a:dk1>
        <a:srgbClr val="9B69FF"/>
      </a:dk1>
      <a:lt1>
        <a:srgbClr val="FFFFFF"/>
      </a:lt1>
      <a:dk2>
        <a:srgbClr val="666699"/>
      </a:dk2>
      <a:lt2>
        <a:srgbClr val="D9D9FF"/>
      </a:lt2>
      <a:accent1>
        <a:srgbClr val="9966FF"/>
      </a:accent1>
      <a:accent2>
        <a:srgbClr val="00FFFF"/>
      </a:accent2>
      <a:accent3>
        <a:srgbClr val="B8B8CA"/>
      </a:accent3>
      <a:accent4>
        <a:srgbClr val="DADADA"/>
      </a:accent4>
      <a:accent5>
        <a:srgbClr val="CAB8FF"/>
      </a:accent5>
      <a:accent6>
        <a:srgbClr val="00E7E7"/>
      </a:accent6>
      <a:hlink>
        <a:srgbClr val="5FAFFF"/>
      </a:hlink>
      <a:folHlink>
        <a:srgbClr val="003399"/>
      </a:folHlink>
    </a:clrScheme>
    <a:fontScheme name="ch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h01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2E2E8E"/>
        </a:accent1>
        <a:accent2>
          <a:srgbClr val="0066CC"/>
        </a:accent2>
        <a:accent3>
          <a:srgbClr val="AAACB1"/>
        </a:accent3>
        <a:accent4>
          <a:srgbClr val="DADADA"/>
        </a:accent4>
        <a:accent5>
          <a:srgbClr val="ADADC6"/>
        </a:accent5>
        <a:accent6>
          <a:srgbClr val="005CB9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58718C"/>
        </a:accent1>
        <a:accent2>
          <a:srgbClr val="6D9D97"/>
        </a:accent2>
        <a:accent3>
          <a:srgbClr val="B0B9C3"/>
        </a:accent3>
        <a:accent4>
          <a:srgbClr val="DADADA"/>
        </a:accent4>
        <a:accent5>
          <a:srgbClr val="B4BBC5"/>
        </a:accent5>
        <a:accent6>
          <a:srgbClr val="628E88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88E4"/>
        </a:accent1>
        <a:accent2>
          <a:srgbClr val="009999"/>
        </a:accent2>
        <a:accent3>
          <a:srgbClr val="AAB9D3"/>
        </a:accent3>
        <a:accent4>
          <a:srgbClr val="DADADA"/>
        </a:accent4>
        <a:accent5>
          <a:srgbClr val="AAC3EF"/>
        </a:accent5>
        <a:accent6>
          <a:srgbClr val="008A8A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9966FF"/>
        </a:accent1>
        <a:accent2>
          <a:srgbClr val="00FFFF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E7E7"/>
        </a:accent6>
        <a:hlink>
          <a:srgbClr val="5FAFFF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8080"/>
        </a:accent1>
        <a:accent2>
          <a:srgbClr val="0099FF"/>
        </a:accent2>
        <a:accent3>
          <a:srgbClr val="AAB8B8"/>
        </a:accent3>
        <a:accent4>
          <a:srgbClr val="DADADA"/>
        </a:accent4>
        <a:accent5>
          <a:srgbClr val="AAC0C0"/>
        </a:accent5>
        <a:accent6>
          <a:srgbClr val="008AE7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CBD7CE"/>
        </a:accent1>
        <a:accent2>
          <a:srgbClr val="9CA8A4"/>
        </a:accent2>
        <a:accent3>
          <a:srgbClr val="CEDAD1"/>
        </a:accent3>
        <a:accent4>
          <a:srgbClr val="DADADA"/>
        </a:accent4>
        <a:accent5>
          <a:srgbClr val="E2E8E3"/>
        </a:accent5>
        <a:accent6>
          <a:srgbClr val="8D9894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686B5D"/>
        </a:accent1>
        <a:accent2>
          <a:srgbClr val="5D8770"/>
        </a:accent2>
        <a:accent3>
          <a:srgbClr val="B3B3AF"/>
        </a:accent3>
        <a:accent4>
          <a:srgbClr val="BCBAB1"/>
        </a:accent4>
        <a:accent5>
          <a:srgbClr val="B9BAB6"/>
        </a:accent5>
        <a:accent6>
          <a:srgbClr val="537A65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A4BCC4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94AAB1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E6E3D4"/>
        </a:accent1>
        <a:accent2>
          <a:srgbClr val="A2A4AC"/>
        </a:accent2>
        <a:accent3>
          <a:srgbClr val="E8E5D9"/>
        </a:accent3>
        <a:accent4>
          <a:srgbClr val="000000"/>
        </a:accent4>
        <a:accent5>
          <a:srgbClr val="F0EFE6"/>
        </a:accent5>
        <a:accent6>
          <a:srgbClr val="9294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4F00D8-31EE-4860-9380-8CA8EBB042A4}">
  <we:reference id="WA200009978" version="1.0.0.1" store="Omex" storeType="OMEX"/>
  <we:alternateReferences>
    <we:reference id="WA200009978" version="1.0.0.1" store="WA20000997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 Mnementh:Users:lpb:admin:consult:Prentice-Hall:Slides:ch01.ppt</Template>
  <TotalTime>10513</TotalTime>
  <Words>1189</Words>
  <Application>Microsoft Office PowerPoint</Application>
  <PresentationFormat>Widescreen</PresentationFormat>
  <Paragraphs>192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ＭＳ Ｐゴシック</vt:lpstr>
      <vt:lpstr>Arial</vt:lpstr>
      <vt:lpstr>Calibri</vt:lpstr>
      <vt:lpstr>Calibri Light</vt:lpstr>
      <vt:lpstr>Cambria Math</vt:lpstr>
      <vt:lpstr>Candara</vt:lpstr>
      <vt:lpstr>Courier New</vt:lpstr>
      <vt:lpstr>Times</vt:lpstr>
      <vt:lpstr>Wingdings</vt:lpstr>
      <vt:lpstr>ch01</vt:lpstr>
      <vt:lpstr>Office 2013 - 2022 Theme</vt:lpstr>
      <vt:lpstr>Modular Arithmetic</vt:lpstr>
      <vt:lpstr>Outline</vt:lpstr>
      <vt:lpstr>Private-Key Cryptography</vt:lpstr>
      <vt:lpstr>Public-Key Cryptography</vt:lpstr>
      <vt:lpstr>Number Theory</vt:lpstr>
      <vt:lpstr>Divisibility</vt:lpstr>
      <vt:lpstr>Properties of Divisibility</vt:lpstr>
      <vt:lpstr>Division Algorithm</vt:lpstr>
      <vt:lpstr>Greatest Common Divisor &amp; Euclidean Algorithm</vt:lpstr>
      <vt:lpstr>Greatest Common Divisor (GCD)</vt:lpstr>
      <vt:lpstr>GCD</vt:lpstr>
      <vt:lpstr>How to Compute GCD Efficiently?</vt:lpstr>
      <vt:lpstr>Euclidean Algorithm</vt:lpstr>
      <vt:lpstr>Why the Euclidean Algorithm Is Efficient</vt:lpstr>
      <vt:lpstr>Modular Arithmetic Definition</vt:lpstr>
      <vt:lpstr>Remainders and the Division Algorithm</vt:lpstr>
      <vt:lpstr>Properties of Congruences</vt:lpstr>
      <vt:lpstr>Modular Arithmetic Operations</vt:lpstr>
      <vt:lpstr>Key Takeaways</vt:lpstr>
    </vt:vector>
  </TitlesOfParts>
  <Manager/>
  <Company>School of Eng &amp; IT, UNSW@ADFA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4</dc:subject>
  <dc:creator>Dr Lawrie Brown</dc:creator>
  <cp:keywords/>
  <dc:description/>
  <cp:lastModifiedBy>Xinyue Zhang</cp:lastModifiedBy>
  <cp:revision>157</cp:revision>
  <cp:lastPrinted>2009-08-06T03:57:36Z</cp:lastPrinted>
  <dcterms:created xsi:type="dcterms:W3CDTF">2016-03-13T02:06:16Z</dcterms:created>
  <dcterms:modified xsi:type="dcterms:W3CDTF">2026-04-20T15:44:18Z</dcterms:modified>
  <cp:category/>
</cp:coreProperties>
</file>