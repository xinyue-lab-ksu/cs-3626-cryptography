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94" r:id="rId17"/>
    <p:sldId id="380" r:id="rId18"/>
    <p:sldId id="271" r:id="rId19"/>
    <p:sldId id="381" r:id="rId20"/>
    <p:sldId id="38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2"/>
    <p:restoredTop sz="74558"/>
  </p:normalViewPr>
  <p:slideViewPr>
    <p:cSldViewPr snapToGrid="0">
      <p:cViewPr varScale="1">
        <p:scale>
          <a:sx n="82" d="100"/>
          <a:sy n="82" d="100"/>
        </p:scale>
        <p:origin x="1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0D8A09-FF2C-D946-9FF1-A3FCBD53B57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76BA5E-47A5-7245-98FB-5FE7BCEED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710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76BA5E-47A5-7245-98FB-5FE7BCEED53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457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76BA5E-47A5-7245-98FB-5FE7BCEED53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380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76BA5E-47A5-7245-98FB-5FE7BCEED53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283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76BA5E-47A5-7245-98FB-5FE7BCEED53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1226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76BA5E-47A5-7245-98FB-5FE7BCEED53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5376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ACF2F62-E652-A644-8EEF-6D043837A6C9}" type="slidenum">
              <a:rPr lang="en-AU">
                <a:latin typeface="Arial" pitchFamily="-1" charset="0"/>
              </a:rPr>
              <a:pPr/>
              <a:t>16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dirty="0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60AF0-A444-76ED-9166-0FE87135C4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37CB86-ECFF-E3DF-B046-1AE1891422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A1346-A9E2-3F9F-CC40-F8384187E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9417-78B4-E749-9984-F24C9E48C6C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37E8A-0F4C-0A49-B346-E69C3E735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D1C25-ED26-6048-D7A0-A8BDE0637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12750-7151-5F42-BF0A-4FE68696C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151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17704-3102-5D80-3914-4AA29BF4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EEC7B-926C-0100-1A09-132BEF638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1BFB3-6F07-B760-F665-61D5F98DB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9417-78B4-E749-9984-F24C9E48C6C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70A36-8C1A-BC63-5DC4-6761D8CE5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64D29-2255-F95A-1369-052E0D4B4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12750-7151-5F42-BF0A-4FE68696C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96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4E852-72A4-9779-1209-A27F9C3E7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55AAB-65E8-2274-9EB1-39AD6BB91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5392A-7A4B-F44D-A79E-B5CDCE00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9417-78B4-E749-9984-F24C9E48C6C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0BFD4-EE03-82EC-37D0-7D3051E64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2042E-E343-1C48-5DB5-2C3504406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12750-7151-5F42-BF0A-4FE68696C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544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6D90-B627-D90F-1F63-CDE6B372B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70901-55C1-DE25-B8D2-68D02F29A8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010393-0D3B-4A3F-7901-0E88B4EB5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AD8A8-F7CF-EB63-77C7-979940DF2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9417-78B4-E749-9984-F24C9E48C6C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DB2CFA-5EBA-8C4D-9C56-39709CE11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2F40E3-BCA6-8216-2C71-2959BB6F7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12750-7151-5F42-BF0A-4FE68696C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3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4600-38B0-124D-F847-7C3D2C6C6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67F8B5-09C1-3AED-88A3-18669AD74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EB772D-B1A6-E3CB-708A-5B2B0011B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144AB2-795E-CAF7-5998-31117511F5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C7CC74-7F86-A2D1-A571-8B36B58DF9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4C6419-E890-A6AA-9CB1-1679A720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9417-78B4-E749-9984-F24C9E48C6C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BC84FC-126C-D939-D82C-36C9F298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FEC9A7-2C8C-056B-6897-B2176F43B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12750-7151-5F42-BF0A-4FE68696C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625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4C9AB-56FC-C2A3-1889-39C8D1198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EA2B4C-3A8C-3634-AA35-03EE77C57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9417-78B4-E749-9984-F24C9E48C6C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5147E-FC14-037D-BEE3-D90652EDA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780F0D-B9FD-DBBC-D7DE-1278C4E5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12750-7151-5F42-BF0A-4FE68696C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13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923E9D-E362-F951-441D-9AEF49B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9417-78B4-E749-9984-F24C9E48C6C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BBAD79-714F-164C-37FA-CC2D718F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DEE47-D7B2-2D96-9622-EB8A4AD5B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12750-7151-5F42-BF0A-4FE68696C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32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C9F51-1AAD-940C-83FE-F0D062645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851FE-0C44-9544-10FD-FD0AD2CFD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9B97B6-25DE-9C47-5BA8-B27F706F66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214A16-6C1E-A6F3-A0D2-4E6D13A78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9417-78B4-E749-9984-F24C9E48C6C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E57B79-DACB-AF5C-A987-F0163365F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51047B-44AF-7BA3-6578-1C706EB29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12750-7151-5F42-BF0A-4FE68696C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123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77A91-F259-DBE0-ED07-B61581938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EA1CB3-184D-1072-42DD-ECAFBA3A28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29D9B-080C-1214-7217-3D83665D98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91673-17D8-1DD1-CBD5-966AB1E6E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9417-78B4-E749-9984-F24C9E48C6C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644A5E-FCF7-BD98-D9D3-E13A04C43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835F02-BC7B-5E5C-FE32-FFF8691A0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12750-7151-5F42-BF0A-4FE68696C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480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D55A8-5E53-F04B-E389-013C42DD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F5177E-ACCF-E32F-8D4D-1DFB74F84A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115C8-C189-C4B3-1B13-AF1B4E7BF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9417-78B4-E749-9984-F24C9E48C6C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378DF-DE25-C7D8-9C86-485086F62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3D17B-DE45-9C3C-A6E9-3E9C5B404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12750-7151-5F42-BF0A-4FE68696C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43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27CB82-187A-FC3A-552B-038EA39D2E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D4AFAE-F79A-F19F-EB62-5CA8A5AF3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522FF-D0CB-778E-D946-62D7845C0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9417-78B4-E749-9984-F24C9E48C6C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3658D-1161-B715-4EA2-7B3CFA1B8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40596-55D8-17BC-2A7A-B87DA7F6F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12750-7151-5F42-BF0A-4FE68696C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801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3C497A-4312-E705-4048-3A58244C1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3EAE6F-8733-3ADF-81C2-3720D3F25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B8525-57C7-E792-59BF-91E41A6FD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7A9417-78B4-E749-9984-F24C9E48C6C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4E5CD-D3FB-3985-664D-3F7C9BBA3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0E2E9-6F9E-77E7-7E5F-30CB187087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F12750-7151-5F42-BF0A-4FE68696C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966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AE4FF-6EF1-DF45-CAD9-D4014890EC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Classical Ciphers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21038B-7AC8-ED3C-BA55-D42C8D9CC7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Dr. Xinyue Zhang</a:t>
            </a:r>
          </a:p>
          <a:p>
            <a:r>
              <a:rPr lang="en-US" dirty="0"/>
              <a:t>Assistant Professor</a:t>
            </a:r>
          </a:p>
          <a:p>
            <a:r>
              <a:rPr lang="en-US" dirty="0"/>
              <a:t>Department of Computer Science</a:t>
            </a:r>
          </a:p>
          <a:p>
            <a:r>
              <a:rPr lang="en-US" dirty="0"/>
              <a:t>Kennesaw State University</a:t>
            </a:r>
          </a:p>
          <a:p>
            <a:r>
              <a:rPr lang="en-US" dirty="0"/>
              <a:t>Marietta, GA, USA</a:t>
            </a:r>
          </a:p>
        </p:txBody>
      </p:sp>
    </p:spTree>
    <p:extLst>
      <p:ext uri="{BB962C8B-B14F-4D97-AF65-F5344CB8AC3E}">
        <p14:creationId xmlns:p14="http://schemas.microsoft.com/office/powerpoint/2010/main" val="2995512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F7834-5483-8DBC-3F14-EDB1BCAB5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F9160-F540-34C4-D10A-8B14D19A6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Substitution Ciphers</a:t>
            </a:r>
          </a:p>
          <a:p>
            <a:r>
              <a:rPr lang="en-US" dirty="0"/>
              <a:t>Monoalphabetic Ciphers</a:t>
            </a:r>
          </a:p>
          <a:p>
            <a:r>
              <a:rPr lang="en-US" dirty="0"/>
              <a:t>Polyalphabetic Ciphers</a:t>
            </a:r>
          </a:p>
          <a:p>
            <a:r>
              <a:rPr lang="en-US" dirty="0"/>
              <a:t>Block-Based Thinking</a:t>
            </a:r>
          </a:p>
        </p:txBody>
      </p:sp>
    </p:spTree>
    <p:extLst>
      <p:ext uri="{BB962C8B-B14F-4D97-AF65-F5344CB8AC3E}">
        <p14:creationId xmlns:p14="http://schemas.microsoft.com/office/powerpoint/2010/main" val="1467855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3ED9C-8A8B-09A4-5E5C-D0B3183A9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Historical Cryptography?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2C76F-68E4-A182-D51F-9C031585D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Early cryptography focused on:</a:t>
            </a:r>
          </a:p>
          <a:p>
            <a:pPr lvl="1"/>
            <a:r>
              <a:rPr lang="en-US" dirty="0"/>
              <a:t>secrecy of messages</a:t>
            </a:r>
          </a:p>
          <a:p>
            <a:pPr lvl="1"/>
            <a:r>
              <a:rPr lang="en-US" dirty="0"/>
              <a:t>manual computation</a:t>
            </a:r>
          </a:p>
          <a:p>
            <a:pPr lvl="1"/>
            <a:r>
              <a:rPr lang="en-US" dirty="0"/>
              <a:t>human-readable text</a:t>
            </a:r>
          </a:p>
          <a:p>
            <a:r>
              <a:rPr lang="en-US" dirty="0"/>
              <a:t>Security relied on:</a:t>
            </a:r>
          </a:p>
          <a:p>
            <a:pPr lvl="1"/>
            <a:r>
              <a:rPr lang="en-US" dirty="0"/>
              <a:t>obscurity</a:t>
            </a:r>
          </a:p>
          <a:p>
            <a:pPr lvl="1"/>
            <a:r>
              <a:rPr lang="en-US" dirty="0"/>
              <a:t>secrecy of method</a:t>
            </a:r>
          </a:p>
          <a:p>
            <a:pPr lvl="1"/>
            <a:r>
              <a:rPr lang="en-US" dirty="0"/>
              <a:t>limited attacker capabilities</a:t>
            </a:r>
          </a:p>
          <a:p>
            <a:r>
              <a:rPr lang="en-US" dirty="0"/>
              <a:t>Classical cryptography was designed for humans, not computers.</a:t>
            </a:r>
          </a:p>
          <a:p>
            <a:r>
              <a:rPr lang="en-US" dirty="0"/>
              <a:t>For example,</a:t>
            </a:r>
          </a:p>
          <a:p>
            <a:r>
              <a:rPr lang="en-US" b="1" dirty="0"/>
              <a:t>Example (historical)</a:t>
            </a:r>
            <a:endParaRPr lang="en-US" dirty="0"/>
          </a:p>
          <a:p>
            <a:pPr lvl="1"/>
            <a:r>
              <a:rPr lang="en-US" dirty="0"/>
              <a:t>Military and diplomatic communication before the 20th century</a:t>
            </a:r>
          </a:p>
          <a:p>
            <a:pPr lvl="1"/>
            <a:r>
              <a:rPr lang="en-US" dirty="0"/>
              <a:t>Messages encrypted by hand, often under time pressure</a:t>
            </a:r>
          </a:p>
        </p:txBody>
      </p:sp>
    </p:spTree>
    <p:extLst>
      <p:ext uri="{BB962C8B-B14F-4D97-AF65-F5344CB8AC3E}">
        <p14:creationId xmlns:p14="http://schemas.microsoft.com/office/powerpoint/2010/main" val="398972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B9992-8908-88CA-A90E-3ACDB0F2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Cryptography vs Cryptanalysis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8919E-9C5D-2D2C-656C-09D1A84DA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Cryptography</a:t>
            </a:r>
            <a:r>
              <a:rPr lang="en-US" dirty="0"/>
              <a:t>: designing methods to hide information</a:t>
            </a:r>
          </a:p>
          <a:p>
            <a:r>
              <a:rPr lang="en-US" b="1" dirty="0"/>
              <a:t>Cryptanalysis</a:t>
            </a:r>
            <a:r>
              <a:rPr lang="en-US" dirty="0"/>
              <a:t>: breaking those methods</a:t>
            </a:r>
          </a:p>
          <a:p>
            <a:r>
              <a:rPr lang="en-US" dirty="0"/>
              <a:t>Historically, cryptography and cryptanalysis evolved together</a:t>
            </a:r>
          </a:p>
          <a:p>
            <a:r>
              <a:rPr lang="en-US" dirty="0"/>
              <a:t>In other words, every cipher must be evaluated against an attacker.</a:t>
            </a:r>
          </a:p>
          <a:p>
            <a:endParaRPr lang="en-US" dirty="0"/>
          </a:p>
          <a:p>
            <a:r>
              <a:rPr lang="en-US" dirty="0"/>
              <a:t>Arab scholars (e.g., Al-Kindi) formalizing cryptanalysis via statistics.</a:t>
            </a:r>
          </a:p>
        </p:txBody>
      </p:sp>
    </p:spTree>
    <p:extLst>
      <p:ext uri="{BB962C8B-B14F-4D97-AF65-F5344CB8AC3E}">
        <p14:creationId xmlns:p14="http://schemas.microsoft.com/office/powerpoint/2010/main" val="587980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FEDD5-BDEA-0155-A1D5-D8DFF60AC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Substitution Ciphers: Caesar Cipher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ED81CD-EB2C-95D8-B3A5-B9EA8EBFDE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Attributed to Julius Caesar for military messages</a:t>
                </a:r>
              </a:p>
              <a:p>
                <a:r>
                  <a:rPr lang="en-US" dirty="0"/>
                  <a:t>Each letter shifted by a fixed amount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Same transformation applied to entire message</a:t>
                </a:r>
              </a:p>
              <a:p>
                <a:r>
                  <a:rPr lang="en-US" dirty="0"/>
                  <a:t>Let letters be mapped to numbers: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i="1"/>
                        <m:t>  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i="1"/>
                        <m:t>  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…,</m:t>
                      </m:r>
                      <m:r>
                        <m:rPr>
                          <m:nor/>
                        </m:rPr>
                        <a:rPr lang="en-US" i="1"/>
                        <m:t>  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Encryption: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m:rPr>
                          <m:nor/>
                        </m:rPr>
                        <a:rPr lang="ar-AE" i="1"/>
                        <m:t> 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mod</m:t>
                      </m:r>
                      <m:r>
                        <m:rPr>
                          <m:nor/>
                        </m:rPr>
                        <a:rPr lang="en-US" i="1"/>
                        <m:t> 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26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Decryption: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m:rPr>
                          <m:nor/>
                        </m:rPr>
                        <a:rPr lang="ar-AE" i="1"/>
                        <m:t> 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mod</m:t>
                      </m:r>
                      <m:r>
                        <m:rPr>
                          <m:nor/>
                        </m:rPr>
                        <a:rPr lang="en-US" i="1"/>
                        <m:t> 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26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Plaintext: </a:t>
                </a:r>
                <a:r>
                  <a:rPr lang="en-US"/>
                  <a:t>Hello World; k=3</a:t>
                </a:r>
                <a:endParaRPr lang="en-US" dirty="0"/>
              </a:p>
              <a:p>
                <a:r>
                  <a:rPr lang="en-US" dirty="0"/>
                  <a:t>Ciphertext: KHOOR ZRUOG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ED81CD-EB2C-95D8-B3A5-B9EA8EBFDE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44" t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7641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A701C-5CB0-820F-4A7F-36F74C3B7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Caesar Cipher Fails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7EE052-4077-48DF-EDBE-3D514659C8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Very small key space</a:t>
                </a:r>
              </a:p>
              <a:p>
                <a:r>
                  <a:rPr lang="en-US" b="1" dirty="0"/>
                  <a:t>Weakness: </a:t>
                </a:r>
                <a:r>
                  <a:rPr lang="en-US" dirty="0"/>
                  <a:t>Easily broken by </a:t>
                </a:r>
                <a:r>
                  <a:rPr lang="en-US" b="1" u="sng" dirty="0"/>
                  <a:t>brute force</a:t>
                </a:r>
              </a:p>
              <a:p>
                <a:r>
                  <a:rPr lang="en-US" b="1" dirty="0"/>
                  <a:t>Key Space</a:t>
                </a:r>
                <a:endParaRPr lang="en-US" dirty="0"/>
              </a:p>
              <a:p>
                <a:pPr lvl="1"/>
                <a:r>
                  <a:rPr lang="en-US" dirty="0"/>
                  <a:t>Only 25 possible keys</a:t>
                </a:r>
              </a:p>
              <a:p>
                <a:pPr lvl="1"/>
                <a:r>
                  <a:rPr lang="en-US" dirty="0"/>
                  <a:t>Attacker can try all shifts</a:t>
                </a:r>
              </a:p>
              <a:p>
                <a:r>
                  <a:rPr lang="en-US" b="1" dirty="0"/>
                  <a:t>Attack Strategy</a:t>
                </a:r>
                <a:endParaRPr lang="en-US" dirty="0"/>
              </a:p>
              <a:p>
                <a:pPr lvl="1"/>
                <a:r>
                  <a:rPr lang="en-US" dirty="0"/>
                  <a:t>Try each possible value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Look for meaningful plaintext</a:t>
                </a:r>
              </a:p>
              <a:p>
                <a:r>
                  <a:rPr lang="en-US" dirty="0"/>
                  <a:t>Given the ciphertext “KHOOR ZRUOG”</a:t>
                </a:r>
              </a:p>
              <a:p>
                <a:r>
                  <a:rPr lang="en-US" dirty="0"/>
                  <a:t>Trying all shifts quickly reveals: “HELLO WORLD”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7EE052-4077-48DF-EDBE-3D514659C8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3081" b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5537AE8-F0EB-C7CD-49CF-9457DAD92324}"/>
              </a:ext>
            </a:extLst>
          </p:cNvPr>
          <p:cNvSpPr/>
          <p:nvPr/>
        </p:nvSpPr>
        <p:spPr>
          <a:xfrm>
            <a:off x="7792872" y="2361063"/>
            <a:ext cx="3903259" cy="248389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A small key space offers no real security.</a:t>
            </a:r>
          </a:p>
        </p:txBody>
      </p:sp>
    </p:spTree>
    <p:extLst>
      <p:ext uri="{BB962C8B-B14F-4D97-AF65-F5344CB8AC3E}">
        <p14:creationId xmlns:p14="http://schemas.microsoft.com/office/powerpoint/2010/main" val="2111890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20FDF-C590-1C02-93FE-CEF196EAB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Monoalphabetic Substitution Cipher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8D16D-A8F4-0C24-97D9-D001A4028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plaintext letter maps to a unique ciphertext letter</a:t>
            </a:r>
          </a:p>
          <a:p>
            <a:r>
              <a:rPr lang="en-US" dirty="0"/>
              <a:t>Entire message uses the same substitution</a:t>
            </a:r>
          </a:p>
          <a:p>
            <a:r>
              <a:rPr lang="en-US" dirty="0"/>
              <a:t>Much larger key space than Caesar cipher</a:t>
            </a:r>
          </a:p>
          <a:p>
            <a:endParaRPr lang="en-US" dirty="0"/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B7227BD1-7FC6-F936-45E8-7CED8D5CEC97}"/>
              </a:ext>
            </a:extLst>
          </p:cNvPr>
          <p:cNvSpPr/>
          <p:nvPr/>
        </p:nvSpPr>
        <p:spPr>
          <a:xfrm>
            <a:off x="4376382" y="3429000"/>
            <a:ext cx="3439235" cy="2964858"/>
          </a:xfrm>
          <a:prstGeom prst="triangl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However, large key space </a:t>
            </a:r>
          </a:p>
          <a:p>
            <a:pPr algn="ctr"/>
            <a:r>
              <a:rPr lang="en-US" sz="2400" b="1" dirty="0"/>
              <a:t>≠ </a:t>
            </a:r>
          </a:p>
          <a:p>
            <a:pPr algn="ctr"/>
            <a:r>
              <a:rPr lang="en-US" sz="2400" b="1" dirty="0"/>
              <a:t>secure</a:t>
            </a:r>
          </a:p>
          <a:p>
            <a:pPr algn="ctr"/>
            <a:endParaRPr lang="en-US" sz="2400" b="1" dirty="0"/>
          </a:p>
          <a:p>
            <a:pPr algn="ctr"/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608693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9" name="Rectangle 205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Frequency Table">
            <a:extLst>
              <a:ext uri="{FF2B5EF4-FFF2-40B4-BE49-F238E27FC236}">
                <a16:creationId xmlns:a16="http://schemas.microsoft.com/office/drawing/2014/main" id="{B00E19A0-9029-BFDC-3F0F-68C26AA30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141" b="1"/>
          <a:stretch>
            <a:fillRect/>
          </a:stretch>
        </p:blipFill>
        <p:spPr bwMode="auto">
          <a:xfrm>
            <a:off x="1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0" name="Rectangle 205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590561-DBC7-3373-1B80-1AB6D9152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dirty="0"/>
              <a:t>Monoalphabetic Substitution Cipher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DDFEC-2009-8C4B-A9D1-296C3D14E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US" sz="2000"/>
              <a:t>Human languages are highly redundant</a:t>
            </a:r>
          </a:p>
          <a:p>
            <a:r>
              <a:rPr lang="en-US" sz="2000"/>
              <a:t>Letters appear with predictable frequencies</a:t>
            </a:r>
          </a:p>
          <a:p>
            <a:r>
              <a:rPr lang="en-US" sz="2000"/>
              <a:t>Substitution preserves frequency patterns</a:t>
            </a:r>
          </a:p>
          <a:p>
            <a:r>
              <a:rPr lang="en-US" sz="2000"/>
              <a:t>Example:</a:t>
            </a:r>
          </a:p>
          <a:p>
            <a:pPr lvl="1"/>
            <a:r>
              <a:rPr lang="en-US" sz="2000"/>
              <a:t>“The most frequent ciphertext letter likely maps to ‘E’”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8206DA-F629-0C10-6620-EEC221B11E27}"/>
              </a:ext>
            </a:extLst>
          </p:cNvPr>
          <p:cNvSpPr txBox="1"/>
          <p:nvPr/>
        </p:nvSpPr>
        <p:spPr>
          <a:xfrm>
            <a:off x="-30343" y="6658676"/>
            <a:ext cx="585769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Figure Source: https://</a:t>
            </a:r>
            <a:r>
              <a:rPr lang="en-US" sz="1050" dirty="0" err="1"/>
              <a:t>pi.math.cornell.edu</a:t>
            </a:r>
            <a:r>
              <a:rPr lang="en-US" sz="1050" dirty="0"/>
              <a:t>/~</a:t>
            </a:r>
            <a:r>
              <a:rPr lang="en-US" sz="1050" dirty="0" err="1"/>
              <a:t>mec</a:t>
            </a:r>
            <a:r>
              <a:rPr lang="en-US" sz="1050" dirty="0"/>
              <a:t>/2003-2004/cryptography/subs/</a:t>
            </a:r>
            <a:r>
              <a:rPr lang="en-US" sz="1050" dirty="0" err="1"/>
              <a:t>frequencies.html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842170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AD680-9C4C-2CD4-1505-1C1000A7C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Monoalphabetic Ciphers Fail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2E18D-FDE1-4755-7563-B6039E664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Deterministic substitution</a:t>
            </a:r>
          </a:p>
          <a:p>
            <a:r>
              <a:rPr lang="en-US" dirty="0"/>
              <a:t>Same plaintext → same ciphertext</a:t>
            </a:r>
          </a:p>
          <a:p>
            <a:r>
              <a:rPr lang="en-US" dirty="0"/>
              <a:t>Patterns repeat throughout the message</a:t>
            </a:r>
          </a:p>
          <a:p>
            <a:endParaRPr lang="en-US" dirty="0"/>
          </a:p>
          <a:p>
            <a:r>
              <a:rPr lang="en-US" dirty="0"/>
              <a:t>Ciphertext-only attack is sufficient</a:t>
            </a:r>
          </a:p>
          <a:p>
            <a:pPr lvl="1"/>
            <a:r>
              <a:rPr lang="en-US" dirty="0"/>
              <a:t>No semantic security</a:t>
            </a:r>
          </a:p>
          <a:p>
            <a:pPr lvl="1"/>
            <a:r>
              <a:rPr lang="en-US" dirty="0"/>
              <a:t>Cipher leaks information about plaintext</a:t>
            </a:r>
          </a:p>
        </p:txBody>
      </p:sp>
    </p:spTree>
    <p:extLst>
      <p:ext uri="{BB962C8B-B14F-4D97-AF65-F5344CB8AC3E}">
        <p14:creationId xmlns:p14="http://schemas.microsoft.com/office/powerpoint/2010/main" val="3592692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DB696-5CAA-311C-61BB-4AFCFC7BB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Polyalphabetic Ciphers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4D134-27F0-B863-D650-A22900EF5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Goal</a:t>
            </a:r>
            <a:r>
              <a:rPr lang="en-US" dirty="0"/>
              <a:t>: hide letter frequency</a:t>
            </a:r>
          </a:p>
          <a:p>
            <a:r>
              <a:rPr lang="en-US" b="1" dirty="0"/>
              <a:t>Idea</a:t>
            </a:r>
            <a:r>
              <a:rPr lang="en-US" dirty="0"/>
              <a:t>: use multiple substitution alphabets</a:t>
            </a:r>
          </a:p>
          <a:p>
            <a:endParaRPr lang="en-US" dirty="0"/>
          </a:p>
          <a:p>
            <a:r>
              <a:rPr lang="en-US" dirty="0"/>
              <a:t>Encryption depends on position in message</a:t>
            </a:r>
          </a:p>
          <a:p>
            <a:endParaRPr lang="en-US" dirty="0"/>
          </a:p>
          <a:p>
            <a:r>
              <a:rPr lang="en-US" dirty="0"/>
              <a:t>Break the link between plaintext frequency and ciphertext frequency.</a:t>
            </a:r>
          </a:p>
        </p:txBody>
      </p:sp>
    </p:spTree>
    <p:extLst>
      <p:ext uri="{BB962C8B-B14F-4D97-AF65-F5344CB8AC3E}">
        <p14:creationId xmlns:p14="http://schemas.microsoft.com/office/powerpoint/2010/main" val="2207359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2F1CA-694A-FEA1-0B88-9A9F05C2C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Vigenère Cipher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DEAEEA-81FD-CB95-952B-7371C14F52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Uses a repeating keyword</a:t>
                </a:r>
              </a:p>
              <a:p>
                <a:r>
                  <a:rPr lang="en-US" dirty="0"/>
                  <a:t>Each position uses a different Caesar shift</a:t>
                </a:r>
              </a:p>
              <a:p>
                <a:r>
                  <a:rPr lang="en-US" dirty="0"/>
                  <a:t>Periodic structure</a:t>
                </a:r>
              </a:p>
              <a:p>
                <a:r>
                  <a:rPr lang="en-US" dirty="0"/>
                  <a:t>Map letters to numbers: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i="1"/>
                        <m:t>  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i="1"/>
                        <m:t>  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…,</m:t>
                      </m:r>
                      <m:r>
                        <m:rPr>
                          <m:nor/>
                        </m:rPr>
                        <a:rPr lang="en-US" i="1"/>
                        <m:t>  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Given plaintext letter: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; key letter: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Encryption: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​+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26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Decryption: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26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DEAEEA-81FD-CB95-952B-7371C14F52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6727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B995D-71AB-B250-C52C-B4858183E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Vigenère Cipher 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51C067-3FED-CA7B-5BDB-637F9D952A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Given plaintext letter: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; key letter: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Encryption: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​+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26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Decryption: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26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Plaintext: HELLO WORLD</a:t>
                </a:r>
              </a:p>
              <a:p>
                <a:r>
                  <a:rPr lang="en-US" dirty="0"/>
                  <a:t>Key: KEY (will be repeated)</a:t>
                </a:r>
              </a:p>
              <a:p>
                <a:r>
                  <a:rPr lang="en-US" dirty="0"/>
                  <a:t>Ciphertext: </a:t>
                </a:r>
                <a:r>
                  <a:rPr lang="en-US" b="1" dirty="0">
                    <a:solidFill>
                      <a:schemeClr val="accent6"/>
                    </a:solidFill>
                  </a:rPr>
                  <a:t>RIJVS UYVJN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51C067-3FED-CA7B-5BDB-637F9D952A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1326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93273-FDC5-FEA0-15A6-D7DF084CC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Vigenère Cipher Is Still Broken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2B4F7-8066-E8C5-0C8E-395F15E44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repeats</a:t>
            </a:r>
          </a:p>
          <a:p>
            <a:r>
              <a:rPr lang="en-US" dirty="0"/>
              <a:t>Period reveals structure</a:t>
            </a:r>
          </a:p>
          <a:p>
            <a:r>
              <a:rPr lang="en-US" dirty="0"/>
              <a:t>Message can be split into monoalphabetic components</a:t>
            </a:r>
          </a:p>
          <a:p>
            <a:r>
              <a:rPr lang="en-US" dirty="0"/>
              <a:t>Possible attack:</a:t>
            </a:r>
          </a:p>
          <a:p>
            <a:pPr lvl="1"/>
            <a:r>
              <a:rPr lang="en-US" dirty="0"/>
              <a:t>Attacker suspects a repeating key</a:t>
            </a:r>
          </a:p>
          <a:p>
            <a:pPr lvl="1"/>
            <a:r>
              <a:rPr lang="en-US" dirty="0"/>
              <a:t>Attacker guesses the key length</a:t>
            </a:r>
          </a:p>
          <a:p>
            <a:pPr lvl="1"/>
            <a:r>
              <a:rPr lang="en-US" dirty="0"/>
              <a:t>Ciphertext is split into multiple streams</a:t>
            </a:r>
          </a:p>
          <a:p>
            <a:pPr lvl="1"/>
            <a:r>
              <a:rPr lang="en-US" dirty="0"/>
              <a:t>Each stream is a monoalphabetic cipher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0395EA2-8F6B-AE90-15B1-1FE865070D48}"/>
              </a:ext>
            </a:extLst>
          </p:cNvPr>
          <p:cNvSpPr/>
          <p:nvPr/>
        </p:nvSpPr>
        <p:spPr>
          <a:xfrm>
            <a:off x="7260609" y="3429000"/>
            <a:ext cx="4681182" cy="328569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Example: If the key length is 3: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letters in positions 1,4,7,… use the same shift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letters in positions 2,5,8,… use the same shift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letters in positions 3,6,9,… use the same shift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Each group can be attacked separately.</a:t>
            </a:r>
          </a:p>
        </p:txBody>
      </p:sp>
    </p:spTree>
    <p:extLst>
      <p:ext uri="{BB962C8B-B14F-4D97-AF65-F5344CB8AC3E}">
        <p14:creationId xmlns:p14="http://schemas.microsoft.com/office/powerpoint/2010/main" val="1738183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D5B37-D9B5-19F2-70D1-272DAA11C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Kasiski</a:t>
            </a:r>
            <a:r>
              <a:rPr lang="en-US" dirty="0"/>
              <a:t> Examination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E7F7D-EFAF-70A8-742C-269CD774B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Goal: Determine the length of the Vigenère key</a:t>
            </a:r>
          </a:p>
          <a:p>
            <a:r>
              <a:rPr lang="en-US" dirty="0"/>
              <a:t>Key Observation</a:t>
            </a:r>
          </a:p>
          <a:p>
            <a:pPr lvl="1"/>
            <a:r>
              <a:rPr lang="en-US" dirty="0"/>
              <a:t>Repeated plaintext patterns</a:t>
            </a:r>
          </a:p>
          <a:p>
            <a:pPr lvl="1"/>
            <a:r>
              <a:rPr lang="en-US" dirty="0"/>
              <a:t>→ repeated ciphertext patterns</a:t>
            </a:r>
          </a:p>
          <a:p>
            <a:pPr lvl="1"/>
            <a:r>
              <a:rPr lang="en-US" dirty="0"/>
              <a:t>→ spaced at multiples of the key length</a:t>
            </a:r>
          </a:p>
          <a:p>
            <a:r>
              <a:rPr lang="en-US" dirty="0"/>
              <a:t>Method:</a:t>
            </a:r>
          </a:p>
          <a:p>
            <a:pPr lvl="1"/>
            <a:r>
              <a:rPr lang="en-US" dirty="0"/>
              <a:t>Identify repeated substrings in the ciphertext</a:t>
            </a:r>
          </a:p>
          <a:p>
            <a:pPr lvl="1"/>
            <a:r>
              <a:rPr lang="en-US" dirty="0"/>
              <a:t>Measure the distances between repetitions</a:t>
            </a:r>
          </a:p>
          <a:p>
            <a:pPr lvl="1"/>
            <a:r>
              <a:rPr lang="en-US" dirty="0"/>
              <a:t>Compute common factors of these distances</a:t>
            </a:r>
          </a:p>
          <a:p>
            <a:pPr lvl="1"/>
            <a:r>
              <a:rPr lang="en-US" dirty="0"/>
              <a:t>Likely factors correspond to key length</a:t>
            </a:r>
          </a:p>
        </p:txBody>
      </p:sp>
    </p:spTree>
    <p:extLst>
      <p:ext uri="{BB962C8B-B14F-4D97-AF65-F5344CB8AC3E}">
        <p14:creationId xmlns:p14="http://schemas.microsoft.com/office/powerpoint/2010/main" val="2142081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C884C-0F2B-B26E-44D6-D4B9284E4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Block-Based Thinking – Playfair Cipher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5C148-6309-2F18-0329-73EE8934E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Encrypts pairs of letters (digraphs)</a:t>
            </a:r>
          </a:p>
          <a:p>
            <a:r>
              <a:rPr lang="en-US" dirty="0"/>
              <a:t>Reduces single-letter frequency leakage</a:t>
            </a:r>
          </a:p>
          <a:p>
            <a:r>
              <a:rPr lang="en-US" dirty="0"/>
              <a:t>Introduces block-based encryption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6"/>
                </a:solidFill>
              </a:rPr>
              <a:t>First step toward modern block ciphers</a:t>
            </a:r>
          </a:p>
          <a:p>
            <a:endParaRPr lang="en-US" b="1" dirty="0">
              <a:solidFill>
                <a:schemeClr val="accent6"/>
              </a:solidFill>
            </a:endParaRPr>
          </a:p>
          <a:p>
            <a:r>
              <a:rPr lang="en-US" dirty="0"/>
              <a:t>Used by British military in WWI</a:t>
            </a:r>
          </a:p>
        </p:txBody>
      </p:sp>
    </p:spTree>
    <p:extLst>
      <p:ext uri="{BB962C8B-B14F-4D97-AF65-F5344CB8AC3E}">
        <p14:creationId xmlns:p14="http://schemas.microsoft.com/office/powerpoint/2010/main" val="514577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Playfair Key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B6C59-9178-F042-A839-5628BA1EC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5752" y="1825625"/>
            <a:ext cx="10515600" cy="4351338"/>
          </a:xfrm>
        </p:spPr>
        <p:txBody>
          <a:bodyPr/>
          <a:lstStyle/>
          <a:p>
            <a:r>
              <a:rPr lang="en-US" dirty="0"/>
              <a:t>Playfair example as “keyword”</a:t>
            </a:r>
          </a:p>
          <a:p>
            <a:endParaRPr lang="en-US" dirty="0"/>
          </a:p>
          <a:p>
            <a:r>
              <a:rPr lang="en-US" dirty="0"/>
              <a:t>The table: </a:t>
            </a:r>
          </a:p>
          <a:p>
            <a:pPr marL="342900" lvl="1" indent="0">
              <a:buNone/>
            </a:pPr>
            <a:r>
              <a:rPr lang="en-US" dirty="0"/>
              <a:t>     </a:t>
            </a:r>
            <a:r>
              <a:rPr lang="en-US" dirty="0" err="1"/>
              <a:t>i</a:t>
            </a:r>
            <a:r>
              <a:rPr lang="en-US" dirty="0"/>
              <a:t>/j interchangeable</a:t>
            </a:r>
          </a:p>
          <a:p>
            <a:pPr marL="342900" lvl="1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Plaintext: Hide the gold in the tree stump</a:t>
            </a:r>
          </a:p>
          <a:p>
            <a:r>
              <a:rPr lang="en-US" dirty="0"/>
              <a:t>HI DE TH EG OL DI NT HE TR E</a:t>
            </a:r>
            <a:r>
              <a:rPr lang="en-US" dirty="0">
                <a:solidFill>
                  <a:srgbClr val="FF0000"/>
                </a:solidFill>
              </a:rPr>
              <a:t>X</a:t>
            </a:r>
            <a:r>
              <a:rPr lang="en-US" dirty="0"/>
              <a:t> ES TU MP</a:t>
            </a:r>
          </a:p>
        </p:txBody>
      </p:sp>
      <p:pic>
        <p:nvPicPr>
          <p:cNvPr id="6" name="Picture 5" descr="Playfair key table">
            <a:extLst>
              <a:ext uri="{FF2B5EF4-FFF2-40B4-BE49-F238E27FC236}">
                <a16:creationId xmlns:a16="http://schemas.microsoft.com/office/drawing/2014/main" id="{FABF0300-1035-B74D-A649-8377EBFD1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856" y="2204864"/>
            <a:ext cx="2088264" cy="21810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0858"/>
    </mc:Choice>
    <mc:Fallback xmlns="">
      <p:transition spd="slow" advTm="290858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02A39-55E8-EC45-81D6-5543D779C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Playfair Key Matrix (cont.)</a:t>
            </a:r>
            <a:endParaRPr lang="en-US" dirty="0"/>
          </a:p>
        </p:txBody>
      </p:sp>
      <p:pic>
        <p:nvPicPr>
          <p:cNvPr id="7" name="Picture 6" descr="A word puzzle diagram shows letters arranged in columns with one column highlighted containing letters A, E, D, and O, with check marks next to E and D and a red circle around O. Instructions indicate a column shape and a rule to pick items below each letter, wrapping to the top if needed, with &quot;DE&quot; and &quot;OD&quot; highlighted in green and red respectively.">
            <a:extLst>
              <a:ext uri="{FF2B5EF4-FFF2-40B4-BE49-F238E27FC236}">
                <a16:creationId xmlns:a16="http://schemas.microsoft.com/office/drawing/2014/main" id="{2A8B7028-006C-FD40-B5FF-D503E7269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577" y="1911491"/>
            <a:ext cx="4946223" cy="2286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F17047-2283-234F-A032-92E1A2611A6F}"/>
              </a:ext>
            </a:extLst>
          </p:cNvPr>
          <p:cNvSpPr txBox="1"/>
          <p:nvPr/>
        </p:nvSpPr>
        <p:spPr>
          <a:xfrm>
            <a:off x="434664" y="1506418"/>
            <a:ext cx="4699428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HI DE TH EG OL DI NT HE TR E</a:t>
            </a:r>
            <a:r>
              <a:rPr lang="en-US" sz="2000" dirty="0">
                <a:solidFill>
                  <a:srgbClr val="FF0000"/>
                </a:solidFill>
              </a:rPr>
              <a:t>X</a:t>
            </a:r>
            <a:r>
              <a:rPr lang="en-US" sz="2000" dirty="0"/>
              <a:t> ES TU MP</a:t>
            </a:r>
          </a:p>
          <a:p>
            <a:endParaRPr lang="en-US" dirty="0"/>
          </a:p>
        </p:txBody>
      </p:sp>
      <p:pic>
        <p:nvPicPr>
          <p:cNvPr id="15" name="Picture 14" descr="Diagram illustrating a word puzzle with a 5x5 letter grid and instructions for a rectangle-based rule to pick same rows and opposite corners. Key elements include highlighted letters in green and red, arrows indicating selection direction, and a rule description specifying shape and selection criteria.">
            <a:extLst>
              <a:ext uri="{FF2B5EF4-FFF2-40B4-BE49-F238E27FC236}">
                <a16:creationId xmlns:a16="http://schemas.microsoft.com/office/drawing/2014/main" id="{A36170AA-2F92-1748-BACA-07D27BF77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4804" y="1911491"/>
            <a:ext cx="4893971" cy="2286000"/>
          </a:xfrm>
          <a:prstGeom prst="rect">
            <a:avLst/>
          </a:prstGeom>
        </p:spPr>
      </p:pic>
      <p:pic>
        <p:nvPicPr>
          <p:cNvPr id="12" name="Picture 11" descr="A diagram illustrating a letter selection rule on a grid of letters arranged in rows and columns. It highlights the example &quot;EX&quot; in green and &quot;XM&quot; in red, showing how to pick items to the right of each letter and wrap to the left if needed.">
            <a:extLst>
              <a:ext uri="{FF2B5EF4-FFF2-40B4-BE49-F238E27FC236}">
                <a16:creationId xmlns:a16="http://schemas.microsoft.com/office/drawing/2014/main" id="{6B41FF1F-FAB2-D74E-9CA9-12E27C483C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4212" y="4418294"/>
            <a:ext cx="4943576" cy="2286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42699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8645"/>
    </mc:Choice>
    <mc:Fallback xmlns="">
      <p:transition spd="slow" advTm="2186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8A900-B4C7-637D-4C29-5AA2B7A78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Playfair Is Still Insecure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53EA8-8021-682D-0C51-7D1F06D80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Deterministic encryption</a:t>
            </a:r>
          </a:p>
          <a:p>
            <a:endParaRPr lang="en-US" dirty="0"/>
          </a:p>
          <a:p>
            <a:r>
              <a:rPr lang="en-US" dirty="0"/>
              <a:t>Language structure still visible</a:t>
            </a:r>
          </a:p>
          <a:p>
            <a:endParaRPr lang="en-US" dirty="0"/>
          </a:p>
          <a:p>
            <a:r>
              <a:rPr lang="en-US" dirty="0"/>
              <a:t>Vulnerable to statistical attacks on digraphs</a:t>
            </a:r>
          </a:p>
          <a:p>
            <a:endParaRPr lang="en-US" dirty="0"/>
          </a:p>
          <a:p>
            <a:r>
              <a:rPr lang="en-US" dirty="0"/>
              <a:t>Bigger blocks help, but are not enough.</a:t>
            </a:r>
          </a:p>
        </p:txBody>
      </p:sp>
    </p:spTree>
    <p:extLst>
      <p:ext uri="{BB962C8B-B14F-4D97-AF65-F5344CB8AC3E}">
        <p14:creationId xmlns:p14="http://schemas.microsoft.com/office/powerpoint/2010/main" val="681531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51222-745E-DF6B-697F-5504C6AF9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Classical Ciphers Fail 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C325C45-1409-B4D4-05D2-DE1FFC9E698F}"/>
              </a:ext>
            </a:extLst>
          </p:cNvPr>
          <p:cNvSpPr/>
          <p:nvPr/>
        </p:nvSpPr>
        <p:spPr>
          <a:xfrm>
            <a:off x="293428" y="1690687"/>
            <a:ext cx="5704764" cy="442187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Common Failure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Deterministic encryption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Key reuse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Lack of randomness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Heavy reliance on language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Structure leaks information.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E91672F-5E2A-26AA-3E12-637567D419F2}"/>
              </a:ext>
            </a:extLst>
          </p:cNvPr>
          <p:cNvSpPr/>
          <p:nvPr/>
        </p:nvSpPr>
        <p:spPr>
          <a:xfrm>
            <a:off x="6193809" y="1690687"/>
            <a:ext cx="5704764" cy="442187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Lessons from Classical Cryptography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Security cannot rely on obscurity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Large key space alone is insufficient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Attackers exploit statistics, not just math</a:t>
            </a:r>
          </a:p>
        </p:txBody>
      </p:sp>
    </p:spTree>
    <p:extLst>
      <p:ext uri="{BB962C8B-B14F-4D97-AF65-F5344CB8AC3E}">
        <p14:creationId xmlns:p14="http://schemas.microsoft.com/office/powerpoint/2010/main" val="42091518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FAE40-0444-C786-4755-3CB63B4DE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1F61D-E04E-5B5E-8630-DF00749ED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Classical ciphers were designed for </a:t>
            </a:r>
            <a:r>
              <a:rPr lang="en-US" u="sng" dirty="0"/>
              <a:t>human use</a:t>
            </a:r>
            <a:r>
              <a:rPr lang="en-US" dirty="0"/>
              <a:t>, not machines</a:t>
            </a:r>
          </a:p>
          <a:p>
            <a:r>
              <a:rPr lang="en-US" dirty="0"/>
              <a:t>Encryption methods were </a:t>
            </a:r>
            <a:r>
              <a:rPr lang="en-US" b="1" i="1" dirty="0"/>
              <a:t>deterministic</a:t>
            </a:r>
            <a:r>
              <a:rPr lang="en-US" dirty="0"/>
              <a:t> and reused keys</a:t>
            </a:r>
          </a:p>
          <a:p>
            <a:r>
              <a:rPr lang="en-US" dirty="0"/>
              <a:t>Human language is </a:t>
            </a:r>
            <a:r>
              <a:rPr lang="en-US" b="1" dirty="0"/>
              <a:t>highly structured and redundant</a:t>
            </a:r>
          </a:p>
          <a:p>
            <a:r>
              <a:rPr lang="en-US" dirty="0">
                <a:solidFill>
                  <a:srgbClr val="FF0000"/>
                </a:solidFill>
              </a:rPr>
              <a:t>Statistical</a:t>
            </a:r>
            <a:r>
              <a:rPr lang="en-US" dirty="0"/>
              <a:t> patterns survive encryption</a:t>
            </a:r>
          </a:p>
          <a:p>
            <a:r>
              <a:rPr lang="en-US" dirty="0"/>
              <a:t>Attackers exploit </a:t>
            </a:r>
            <a:r>
              <a:rPr lang="en-US" i="1" dirty="0"/>
              <a:t>structure</a:t>
            </a:r>
            <a:r>
              <a:rPr lang="en-US" dirty="0"/>
              <a:t>, not secret algorithms</a:t>
            </a:r>
          </a:p>
          <a:p>
            <a:r>
              <a:rPr lang="en-US" dirty="0"/>
              <a:t>Strong cryptography requires </a:t>
            </a:r>
            <a:r>
              <a:rPr lang="en-US" b="1" dirty="0">
                <a:solidFill>
                  <a:schemeClr val="accent6"/>
                </a:solidFill>
              </a:rPr>
              <a:t>randomness and unpredictability</a:t>
            </a:r>
          </a:p>
        </p:txBody>
      </p:sp>
    </p:spTree>
    <p:extLst>
      <p:ext uri="{BB962C8B-B14F-4D97-AF65-F5344CB8AC3E}">
        <p14:creationId xmlns:p14="http://schemas.microsoft.com/office/powerpoint/2010/main" val="12239995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8|54.2|38.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E92AD8E-DE0E-4490-99CB-14BC04EAA418}">
  <we:reference id="WA200009978" version="1.0.0.1" store="Omex" storeType="OMEX"/>
  <we:alternateReferences>
    <we:reference id="WA200009978" version="1.0.0.1" store="WA200009978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1177</TotalTime>
  <Words>878</Words>
  <Application>Microsoft Office PowerPoint</Application>
  <PresentationFormat>Widescreen</PresentationFormat>
  <Paragraphs>184</Paragraphs>
  <Slides>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Office Theme</vt:lpstr>
      <vt:lpstr>Classical Ciphers</vt:lpstr>
      <vt:lpstr>Outline</vt:lpstr>
      <vt:lpstr>What Is Historical Cryptography?</vt:lpstr>
      <vt:lpstr>Cryptography vs Cryptanalysis</vt:lpstr>
      <vt:lpstr>Substitution Ciphers: Caesar Cipher</vt:lpstr>
      <vt:lpstr>Why Caesar Cipher Fails</vt:lpstr>
      <vt:lpstr>Monoalphabetic Substitution Cipher</vt:lpstr>
      <vt:lpstr>Monoalphabetic Substitution Cipher (cont.)</vt:lpstr>
      <vt:lpstr>Why Monoalphabetic Ciphers Fail</vt:lpstr>
      <vt:lpstr>Polyalphabetic Ciphers</vt:lpstr>
      <vt:lpstr>Vigenère Cipher</vt:lpstr>
      <vt:lpstr>Vigenère Cipher (cont.)</vt:lpstr>
      <vt:lpstr>Why Vigenère Cipher Is Still Broken</vt:lpstr>
      <vt:lpstr>Kasiski Examination</vt:lpstr>
      <vt:lpstr>Block-Based Thinking – Playfair Cipher</vt:lpstr>
      <vt:lpstr>Playfair Key Matrix</vt:lpstr>
      <vt:lpstr>Playfair Key Matrix (cont.)</vt:lpstr>
      <vt:lpstr>Why Playfair Is Still Insecure</vt:lpstr>
      <vt:lpstr>Why Classical Ciphers Fail 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Xinyue Zhang</dc:creator>
  <cp:lastModifiedBy>Xinyue Zhang</cp:lastModifiedBy>
  <cp:revision>15</cp:revision>
  <dcterms:created xsi:type="dcterms:W3CDTF">2026-01-26T21:00:59Z</dcterms:created>
  <dcterms:modified xsi:type="dcterms:W3CDTF">2026-04-20T16:09:50Z</dcterms:modified>
</cp:coreProperties>
</file>