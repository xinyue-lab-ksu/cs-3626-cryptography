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67" r:id="rId4"/>
    <p:sldId id="368" r:id="rId5"/>
    <p:sldId id="369" r:id="rId6"/>
    <p:sldId id="370" r:id="rId7"/>
    <p:sldId id="317" r:id="rId8"/>
    <p:sldId id="364" r:id="rId9"/>
    <p:sldId id="366" r:id="rId10"/>
    <p:sldId id="320" r:id="rId11"/>
    <p:sldId id="339" r:id="rId12"/>
    <p:sldId id="3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9" autoAdjust="0"/>
    <p:restoredTop sz="74939" autoAdjust="0"/>
  </p:normalViewPr>
  <p:slideViewPr>
    <p:cSldViewPr snapToGrid="0">
      <p:cViewPr varScale="1">
        <p:scale>
          <a:sx n="83" d="100"/>
          <a:sy n="83" d="100"/>
        </p:scale>
        <p:origin x="186" y="78"/>
      </p:cViewPr>
      <p:guideLst/>
    </p:cSldViewPr>
  </p:slideViewPr>
  <p:outlineViewPr>
    <p:cViewPr>
      <p:scale>
        <a:sx n="33" d="100"/>
        <a:sy n="33" d="100"/>
      </p:scale>
      <p:origin x="0" y="-114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BDF8A-9A3A-C846-93E3-E30B41B461CA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55B1F-C43D-7445-A4EC-5A9C5E2AD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5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55B1F-C43D-7445-A4EC-5A9C5E2AD3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21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55B1F-C43D-7445-A4EC-5A9C5E2AD3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21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55B1F-C43D-7445-A4EC-5A9C5E2AD3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96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55B1F-C43D-7445-A4EC-5A9C5E2AD3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9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55B1F-C43D-7445-A4EC-5A9C5E2AD3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09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9A2CE6-D78D-C04F-9E2F-E1C2CC77EAD3}" type="slidenum">
              <a:rPr lang="en-AU">
                <a:latin typeface="Arial" pitchFamily="-84" charset="0"/>
              </a:rPr>
              <a:pPr/>
              <a:t>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b="0" i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9A2CE6-D78D-C04F-9E2F-E1C2CC77EAD3}" type="slidenum">
              <a:rPr lang="en-AU">
                <a:latin typeface="Arial" pitchFamily="-84" charset="0"/>
              </a:rPr>
              <a:pPr/>
              <a:t>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b="0" i="0" dirty="0"/>
          </a:p>
        </p:txBody>
      </p:sp>
    </p:spTree>
    <p:extLst>
      <p:ext uri="{BB962C8B-B14F-4D97-AF65-F5344CB8AC3E}">
        <p14:creationId xmlns:p14="http://schemas.microsoft.com/office/powerpoint/2010/main" val="1723002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9A2CE6-D78D-C04F-9E2F-E1C2CC77EAD3}" type="slidenum">
              <a:rPr lang="en-AU">
                <a:latin typeface="Arial" pitchFamily="-84" charset="0"/>
              </a:rPr>
              <a:pPr/>
              <a:t>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b="0" i="0" dirty="0"/>
          </a:p>
        </p:txBody>
      </p:sp>
    </p:spTree>
    <p:extLst>
      <p:ext uri="{BB962C8B-B14F-4D97-AF65-F5344CB8AC3E}">
        <p14:creationId xmlns:p14="http://schemas.microsoft.com/office/powerpoint/2010/main" val="54605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662A90-914D-4946-A5B0-E5682A4AA02E}" type="slidenum">
              <a:rPr lang="en-AU">
                <a:latin typeface="Arial" pitchFamily="-84" charset="0"/>
              </a:rPr>
              <a:pPr/>
              <a:t>10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AEB00-F05A-2099-8537-E14FC537C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BC997-1103-AD8D-0DC7-AE1C17ABD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E513F-96C4-B5E1-363C-6D4B53FE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7B872-D378-DEBF-9A57-E8ECFD56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3A461-44E8-0F54-7939-A6ABD7AB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0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9EDB-E584-7BD2-E70B-E1BACE43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6889D-DD77-F9D4-F4B0-7E634474B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907C8-18E5-A9EE-01C6-2128A587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CFDFE-4468-8C92-9012-AFE3CE9A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C0DF4-3F0D-AC40-81F0-8C6301CA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6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A0E-EBA6-2521-F678-7BDA90BF3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BB0E0-5342-4841-04EF-8EDAB4D5E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D5A49-300B-E2D5-34B1-6D2FDB52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9CB34-768D-549A-4629-36B4A15E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BB3B1-8EBA-4FAD-213C-CBA8F4C3C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96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6000-5517-76A9-E351-9274B493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1824-18D3-1167-641B-2D9164E42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87C4A-5E6D-EB30-1756-87F5E730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E748A-8894-206D-21A7-7F46A497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93CB8-616A-05D5-B301-F0FEB8A7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3D508-B0D7-4440-CEA8-02758ECD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5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3A3A0-3A14-74EA-057D-515D7BC4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82900-75FF-1739-25B5-CECF8F1DD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2D1FD-CF7B-AD6F-C425-1F27B4CA7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CBFC9-45F7-707A-9442-6F9714DDC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0B4357-DBD8-8662-E89A-8C9D927B4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0D8D6-3725-8530-60FF-F9F0FBE8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02336A-C096-BBF0-606E-6115DE51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DE267-AA31-5DF9-602C-EB7BEB6BD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4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ABC1-D203-DDA4-0DFF-91063C04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D3E11-2FCB-1B61-D1F4-30DABE2F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EF5DF-7737-8E30-6D4E-83E9C359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6B179-1E00-BC59-B64E-BCC8DEDF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4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DFCA8-0094-F0DD-891E-5B193F7B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92095C-7B4E-2C46-B46F-D1EBDF66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38D79-0345-CD78-3E51-DE60089E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2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72D2-9B66-CEF9-3C71-AF3CE4C1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59BD-D8F9-3869-C6D5-4C198453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D9DCB-5D6A-1752-1B5C-7EFB6AD2F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69987-F200-71FB-198E-5D9BA313A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C4BF8-C75D-D56D-607E-1158C14F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B7881-DE82-1412-C3AF-92109358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6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34E3-B36B-010C-BD09-07AEE7E5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98645-7A11-74DD-8041-C621A2284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C8143-84E4-9DAD-D64A-154E16A09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D23D2-4460-E0D2-1943-60840D6D6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0E4B1-0B71-B897-68CB-451AA0CCE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6C042-6CC1-2FBD-F55A-3CB2B772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5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935E-2EF6-BD76-A114-3BAC77DE5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FF1F5-266F-513B-EB42-3ABC5E1DD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2956C-768D-C53E-F758-579E1508D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92F1D-CA8F-40EE-BAF1-EBA87AD0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805E2-5403-526A-EF1C-E8132974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07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91D45-7B7F-26D1-329A-550EEF488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BC8DC-D252-7F64-49D4-1821BD829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968A7-5CE7-7753-D624-A9E82E5C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6E551-6587-B878-7965-BB3A48E0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B058-A2D5-61DA-1334-A4A1D072D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2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0B73BE-17F6-6860-BD5C-5675F3D0B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5AAC7-4D00-3054-046F-BD66B516E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9E4B-BA0E-268C-6E46-891C1D473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2097F-6009-1841-AE92-C31CD7F205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50947-625D-B30C-D42C-74740800D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FBC8D-BD27-63D8-DB8B-C8E75142D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81A78-2F6A-EF43-888A-A797DC89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4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F241-3F02-C288-0CE7-4CBF6C08E3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11111"/>
                </a:solidFill>
              </a:rPr>
              <a:t>Random Bit Generation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9980D-4FF7-2633-8A18-6E381DDAB6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</p:spTree>
    <p:extLst>
      <p:ext uri="{BB962C8B-B14F-4D97-AF65-F5344CB8AC3E}">
        <p14:creationId xmlns:p14="http://schemas.microsoft.com/office/powerpoint/2010/main" val="31261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0356-3E14-17B6-0E54-18F673E6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0F2AB-DD0E-CD59-8F57-DE3AADF9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1. how cryptography turns a small amount of randomness into useful secret material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2. how a keystream generator turns that material into fast bit-by-bit encryption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3F572822-FC39-320B-FD79-A4F7A8AEB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8620" y="4632697"/>
            <a:ext cx="868680" cy="36484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8446FD2-4223-F85B-02F3-3DE2AED20D08}"/>
              </a:ext>
            </a:extLst>
          </p:cNvPr>
          <p:cNvSpPr/>
          <p:nvPr/>
        </p:nvSpPr>
        <p:spPr>
          <a:xfrm>
            <a:off x="3696908" y="4650985"/>
            <a:ext cx="832104" cy="328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1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seed s</a:t>
            </a:r>
            <a:endParaRPr lang="en-US" sz="171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98DBFBBD-1880-9369-7812-965809B96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7300" y="4815120"/>
            <a:ext cx="390906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F974AB73-9830-47E4-0A71-E0832774E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8206" y="4441587"/>
            <a:ext cx="955548" cy="764438"/>
          </a:xfrm>
          <a:prstGeom prst="rect">
            <a:avLst/>
          </a:prstGeom>
          <a:solidFill>
            <a:srgbClr val="F7F7F7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318EB99-8C9E-ED2D-A1E0-1D18AE4F5025}"/>
              </a:ext>
            </a:extLst>
          </p:cNvPr>
          <p:cNvSpPr/>
          <p:nvPr/>
        </p:nvSpPr>
        <p:spPr>
          <a:xfrm>
            <a:off x="4956494" y="4459875"/>
            <a:ext cx="918972" cy="7278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PRNG</a:t>
            </a:r>
            <a:endParaRPr lang="en-US" sz="19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558F85D9-B765-425E-4750-3CE7D64B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3754" y="4815120"/>
            <a:ext cx="43434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7AD601C5-4CCF-3AFD-B852-691468986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8094" y="4632697"/>
            <a:ext cx="451714" cy="36484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18E4F5BF-AEE4-A09D-B6D9-C97A2624F081}"/>
              </a:ext>
            </a:extLst>
          </p:cNvPr>
          <p:cNvSpPr/>
          <p:nvPr/>
        </p:nvSpPr>
        <p:spPr>
          <a:xfrm>
            <a:off x="6346382" y="4650985"/>
            <a:ext cx="415138" cy="328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t₁</a:t>
            </a:r>
            <a:endParaRPr lang="en-US" sz="152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A99D0D57-2D82-E91D-7CA1-7B4109AC1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6676" y="4632697"/>
            <a:ext cx="451714" cy="36484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04EE5346-2DEB-2164-CFA4-9A7D3BD3ADC4}"/>
              </a:ext>
            </a:extLst>
          </p:cNvPr>
          <p:cNvSpPr/>
          <p:nvPr/>
        </p:nvSpPr>
        <p:spPr>
          <a:xfrm>
            <a:off x="6884964" y="4650985"/>
            <a:ext cx="415138" cy="328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t₂</a:t>
            </a:r>
            <a:endParaRPr lang="en-US" sz="152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487023E8-EAD2-125A-A22F-5303194F2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5257" y="4632697"/>
            <a:ext cx="451714" cy="36484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1F63D8F4-4B8D-026D-4D78-0844C7B846E7}"/>
              </a:ext>
            </a:extLst>
          </p:cNvPr>
          <p:cNvSpPr/>
          <p:nvPr/>
        </p:nvSpPr>
        <p:spPr>
          <a:xfrm>
            <a:off x="7423545" y="4650985"/>
            <a:ext cx="415138" cy="328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t₃</a:t>
            </a:r>
            <a:endParaRPr lang="en-US" sz="152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4F8AA681-6D4A-3A16-DA16-804109793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3839" y="4632697"/>
            <a:ext cx="451714" cy="36484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89184044-F22D-F038-01A8-FC07D0810421}"/>
              </a:ext>
            </a:extLst>
          </p:cNvPr>
          <p:cNvSpPr/>
          <p:nvPr/>
        </p:nvSpPr>
        <p:spPr>
          <a:xfrm>
            <a:off x="7962127" y="4650985"/>
            <a:ext cx="415138" cy="3282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2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…</a:t>
            </a:r>
            <a:endParaRPr lang="en-US" sz="1520" dirty="0"/>
          </a:p>
        </p:txBody>
      </p:sp>
    </p:spTree>
    <p:extLst>
      <p:ext uri="{BB962C8B-B14F-4D97-AF65-F5344CB8AC3E}">
        <p14:creationId xmlns:p14="http://schemas.microsoft.com/office/powerpoint/2010/main" val="3160448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48DB26-AA0A-ADB8-EC3A-69FF1BA6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EEE898-341A-7ABD-D2C6-A37B53058B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Where random-looking bits appear</a:t>
            </a:r>
            <a:endParaRPr lang="en-US" dirty="0"/>
          </a:p>
          <a:p>
            <a:pPr lvl="1"/>
            <a:r>
              <a:rPr lang="en-US" dirty="0"/>
              <a:t>session keys and long-term keys must come from high-entropy sources</a:t>
            </a:r>
          </a:p>
          <a:p>
            <a:pPr lvl="1"/>
            <a:r>
              <a:rPr lang="en-US" dirty="0"/>
              <a:t>nonces and IVs prevent repeated encryptions from lining up in dangerous ways</a:t>
            </a:r>
          </a:p>
          <a:p>
            <a:pPr lvl="1"/>
            <a:r>
              <a:rPr lang="en-US" dirty="0"/>
              <a:t>stream ciphers need a long keystream even when the shared secret is short</a:t>
            </a:r>
          </a:p>
          <a:p>
            <a:pPr lvl="1"/>
            <a:r>
              <a:rPr lang="en-US" dirty="0"/>
              <a:t>many later protocols depend on pseudorandom expansion rather than “perfect” randomness everywhere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B78DC70-5B73-AFCD-6C2A-2B6A5C2D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1832" y="3495215"/>
            <a:ext cx="1051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547A99D-F7F7-2FC6-4DD6-9AEB6AF3336B}"/>
              </a:ext>
            </a:extLst>
          </p:cNvPr>
          <p:cNvSpPr/>
          <p:nvPr/>
        </p:nvSpPr>
        <p:spPr>
          <a:xfrm>
            <a:off x="5740120" y="3513503"/>
            <a:ext cx="10149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entropy</a:t>
            </a:r>
            <a:endParaRPr lang="en-US" sz="18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40A552E-83F7-E879-8E20-FC3DD09F7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73392" y="3732959"/>
            <a:ext cx="59436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4578FBA-0756-FDA2-88F6-27FE8E7AC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7752" y="3284903"/>
            <a:ext cx="11430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E98DD326-CA50-70F1-6003-02678D8FA003}"/>
              </a:ext>
            </a:extLst>
          </p:cNvPr>
          <p:cNvSpPr/>
          <p:nvPr/>
        </p:nvSpPr>
        <p:spPr>
          <a:xfrm>
            <a:off x="7386040" y="3303191"/>
            <a:ext cx="110642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seeding</a:t>
            </a:r>
            <a:endParaRPr lang="en-US" sz="18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2024C87-61F1-1C4C-1547-2E8E862FC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10752" y="3732959"/>
            <a:ext cx="59436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024C081-0595-B789-0077-21EB0C1D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5112" y="3284903"/>
            <a:ext cx="1005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8FA2C941-E23C-6331-27FA-412F8D5E8A93}"/>
              </a:ext>
            </a:extLst>
          </p:cNvPr>
          <p:cNvSpPr/>
          <p:nvPr/>
        </p:nvSpPr>
        <p:spPr>
          <a:xfrm>
            <a:off x="9123400" y="3303191"/>
            <a:ext cx="96926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PRG</a:t>
            </a:r>
            <a:endParaRPr lang="en-US" sz="22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692A852-C241-E547-6941-F168122E1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9240" y="3732960"/>
            <a:ext cx="675395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AFC71188-40D4-B364-4FE1-0AEDBA0CD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04635" y="3175210"/>
            <a:ext cx="1197571" cy="1080068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4482558A-F606-B32F-8BCA-A16F68FDACD3}"/>
              </a:ext>
            </a:extLst>
          </p:cNvPr>
          <p:cNvSpPr/>
          <p:nvPr/>
        </p:nvSpPr>
        <p:spPr>
          <a:xfrm>
            <a:off x="10822923" y="3228927"/>
            <a:ext cx="1170958" cy="10080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keystream / keys / masks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1856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DF137-11D0-1734-90AB-5F12988F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11111"/>
                </a:solidFill>
              </a:rPr>
              <a:t>Randomness is a property of the process, not of one string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8729F-2015-4312-364D-FA0F4052E1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It does not really make sense to say that one particular bit string “is random.”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</a:rPr>
              <a:t>What matters is </a:t>
            </a:r>
            <a:r>
              <a:rPr lang="en-US" b="1" u="sng" dirty="0">
                <a:solidFill>
                  <a:srgbClr val="000000"/>
                </a:solidFill>
              </a:rPr>
              <a:t>how the string was generated</a:t>
            </a:r>
            <a:r>
              <a:rPr lang="en-US" dirty="0">
                <a:solidFill>
                  <a:srgbClr val="000000"/>
                </a:solidFill>
              </a:rPr>
              <a:t>, what patterns the generating process leaves behind, and whether an efficient algorithm can tell the output apart from a uniform sample.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13FEF-70D9-F55C-012B-DEE49D9DE8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Even if both outputs “look busy,” the second process leaks structure that a distinguisher can exploit.</a:t>
            </a:r>
            <a:endParaRPr lang="en-US" dirty="0"/>
          </a:p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1375F3A-D0F6-AEFC-BEB0-8C9F45F46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2729" y="235000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CE56E89-88F5-BF3B-5A25-25485AE22501}"/>
              </a:ext>
            </a:extLst>
          </p:cNvPr>
          <p:cNvSpPr/>
          <p:nvPr/>
        </p:nvSpPr>
        <p:spPr>
          <a:xfrm>
            <a:off x="6881017" y="2368296"/>
            <a:ext cx="1883664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uniform process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011001101001…</a:t>
            </a:r>
            <a:endParaRPr lang="en-US" sz="19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95C9FDD9-D7E9-C158-607D-968C3A28E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0169" y="235000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244BC8F5-8CE7-25CB-6E6E-28315D750E8F}"/>
              </a:ext>
            </a:extLst>
          </p:cNvPr>
          <p:cNvSpPr/>
          <p:nvPr/>
        </p:nvSpPr>
        <p:spPr>
          <a:xfrm>
            <a:off x="9258457" y="2368296"/>
            <a:ext cx="1883664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patterned process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01100101 01100101…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4028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145C-1E71-A5B8-7D82-4720C98C5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11111"/>
                </a:solidFill>
              </a:rPr>
              <a:t>RNG versus PRG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0E3F-D95B-125C-641B-B0D6FEC042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RNG: refine noisy physical inputs into a high-entropy seed.</a:t>
            </a:r>
            <a:endParaRPr lang="en-US" dirty="0"/>
          </a:p>
          <a:p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311EA3-B515-5038-758B-326A47E37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420" y="3713830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04BC30-E8FC-EFBF-359B-208F968DF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4140" y="3988150"/>
            <a:ext cx="685800" cy="54864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1C80FE1-3A0F-10BC-513F-74A705F52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420" y="4399630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35B8CF-4383-F797-EC35-DCC3859964DB}"/>
              </a:ext>
            </a:extLst>
          </p:cNvPr>
          <p:cNvSpPr/>
          <p:nvPr/>
        </p:nvSpPr>
        <p:spPr>
          <a:xfrm>
            <a:off x="953708" y="4417918"/>
            <a:ext cx="11521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</a:t>
            </a:r>
            <a:endParaRPr lang="en-US" sz="1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58C8383-4635-1E75-CA2A-6712D2BD3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09940" y="4079590"/>
            <a:ext cx="1463040" cy="896112"/>
          </a:xfrm>
          <a:prstGeom prst="rect">
            <a:avLst/>
          </a:prstGeom>
          <a:solidFill>
            <a:srgbClr val="F7F7F7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DAE03A-311B-51AC-A149-D58F4B2BA371}"/>
              </a:ext>
            </a:extLst>
          </p:cNvPr>
          <p:cNvSpPr/>
          <p:nvPr/>
        </p:nvSpPr>
        <p:spPr>
          <a:xfrm>
            <a:off x="953708" y="3732118"/>
            <a:ext cx="11521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92C5910-5354-3B11-7EE0-D4F4E14EC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4140" y="4673950"/>
            <a:ext cx="6858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A7D41F-0454-F279-1604-ED5F0CBD6CB4}"/>
              </a:ext>
            </a:extLst>
          </p:cNvPr>
          <p:cNvSpPr/>
          <p:nvPr/>
        </p:nvSpPr>
        <p:spPr>
          <a:xfrm>
            <a:off x="2828228" y="4097878"/>
            <a:ext cx="142646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RNG /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seeding step</a:t>
            </a:r>
            <a:endParaRPr lang="en-US" sz="1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B5069E7-3B90-2EE7-2A91-36EB6C584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2980" y="4527646"/>
            <a:ext cx="73152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A67BC3C-965D-D3D7-E56D-7459CDBBB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04500" y="4280758"/>
            <a:ext cx="9601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46B2E9D-97F7-8CE6-EE10-F98F789DA1B9}"/>
              </a:ext>
            </a:extLst>
          </p:cNvPr>
          <p:cNvSpPr/>
          <p:nvPr/>
        </p:nvSpPr>
        <p:spPr>
          <a:xfrm>
            <a:off x="5022788" y="4299046"/>
            <a:ext cx="9235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seed s</a:t>
            </a:r>
            <a:endParaRPr lang="en-US" sz="1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6E287EB-1ECF-A4F9-8E7C-CA53BA25A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620" y="4527646"/>
            <a:ext cx="6858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A4766C9-E60F-7072-038A-C2A3F95D5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2124140" y="4811110"/>
            <a:ext cx="685800" cy="54864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4C51BC3-B274-4799-D902-F18C55390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420" y="5085430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E111F3C-FFC9-7285-88FA-6E719E2EE1B4}"/>
              </a:ext>
            </a:extLst>
          </p:cNvPr>
          <p:cNvSpPr/>
          <p:nvPr/>
        </p:nvSpPr>
        <p:spPr>
          <a:xfrm>
            <a:off x="953708" y="5103718"/>
            <a:ext cx="115214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C0186-4F03-EC92-35DD-333AE63D56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PRG: take that short seed and expand it deterministically into many pseudorandom bits.</a:t>
            </a:r>
            <a:endParaRPr lang="en-US" dirty="0"/>
          </a:p>
          <a:p>
            <a:endParaRPr lang="en-US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5E96F56-479A-1715-6270-F1C209C6B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50420" y="4015582"/>
            <a:ext cx="1097280" cy="1005840"/>
          </a:xfrm>
          <a:prstGeom prst="rect">
            <a:avLst/>
          </a:prstGeom>
          <a:solidFill>
            <a:srgbClr val="F7F7F7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4389A51-623D-076A-EA82-019975997E3C}"/>
              </a:ext>
            </a:extLst>
          </p:cNvPr>
          <p:cNvSpPr/>
          <p:nvPr/>
        </p:nvSpPr>
        <p:spPr>
          <a:xfrm>
            <a:off x="6668708" y="4033870"/>
            <a:ext cx="1060704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PRG</a:t>
            </a:r>
            <a:endParaRPr lang="en-US" sz="2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1B07465-7985-2460-2945-063775610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47700" y="4527646"/>
            <a:ext cx="6858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4C35D41-1BE5-3760-D890-EE717676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3500" y="4326478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A1F6B26-0A03-FBAC-37DB-0A1EC1E6FAA1}"/>
              </a:ext>
            </a:extLst>
          </p:cNvPr>
          <p:cNvSpPr/>
          <p:nvPr/>
        </p:nvSpPr>
        <p:spPr>
          <a:xfrm>
            <a:off x="8451788" y="4344766"/>
            <a:ext cx="4937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t₁</a:t>
            </a:r>
            <a:endParaRPr lang="en-US" sz="17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5928AEC-B68C-0F66-584E-C448CA001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3580" y="4326478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C614042-D70E-0D6E-179B-D8437D00AB81}"/>
              </a:ext>
            </a:extLst>
          </p:cNvPr>
          <p:cNvSpPr/>
          <p:nvPr/>
        </p:nvSpPr>
        <p:spPr>
          <a:xfrm>
            <a:off x="9091868" y="4344766"/>
            <a:ext cx="4937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t₂</a:t>
            </a:r>
            <a:endParaRPr lang="en-US" sz="17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069A96F-44AF-1978-3766-79D55A9AF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13660" y="4326478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D3CB8E7-F37F-7FA1-EE3D-D71B80EA95FB}"/>
              </a:ext>
            </a:extLst>
          </p:cNvPr>
          <p:cNvSpPr/>
          <p:nvPr/>
        </p:nvSpPr>
        <p:spPr>
          <a:xfrm>
            <a:off x="9731948" y="4344766"/>
            <a:ext cx="4937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t₃</a:t>
            </a:r>
            <a:endParaRPr lang="en-US" sz="17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4B72405-F779-6609-DA03-628AB20CB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53740" y="4326478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C059080-9303-0498-C8E1-967E5E372E2B}"/>
              </a:ext>
            </a:extLst>
          </p:cNvPr>
          <p:cNvSpPr/>
          <p:nvPr/>
        </p:nvSpPr>
        <p:spPr>
          <a:xfrm>
            <a:off x="10372028" y="4344766"/>
            <a:ext cx="4937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t₄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4520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9099-9155-B9F0-6ABE-99E47BC5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11111"/>
                </a:solidFill>
              </a:rPr>
              <a:t>What security means for a pseudorandom generator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49BDFA-61F8-1503-7B5C-F52B49AD0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800" indent="-177800">
              <a:buSzPct val="100000"/>
            </a:pPr>
            <a:r>
              <a:rPr lang="en-US" dirty="0">
                <a:solidFill>
                  <a:srgbClr val="111111"/>
                </a:solidFill>
              </a:rPr>
              <a:t>If the seed is secret and chosen well, the output should be computationally indistinguishable from a uniform string of the same length</a:t>
            </a:r>
            <a:endParaRPr lang="en-US" dirty="0"/>
          </a:p>
          <a:p>
            <a:pPr marL="177800" indent="-177800">
              <a:buSzPct val="100000"/>
            </a:pPr>
            <a:r>
              <a:rPr lang="en-US" dirty="0">
                <a:solidFill>
                  <a:srgbClr val="111111"/>
                </a:solidFill>
              </a:rPr>
              <a:t>A good PRG hides all easy-to-detect structure</a:t>
            </a:r>
            <a:endParaRPr lang="en-US" dirty="0"/>
          </a:p>
          <a:p>
            <a:pPr marL="177800" indent="-177800">
              <a:buSzPct val="100000"/>
            </a:pPr>
            <a:r>
              <a:rPr lang="en-US" dirty="0">
                <a:solidFill>
                  <a:srgbClr val="111111"/>
                </a:solidFill>
              </a:rPr>
              <a:t>The seed must be protected, because the algorithm is deterministic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</a:rPr>
              <a:t>If some efficient test can tell “PRG output” from “uniform output” with noticeable advantage, the generator is not secure.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8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1" y="39689"/>
            <a:ext cx="9143999" cy="1412875"/>
          </a:xfrm>
        </p:spPr>
        <p:txBody>
          <a:bodyPr/>
          <a:lstStyle/>
          <a:p>
            <a:r>
              <a:rPr lang="en-AU" dirty="0"/>
              <a:t>Linear Congruential Generator</a:t>
            </a:r>
          </a:p>
        </p:txBody>
      </p:sp>
      <p:sp>
        <p:nvSpPr>
          <p:cNvPr id="64515" name="Rectangle 1027"/>
          <p:cNvSpPr>
            <a:spLocks noGrp="1" noChangeArrowheads="1"/>
          </p:cNvSpPr>
          <p:nvPr>
            <p:ph idx="1"/>
          </p:nvPr>
        </p:nvSpPr>
        <p:spPr>
          <a:xfrm>
            <a:off x="2316164" y="1762126"/>
            <a:ext cx="7570787" cy="456247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An algorithm that is parameterized with four numbers:</a:t>
            </a:r>
          </a:p>
          <a:p>
            <a:pPr>
              <a:spcBef>
                <a:spcPts val="600"/>
              </a:spcBef>
              <a:buNone/>
            </a:pP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 m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	the modulus  			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&gt; 0</a:t>
            </a:r>
          </a:p>
          <a:p>
            <a:pPr>
              <a:spcBef>
                <a:spcPts val="600"/>
              </a:spcBef>
              <a:buNone/>
            </a:pP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	the multiplier 			0 &lt;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a&lt; m</a:t>
            </a:r>
          </a:p>
          <a:p>
            <a:pPr>
              <a:spcBef>
                <a:spcPts val="600"/>
              </a:spcBef>
              <a:buNone/>
            </a:pP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c 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the increment 			0≤ c &lt;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</a:p>
          <a:p>
            <a:pPr>
              <a:spcBef>
                <a:spcPts val="600"/>
              </a:spcBef>
              <a:buNone/>
            </a:pP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X</a:t>
            </a:r>
            <a:r>
              <a:rPr lang="en-US" baseline="-25000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0 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the starting value, or seed 	0 ≤ X</a:t>
            </a:r>
            <a:r>
              <a:rPr lang="en-US" baseline="-25000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0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&lt;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</a:p>
          <a:p>
            <a:pPr>
              <a:spcBef>
                <a:spcPts val="600"/>
              </a:spcBef>
              <a:buNone/>
            </a:pPr>
            <a:endParaRPr lang="en-US" i="1" dirty="0">
              <a:ea typeface="Arial" pitchFamily="-84" charset="0"/>
              <a:cs typeface="Arial" pitchFamily="-84" charset="0"/>
            </a:endParaRPr>
          </a:p>
          <a:p>
            <a:pPr>
              <a:spcBef>
                <a:spcPts val="600"/>
              </a:spcBef>
            </a:pPr>
            <a:r>
              <a:rPr lang="en-US" sz="2737" dirty="0">
                <a:ea typeface="ＭＳ Ｐゴシック" charset="-128"/>
                <a:cs typeface="ＭＳ Ｐゴシック" charset="-128"/>
              </a:rPr>
              <a:t>The sequence of random numbers {X</a:t>
            </a:r>
            <a:r>
              <a:rPr lang="en-US" sz="2737" baseline="-25000" dirty="0">
                <a:ea typeface="ＭＳ Ｐゴシック" charset="-128"/>
                <a:cs typeface="ＭＳ Ｐゴシック" charset="-128"/>
              </a:rPr>
              <a:t>n</a:t>
            </a:r>
            <a:r>
              <a:rPr lang="en-US" sz="2737" dirty="0">
                <a:ea typeface="ＭＳ Ｐゴシック" charset="-128"/>
                <a:cs typeface="ＭＳ Ｐゴシック" charset="-128"/>
              </a:rPr>
              <a:t>} is obtained via the following iterative equation:</a:t>
            </a:r>
          </a:p>
          <a:p>
            <a:pPr>
              <a:spcBef>
                <a:spcPts val="600"/>
              </a:spcBef>
              <a:buNone/>
            </a:pPr>
            <a:r>
              <a:rPr lang="en-AU" dirty="0"/>
              <a:t>			</a:t>
            </a:r>
            <a:r>
              <a:rPr lang="en-AU" sz="2750" dirty="0"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aseline="-25000" dirty="0">
                <a:ea typeface="ＭＳ Ｐゴシック" charset="-128"/>
                <a:cs typeface="ＭＳ Ｐゴシック" charset="-128"/>
              </a:rPr>
              <a:t>n+1 </a:t>
            </a:r>
            <a:r>
              <a:rPr lang="en-AU" dirty="0"/>
              <a:t>= (</a:t>
            </a:r>
            <a:r>
              <a:rPr lang="en-AU" i="1" dirty="0"/>
              <a:t>a</a:t>
            </a:r>
            <a:r>
              <a:rPr lang="en-AU" dirty="0"/>
              <a:t>X</a:t>
            </a:r>
            <a:r>
              <a:rPr lang="en-AU" sz="2750" baseline="-25000" dirty="0">
                <a:ea typeface="ＭＳ Ｐゴシック" charset="-128"/>
                <a:cs typeface="ＭＳ Ｐゴシック" charset="-128"/>
              </a:rPr>
              <a:t>n</a:t>
            </a:r>
            <a:r>
              <a:rPr lang="en-AU" dirty="0"/>
              <a:t> + c) mod </a:t>
            </a:r>
            <a:r>
              <a:rPr lang="en-AU" i="1" dirty="0"/>
              <a:t>m</a:t>
            </a:r>
            <a:endParaRPr lang="en-US" sz="1200" dirty="0"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If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 , a , c 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, and X</a:t>
            </a:r>
            <a:r>
              <a:rPr lang="en-US" sz="2880" baseline="-25000" dirty="0">
                <a:ea typeface="ＭＳ Ｐゴシック" charset="-128"/>
                <a:cs typeface="ＭＳ Ｐゴシック" charset="-128"/>
              </a:rPr>
              <a:t>0</a:t>
            </a:r>
            <a:r>
              <a:rPr lang="en-US" sz="1400" dirty="0">
                <a:ea typeface="ＭＳ Ｐゴシック" charset="-128"/>
                <a:cs typeface="ＭＳ Ｐゴシック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are integers, then this technique will produce a sequence of integers with each integer in the range 0 ≤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X</a:t>
            </a:r>
            <a:r>
              <a:rPr lang="en-US" sz="2880" i="1" baseline="-25000" dirty="0">
                <a:ea typeface="ＭＳ Ｐゴシック" charset="-128"/>
                <a:cs typeface="ＭＳ Ｐゴシック" charset="-128"/>
              </a:rPr>
              <a:t>n</a:t>
            </a:r>
            <a:r>
              <a:rPr lang="en-US" sz="1400" i="1" dirty="0">
                <a:ea typeface="ＭＳ Ｐゴシック" charset="-128"/>
                <a:cs typeface="ＭＳ Ｐゴシック" charset="-128"/>
              </a:rPr>
              <a:t>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&lt; m</a:t>
            </a:r>
          </a:p>
          <a:p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The selection of values for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 , c 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, and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 is </a:t>
            </a:r>
            <a:r>
              <a:rPr lang="en-US" b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critical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in developing a good random number generator</a:t>
            </a:r>
            <a:endParaRPr lang="en-AU" b="0" i="0" dirty="0"/>
          </a:p>
          <a:p>
            <a:pPr>
              <a:spcBef>
                <a:spcPts val="600"/>
              </a:spcBef>
            </a:pPr>
            <a:endParaRPr lang="en-AU" dirty="0"/>
          </a:p>
          <a:p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274"/>
    </mc:Choice>
    <mc:Fallback xmlns="">
      <p:transition spd="slow" advTm="17527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25611" y="39689"/>
            <a:ext cx="9984259" cy="1412875"/>
          </a:xfrm>
        </p:spPr>
        <p:txBody>
          <a:bodyPr/>
          <a:lstStyle/>
          <a:p>
            <a:r>
              <a:rPr lang="en-AU" dirty="0"/>
              <a:t>Linear Congruential Generator (cont. pg2)</a:t>
            </a:r>
          </a:p>
        </p:txBody>
      </p:sp>
      <p:sp>
        <p:nvSpPr>
          <p:cNvPr id="64515" name="Rectangle 1027"/>
          <p:cNvSpPr>
            <a:spLocks noGrp="1" noChangeArrowheads="1"/>
          </p:cNvSpPr>
          <p:nvPr>
            <p:ph idx="1"/>
          </p:nvPr>
        </p:nvSpPr>
        <p:spPr>
          <a:xfrm>
            <a:off x="2316164" y="1762126"/>
            <a:ext cx="7570787" cy="4562475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sz="2737" dirty="0">
                <a:ea typeface="ＭＳ Ｐゴシック" charset="-128"/>
                <a:cs typeface="ＭＳ Ｐゴシック" charset="-128"/>
              </a:rPr>
              <a:t>The sequence of random numbers {</a:t>
            </a:r>
            <a:r>
              <a:rPr lang="en-US" sz="2737" dirty="0" err="1">
                <a:ea typeface="ＭＳ Ｐゴシック" charset="-128"/>
                <a:cs typeface="ＭＳ Ｐゴシック" charset="-128"/>
              </a:rPr>
              <a:t>X</a:t>
            </a:r>
            <a:r>
              <a:rPr lang="en-US" sz="2737" baseline="-25000" dirty="0" err="1">
                <a:ea typeface="ＭＳ Ｐゴシック" charset="-128"/>
                <a:cs typeface="ＭＳ Ｐゴシック" charset="-128"/>
              </a:rPr>
              <a:t>n</a:t>
            </a:r>
            <a:r>
              <a:rPr lang="en-US" sz="2737" dirty="0">
                <a:ea typeface="ＭＳ Ｐゴシック" charset="-128"/>
                <a:cs typeface="ＭＳ Ｐゴシック" charset="-128"/>
              </a:rPr>
              <a:t>} is obtained via the following iterative equation:</a:t>
            </a:r>
          </a:p>
          <a:p>
            <a:pPr>
              <a:spcBef>
                <a:spcPts val="600"/>
              </a:spcBef>
              <a:buNone/>
            </a:pPr>
            <a:r>
              <a:rPr lang="en-AU" dirty="0"/>
              <a:t>			</a:t>
            </a:r>
            <a:r>
              <a:rPr lang="en-AU" sz="2750" dirty="0"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aseline="-25000" dirty="0">
                <a:ea typeface="ＭＳ Ｐゴシック" charset="-128"/>
                <a:cs typeface="ＭＳ Ｐゴシック" charset="-128"/>
              </a:rPr>
              <a:t>n+1 </a:t>
            </a:r>
            <a:r>
              <a:rPr lang="en-AU" dirty="0"/>
              <a:t>= (</a:t>
            </a:r>
            <a:r>
              <a:rPr lang="en-AU" i="1" dirty="0"/>
              <a:t>a</a:t>
            </a:r>
            <a:r>
              <a:rPr lang="en-AU" dirty="0"/>
              <a:t>X</a:t>
            </a:r>
            <a:r>
              <a:rPr lang="en-AU" sz="2750" baseline="-25000" dirty="0">
                <a:ea typeface="ＭＳ Ｐゴシック" charset="-128"/>
                <a:cs typeface="ＭＳ Ｐゴシック" charset="-128"/>
              </a:rPr>
              <a:t>n</a:t>
            </a:r>
            <a:r>
              <a:rPr lang="en-AU" dirty="0"/>
              <a:t> + c) mod </a:t>
            </a:r>
            <a:r>
              <a:rPr lang="en-AU" i="1" dirty="0"/>
              <a:t>m</a:t>
            </a:r>
            <a:endParaRPr lang="en-US" sz="1200" dirty="0">
              <a:latin typeface="Arial" charset="0"/>
              <a:ea typeface="ＭＳ Ｐゴシック" charset="-128"/>
              <a:cs typeface="ＭＳ Ｐゴシック" charset="-128"/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The selection of values for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 , c 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, and </a:t>
            </a:r>
            <a:r>
              <a:rPr lang="en-US" i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 is </a:t>
            </a:r>
            <a:r>
              <a:rPr lang="en-US" b="1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critical</a:t>
            </a:r>
            <a:r>
              <a:rPr lang="en-US" dirty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in developing a good random number generator</a:t>
            </a:r>
            <a:endParaRPr lang="en-AU" dirty="0"/>
          </a:p>
          <a:p>
            <a:pPr lvl="1"/>
            <a:r>
              <a:rPr lang="en-AU" dirty="0"/>
              <a:t>a=c=1 is not a good selection.</a:t>
            </a:r>
          </a:p>
          <a:p>
            <a:pPr lvl="1"/>
            <a:r>
              <a:rPr lang="en-AU" dirty="0"/>
              <a:t>a=7, c=0, m=32, X</a:t>
            </a:r>
            <a:r>
              <a:rPr lang="en-AU" baseline="-25000" dirty="0"/>
              <a:t>0</a:t>
            </a:r>
            <a:r>
              <a:rPr lang="en-AU" dirty="0"/>
              <a:t>=1?</a:t>
            </a:r>
          </a:p>
          <a:p>
            <a:pPr lvl="2"/>
            <a:r>
              <a:rPr lang="en-AU" dirty="0"/>
              <a:t>Sequence: {7, 17, 23, 1, 7, 17, 23, 1, 7, …}</a:t>
            </a:r>
          </a:p>
          <a:p>
            <a:pPr lvl="2"/>
            <a:r>
              <a:rPr lang="en-AU" dirty="0"/>
              <a:t>Not satisfactory</a:t>
            </a:r>
          </a:p>
          <a:p>
            <a:pPr lvl="1"/>
            <a:r>
              <a:rPr lang="en-AU" dirty="0"/>
              <a:t>m should be nearly equal to the maximum representable nonnegative integer, such as 2</a:t>
            </a:r>
            <a:r>
              <a:rPr lang="en-AU" baseline="30000" dirty="0"/>
              <a:t>31</a:t>
            </a:r>
            <a:r>
              <a:rPr lang="en-AU" dirty="0"/>
              <a:t>.</a:t>
            </a:r>
          </a:p>
          <a:p>
            <a:endParaRPr lang="en-A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296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456"/>
    </mc:Choice>
    <mc:Fallback xmlns="">
      <p:transition spd="slow" advTm="3754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uiExpand="1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1" y="39689"/>
            <a:ext cx="9143999" cy="1412875"/>
          </a:xfrm>
        </p:spPr>
        <p:txBody>
          <a:bodyPr/>
          <a:lstStyle/>
          <a:p>
            <a:r>
              <a:rPr lang="en-AU" dirty="0"/>
              <a:t>Linear Congruential Generator (cont. pg3)</a:t>
            </a:r>
          </a:p>
        </p:txBody>
      </p:sp>
      <p:sp>
        <p:nvSpPr>
          <p:cNvPr id="64515" name="Rectangle 1027"/>
          <p:cNvSpPr>
            <a:spLocks noGrp="1" noChangeArrowheads="1"/>
          </p:cNvSpPr>
          <p:nvPr>
            <p:ph idx="1"/>
          </p:nvPr>
        </p:nvSpPr>
        <p:spPr>
          <a:xfrm>
            <a:off x="2316164" y="1762126"/>
            <a:ext cx="7570787" cy="4562475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AU" dirty="0"/>
              <a:t>Vulnerable to attacks:</a:t>
            </a:r>
          </a:p>
          <a:p>
            <a:pPr lvl="1"/>
            <a:r>
              <a:rPr lang="en-AU" dirty="0"/>
              <a:t>The attacker has the knowledge of X</a:t>
            </a:r>
            <a:r>
              <a:rPr lang="en-AU" baseline="-25000" dirty="0"/>
              <a:t>1, </a:t>
            </a:r>
            <a:r>
              <a:rPr lang="en-AU" dirty="0"/>
              <a:t>X</a:t>
            </a:r>
            <a:r>
              <a:rPr lang="en-AU" baseline="-25000" dirty="0"/>
              <a:t>2,</a:t>
            </a:r>
            <a:r>
              <a:rPr lang="en-AU" dirty="0"/>
              <a:t> X</a:t>
            </a:r>
            <a:r>
              <a:rPr lang="en-AU" baseline="-25000" dirty="0"/>
              <a:t>3</a:t>
            </a:r>
            <a:endParaRPr lang="en-AU" dirty="0"/>
          </a:p>
          <a:p>
            <a:pPr algn="ctr">
              <a:spcBef>
                <a:spcPts val="600"/>
              </a:spcBef>
            </a:pPr>
            <a:r>
              <a:rPr lang="en-AU" sz="2750" dirty="0"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aseline="-25000" dirty="0">
                <a:ea typeface="ＭＳ Ｐゴシック" charset="-128"/>
                <a:cs typeface="ＭＳ Ｐゴシック" charset="-128"/>
              </a:rPr>
              <a:t>1 </a:t>
            </a:r>
            <a:r>
              <a:rPr lang="en-AU" dirty="0"/>
              <a:t>= (</a:t>
            </a:r>
            <a:r>
              <a:rPr lang="en-AU" i="1" dirty="0"/>
              <a:t>a</a:t>
            </a:r>
            <a:r>
              <a:rPr lang="en-AU" dirty="0"/>
              <a:t>X</a:t>
            </a:r>
            <a:r>
              <a:rPr lang="en-AU" sz="2750" baseline="-25000" dirty="0">
                <a:ea typeface="ＭＳ Ｐゴシック" charset="-128"/>
              </a:rPr>
              <a:t>0</a:t>
            </a:r>
            <a:r>
              <a:rPr lang="en-AU" dirty="0"/>
              <a:t> + c) mod </a:t>
            </a:r>
            <a:r>
              <a:rPr lang="en-AU" i="1" dirty="0"/>
              <a:t>m</a:t>
            </a:r>
          </a:p>
          <a:p>
            <a:pPr algn="ctr">
              <a:spcBef>
                <a:spcPts val="600"/>
              </a:spcBef>
            </a:pPr>
            <a:r>
              <a:rPr lang="en-AU" sz="2750" dirty="0"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aseline="-25000" dirty="0">
                <a:ea typeface="ＭＳ Ｐゴシック" charset="-128"/>
                <a:cs typeface="ＭＳ Ｐゴシック" charset="-128"/>
              </a:rPr>
              <a:t>2 </a:t>
            </a:r>
            <a:r>
              <a:rPr lang="en-AU" dirty="0"/>
              <a:t>= (</a:t>
            </a:r>
            <a:r>
              <a:rPr lang="en-AU" i="1" dirty="0"/>
              <a:t>a</a:t>
            </a:r>
            <a:r>
              <a:rPr lang="en-AU" dirty="0"/>
              <a:t>X</a:t>
            </a:r>
            <a:r>
              <a:rPr lang="en-AU" sz="2750" baseline="-25000" dirty="0">
                <a:ea typeface="ＭＳ Ｐゴシック" charset="-128"/>
              </a:rPr>
              <a:t>1</a:t>
            </a:r>
            <a:r>
              <a:rPr lang="en-AU" dirty="0"/>
              <a:t> + c) mod </a:t>
            </a:r>
            <a:r>
              <a:rPr lang="en-AU" i="1" dirty="0"/>
              <a:t>m</a:t>
            </a:r>
          </a:p>
          <a:p>
            <a:pPr algn="ctr">
              <a:spcBef>
                <a:spcPts val="600"/>
              </a:spcBef>
            </a:pPr>
            <a:r>
              <a:rPr lang="en-AU" sz="2750" dirty="0"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aseline="-25000" dirty="0">
                <a:ea typeface="ＭＳ Ｐゴシック" charset="-128"/>
                <a:cs typeface="ＭＳ Ｐゴシック" charset="-128"/>
              </a:rPr>
              <a:t>3 </a:t>
            </a:r>
            <a:r>
              <a:rPr lang="en-AU" dirty="0"/>
              <a:t>= (</a:t>
            </a:r>
            <a:r>
              <a:rPr lang="en-AU" i="1" dirty="0"/>
              <a:t>a</a:t>
            </a:r>
            <a:r>
              <a:rPr lang="en-AU" dirty="0"/>
              <a:t>X</a:t>
            </a:r>
            <a:r>
              <a:rPr lang="en-AU" sz="2750" baseline="-25000" dirty="0">
                <a:ea typeface="ＭＳ Ｐゴシック" charset="-128"/>
              </a:rPr>
              <a:t>2</a:t>
            </a:r>
            <a:r>
              <a:rPr lang="en-AU" dirty="0"/>
              <a:t> + c) mod </a:t>
            </a:r>
            <a:r>
              <a:rPr lang="en-AU" i="1" dirty="0"/>
              <a:t>m</a:t>
            </a:r>
          </a:p>
          <a:p>
            <a:pPr algn="ctr">
              <a:spcBef>
                <a:spcPts val="600"/>
              </a:spcBef>
            </a:pPr>
            <a:endParaRPr lang="en-US" sz="1200" dirty="0">
              <a:latin typeface="Arial" charset="0"/>
              <a:ea typeface="ＭＳ Ｐゴシック" charset="-128"/>
              <a:cs typeface="ＭＳ Ｐゴシック" charset="-128"/>
            </a:endParaRPr>
          </a:p>
          <a:p>
            <a:pPr lvl="1"/>
            <a:r>
              <a:rPr lang="en-AU" dirty="0"/>
              <a:t>It is easy to calculate a, and c.</a:t>
            </a:r>
          </a:p>
          <a:p>
            <a:r>
              <a:rPr lang="en-AU" dirty="0"/>
              <a:t>Improve:</a:t>
            </a:r>
          </a:p>
          <a:p>
            <a:pPr lvl="1"/>
            <a:r>
              <a:rPr lang="en-US" dirty="0"/>
              <a:t>Restart the sequence after every N numbers using the current clock value (mod m) as the new seed.</a:t>
            </a:r>
          </a:p>
          <a:p>
            <a:pPr lvl="1"/>
            <a:r>
              <a:rPr lang="en-US" dirty="0"/>
              <a:t>Another way would be simply to add the current clock value to each random number (mod m).</a:t>
            </a:r>
            <a:endParaRPr lang="en-AU" dirty="0"/>
          </a:p>
          <a:p>
            <a:endParaRPr lang="en-A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540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0437"/>
    </mc:Choice>
    <mc:Fallback xmlns="">
      <p:transition spd="slow" advTm="280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Blum Blum </a:t>
            </a:r>
            <a:r>
              <a:rPr lang="en-AU" dirty="0" err="1"/>
              <a:t>Shub</a:t>
            </a:r>
            <a:r>
              <a:rPr lang="en-AU" dirty="0"/>
              <a:t> (BBS) Generator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Has perhaps the strongest public proof of its cryptographic strength of any purpose-built algorithm</a:t>
            </a:r>
          </a:p>
          <a:p>
            <a:r>
              <a:rPr lang="en-AU" dirty="0"/>
              <a:t>Referred to as a </a:t>
            </a:r>
            <a:r>
              <a:rPr lang="en-AU" i="1" dirty="0"/>
              <a:t>cryptographically secure pseudorandom bit generator </a:t>
            </a:r>
            <a:r>
              <a:rPr lang="en-AU" dirty="0"/>
              <a:t>(CSPRBG)</a:t>
            </a:r>
          </a:p>
          <a:p>
            <a:r>
              <a:rPr lang="en-US" dirty="0"/>
              <a:t>The security of BBS is based on the difficulty of factoring </a:t>
            </a:r>
            <a:r>
              <a:rPr lang="en-US" i="1" dirty="0"/>
              <a:t>n</a:t>
            </a:r>
            <a:endParaRPr lang="en-AU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712"/>
    </mc:Choice>
    <mc:Fallback xmlns="">
      <p:transition spd="slow" advTm="1197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m blum shub algorithm to generate random bits.">
            <a:extLst>
              <a:ext uri="{FF2B5EF4-FFF2-40B4-BE49-F238E27FC236}">
                <a16:creationId xmlns:a16="http://schemas.microsoft.com/office/drawing/2014/main" id="{DFD0B7AD-0C80-E34E-8B98-88E813442B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350" b="27950"/>
          <a:stretch/>
        </p:blipFill>
        <p:spPr>
          <a:xfrm>
            <a:off x="1569521" y="107675"/>
            <a:ext cx="9052958" cy="66426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94C487-1634-F316-204C-C4E2ECA4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BBS Diagram</a:t>
            </a:r>
          </a:p>
        </p:txBody>
      </p:sp>
    </p:spTree>
  </p:cSld>
  <p:clrMapOvr>
    <a:masterClrMapping/>
  </p:clrMapOvr>
  <p:transition spd="med" advTm="221632">
    <p:pull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1502-A061-4DC7-F05D-9061C3505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11111"/>
                </a:solidFill>
              </a:rPr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173C2-9536-83DB-3F94-2BE370670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800" indent="-177800">
              <a:buSzPct val="100000"/>
            </a:pPr>
            <a:r>
              <a:rPr lang="en-US" dirty="0">
                <a:solidFill>
                  <a:srgbClr val="111111"/>
                </a:solidFill>
              </a:rPr>
              <a:t>Randomness and </a:t>
            </a:r>
            <a:r>
              <a:rPr lang="en-US" dirty="0" err="1">
                <a:solidFill>
                  <a:srgbClr val="111111"/>
                </a:solidFill>
              </a:rPr>
              <a:t>pseudorandomness</a:t>
            </a:r>
            <a:r>
              <a:rPr lang="en-US" dirty="0">
                <a:solidFill>
                  <a:srgbClr val="111111"/>
                </a:solidFill>
              </a:rPr>
              <a:t> are properties of the generating process</a:t>
            </a:r>
            <a:endParaRPr lang="en-US" dirty="0"/>
          </a:p>
          <a:p>
            <a:pPr marL="177800" indent="-177800">
              <a:buSzPct val="100000"/>
            </a:pPr>
            <a:r>
              <a:rPr lang="en-US" dirty="0">
                <a:solidFill>
                  <a:srgbClr val="111111"/>
                </a:solidFill>
              </a:rPr>
              <a:t>An RNG and a PRG solve different problems</a:t>
            </a:r>
          </a:p>
          <a:p>
            <a:pPr marL="177800" indent="-177800">
              <a:buSzPct val="100000"/>
            </a:pPr>
            <a:r>
              <a:rPr lang="en-US" b="1" dirty="0"/>
              <a:t>Keystream generation for stream ciphers:</a:t>
            </a:r>
            <a:br>
              <a:rPr lang="en-US" dirty="0"/>
            </a:br>
            <a:r>
              <a:rPr lang="en-US" dirty="0"/>
              <a:t>A PRG expands a short secret seed into a long pseudorandom bit sequence, which is used as the keystream and then XORed with the plaintext.</a:t>
            </a:r>
          </a:p>
        </p:txBody>
      </p:sp>
    </p:spTree>
    <p:extLst>
      <p:ext uri="{BB962C8B-B14F-4D97-AF65-F5344CB8AC3E}">
        <p14:creationId xmlns:p14="http://schemas.microsoft.com/office/powerpoint/2010/main" val="1817311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1.9|51.3|207.4|19.9|2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8|25.4|1.7|1.9|141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2|10.8|71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CF80CF-8724-4F33-8B28-58AE4D077A21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816</Words>
  <Application>Microsoft Office PowerPoint</Application>
  <PresentationFormat>Widescreen</PresentationFormat>
  <Paragraphs>108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Aptos</vt:lpstr>
      <vt:lpstr>Aptos Display</vt:lpstr>
      <vt:lpstr>Aptos Mono</vt:lpstr>
      <vt:lpstr>Arial</vt:lpstr>
      <vt:lpstr>Cambria Math</vt:lpstr>
      <vt:lpstr>Office Theme</vt:lpstr>
      <vt:lpstr>Random Bit Generation</vt:lpstr>
      <vt:lpstr>Today’s Topic</vt:lpstr>
      <vt:lpstr>Random Numbers</vt:lpstr>
      <vt:lpstr>Randomness is a property of the process, not of one string</vt:lpstr>
      <vt:lpstr>RNG versus PRG</vt:lpstr>
      <vt:lpstr>What security means for a pseudorandom generator</vt:lpstr>
      <vt:lpstr>Linear Congruential Generator</vt:lpstr>
      <vt:lpstr>Linear Congruential Generator (cont. pg2)</vt:lpstr>
      <vt:lpstr>Linear Congruential Generator (cont. pg3)</vt:lpstr>
      <vt:lpstr>Blum Blum Shub (BBS) Generator</vt:lpstr>
      <vt:lpstr>BBS Diagram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11</cp:revision>
  <dcterms:created xsi:type="dcterms:W3CDTF">2026-03-19T19:25:25Z</dcterms:created>
  <dcterms:modified xsi:type="dcterms:W3CDTF">2026-04-21T03:52:20Z</dcterms:modified>
</cp:coreProperties>
</file>