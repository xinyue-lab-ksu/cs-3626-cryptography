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393" r:id="rId3"/>
    <p:sldId id="257" r:id="rId4"/>
    <p:sldId id="394" r:id="rId5"/>
    <p:sldId id="387" r:id="rId6"/>
    <p:sldId id="395" r:id="rId7"/>
    <p:sldId id="389" r:id="rId8"/>
    <p:sldId id="396" r:id="rId9"/>
    <p:sldId id="397" r:id="rId10"/>
    <p:sldId id="398" r:id="rId11"/>
    <p:sldId id="39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67" autoAdjust="0"/>
    <p:restoredTop sz="86441" autoAdjust="0"/>
  </p:normalViewPr>
  <p:slideViewPr>
    <p:cSldViewPr snapToGrid="0">
      <p:cViewPr varScale="1">
        <p:scale>
          <a:sx n="66" d="100"/>
          <a:sy n="66" d="100"/>
        </p:scale>
        <p:origin x="90" y="726"/>
      </p:cViewPr>
      <p:guideLst/>
    </p:cSldViewPr>
  </p:slideViewPr>
  <p:outlineViewPr>
    <p:cViewPr>
      <p:scale>
        <a:sx n="33" d="100"/>
        <a:sy n="33" d="100"/>
      </p:scale>
      <p:origin x="0" y="-2868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9F8418-4289-5D4D-83E9-8AEA7CE3B39E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72947-DFF1-704E-98C5-6ABA9F922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068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372947-DFF1-704E-98C5-6ABA9F922E1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455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372947-DFF1-704E-98C5-6ABA9F922E1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285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372947-DFF1-704E-98C5-6ABA9F922E1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6697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372947-DFF1-704E-98C5-6ABA9F922E1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982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372947-DFF1-704E-98C5-6ABA9F922E1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721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E20A7-67F7-A088-9F1D-4927388624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F5C2AD-40A9-F63C-5339-C3E25771F6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32F9A-B825-8FF5-72F6-3F5184DF2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1B08B-904C-7B4F-9D1E-004BE0679ADE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FE6E5-F85C-B8E1-7DFF-C46FEFA4A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7BBB2-F662-2C9D-A645-6FC28DB8E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ED79-7455-C545-9E93-17E07CC61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186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98496-64C1-6F92-75F5-1AEAA6CAE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97C4F-5FC8-03D3-A543-C833E92E0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5A158-C126-D149-C3A6-AAD44C165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1B08B-904C-7B4F-9D1E-004BE0679ADE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165E4-1254-2663-54E1-7D1CA061E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A4CBC-E7F5-2BDB-36CC-25ED498E7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ED79-7455-C545-9E93-17E07CC61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072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568C4-68B3-A94F-01D9-EF3B03EF1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6366D8-390D-EE26-FBDC-5440AC5C5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F0C7B-60CD-8EBF-4FEE-1E90A4204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1B08B-904C-7B4F-9D1E-004BE0679ADE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C7E9D-57EA-DF6C-ACD7-8F6749A46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68305-6D45-F061-E0E8-BB7F4D6B2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ED79-7455-C545-9E93-17E07CC61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029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20B64-CF28-0452-6BC5-E47C4358E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EC559-7DD6-2F21-3D21-A0D05BB0EC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D2A4BC-F150-5060-6502-5F5EBEFCDC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6286E1-DD47-DFA2-02CD-15EFCC709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1B08B-904C-7B4F-9D1E-004BE0679ADE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67D388-43A8-CFA1-9140-56DBF9714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094FC2-2349-F408-8732-A93BB8D13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ED79-7455-C545-9E93-17E07CC61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019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1FE2D-2D27-14B2-0861-4C60AA539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B5A71-E3E7-2749-6641-8ED891FE1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786289-E2B3-8D36-6A4D-49AF96B4D9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E91F5B-3890-66DD-3A1E-623889E9DD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9F3B95-07A3-8BF9-347B-B197E28532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0E6AB2-3F07-C972-9FD8-1A989535D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1B08B-904C-7B4F-9D1E-004BE0679ADE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625E50-3C9D-A89B-2E71-C112237C4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1600B-81B3-28BC-A8B4-3D3B98BFE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ED79-7455-C545-9E93-17E07CC61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78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519F5-10AA-5AEB-EF19-5A9A1F8F4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FBCE3-2F13-4B0B-05E0-AF46D410B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1B08B-904C-7B4F-9D1E-004BE0679ADE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66042A-ADF1-1E22-0A7C-B102D8F1A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3249D-35AB-6556-6799-DA7226D9E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ED79-7455-C545-9E93-17E07CC61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463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95AB4D-0216-AD09-929B-0E4085D21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1B08B-904C-7B4F-9D1E-004BE0679ADE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B66530-C916-07A7-9081-8D4E1FB78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7981E-5F1C-9A6E-93A6-F8C1571B2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ED79-7455-C545-9E93-17E07CC61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24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94724-E8AF-CFF2-BCC9-A981876F2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DC199-C98B-C888-862A-965708D77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874D47-5FD5-A5B6-0A6F-F2E0ACE7F4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817D37-5D51-9AA2-6290-B53863FF2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1B08B-904C-7B4F-9D1E-004BE0679ADE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C3550E-56AE-7F84-D38E-E1BDC9B01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7F846F-8A6F-D61D-7047-03570B375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ED79-7455-C545-9E93-17E07CC61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567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A8F79-72E8-4092-4A04-62C2D152B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56B9EE-C3B6-090B-F731-3ABD13EAFA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8BE1BF-A63E-3A23-F93C-969AC82898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F2E0D-F052-6166-3DB6-7B7D07A4A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1B08B-904C-7B4F-9D1E-004BE0679ADE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5B9504-E82C-E4DA-4537-C3419E259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62572D-E98D-7E4E-8225-03940AA2A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ED79-7455-C545-9E93-17E07CC61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422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5F3BA-82EF-C77A-7642-533FF612D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536C1A-4B2F-AEAB-878A-AD9078E88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88304-B893-4CC3-6C8B-554300BB0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1B08B-904C-7B4F-9D1E-004BE0679ADE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C984C-7872-DECC-BFDF-9E75B8005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7E77A-42F4-A1F0-B196-E63F79AB8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ED79-7455-C545-9E93-17E07CC61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195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3FF707-38FD-3EA0-61B5-49051CC103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3986AF-EA59-4EF6-F653-3D191FB9D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341BB-A6D7-2A23-28CA-D32C6F375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1B08B-904C-7B4F-9D1E-004BE0679ADE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10552-595F-2C02-8FCE-39252E677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19BCA-1BE9-218C-C7BA-0A2C19672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ED79-7455-C545-9E93-17E07CC61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447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D32676-FBED-6FE1-C5F7-594876B77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9F3C51-D7EF-4455-3BC3-06C7405E6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18D3A-38B8-9505-8E60-20BBA64C29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81B08B-904C-7B4F-9D1E-004BE0679ADE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4A348-57BB-FEA3-542D-4C734EFF2F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6FB2A-0E76-DD76-BAF8-E2EE8ABFC6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CAED79-7455-C545-9E93-17E07CC61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932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51E04-C63B-5054-1D95-A9942CD2F0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Block Ciphers </a:t>
            </a:r>
            <a:br>
              <a:rPr lang="en-US" dirty="0"/>
            </a:br>
            <a:r>
              <a:rPr lang="en-US" dirty="0"/>
              <a:t>Data Encryption Standard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B4BF6B-C06A-A01A-3C6D-A156BEAD10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Dr. Xinyue Zhang</a:t>
            </a:r>
          </a:p>
          <a:p>
            <a:r>
              <a:rPr lang="en-US" dirty="0"/>
              <a:t>Assistant Professor</a:t>
            </a:r>
          </a:p>
          <a:p>
            <a:r>
              <a:rPr lang="en-US" dirty="0"/>
              <a:t>Department of Computer Science</a:t>
            </a:r>
          </a:p>
          <a:p>
            <a:r>
              <a:rPr lang="en-US" dirty="0"/>
              <a:t>Kennesaw State University</a:t>
            </a:r>
          </a:p>
          <a:p>
            <a:r>
              <a:rPr lang="en-US" dirty="0"/>
              <a:t>Marietta, GA, USA</a:t>
            </a:r>
          </a:p>
        </p:txBody>
      </p:sp>
    </p:spTree>
    <p:extLst>
      <p:ext uri="{BB962C8B-B14F-4D97-AF65-F5344CB8AC3E}">
        <p14:creationId xmlns:p14="http://schemas.microsoft.com/office/powerpoint/2010/main" val="3826634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56E376-CBD8-517C-9DED-EE2E0784B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2D483-F3FB-9BD2-0963-4045E84CD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US" sz="1800" b="1">
                <a:solidFill>
                  <a:schemeClr val="tx2"/>
                </a:solidFill>
              </a:rPr>
              <a:t>Two Main Types of Symmetric Encryption</a:t>
            </a:r>
            <a:endParaRPr lang="en-US" sz="1800">
              <a:solidFill>
                <a:schemeClr val="tx2"/>
              </a:solidFill>
            </a:endParaRPr>
          </a:p>
          <a:p>
            <a:pPr lvl="1"/>
            <a:r>
              <a:rPr lang="en-US" sz="1800">
                <a:solidFill>
                  <a:schemeClr val="tx2"/>
                </a:solidFill>
              </a:rPr>
              <a:t>Stream ciphers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Block ciphers</a:t>
            </a:r>
          </a:p>
          <a:p>
            <a:endParaRPr lang="en-US" sz="1800" b="1">
              <a:solidFill>
                <a:schemeClr val="tx2"/>
              </a:solidFill>
            </a:endParaRPr>
          </a:p>
          <a:p>
            <a:r>
              <a:rPr lang="en-US" sz="1800" b="1">
                <a:solidFill>
                  <a:schemeClr val="tx2"/>
                </a:solidFill>
              </a:rPr>
              <a:t>Key difference</a:t>
            </a:r>
            <a:endParaRPr lang="en-US" sz="1800">
              <a:solidFill>
                <a:schemeClr val="tx2"/>
              </a:solidFill>
            </a:endParaRPr>
          </a:p>
          <a:p>
            <a:pPr lvl="1"/>
            <a:r>
              <a:rPr lang="en-US" sz="1800">
                <a:solidFill>
                  <a:schemeClr val="tx2"/>
                </a:solidFill>
              </a:rPr>
              <a:t>Stream ciphers encrypt data one bit or byte at a time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Block ciphers encrypt fixed-size blocks</a:t>
            </a:r>
          </a:p>
          <a:p>
            <a:endParaRPr lang="en-US" sz="18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Key">
            <a:extLst>
              <a:ext uri="{FF2B5EF4-FFF2-40B4-BE49-F238E27FC236}">
                <a16:creationId xmlns:a16="http://schemas.microsoft.com/office/drawing/2014/main" id="{F41E4903-9978-0576-F860-664AFA5589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297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ACFB2-E118-46D3-EF4F-B519D7D91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Cipher</a:t>
            </a:r>
          </a:p>
        </p:txBody>
      </p:sp>
      <p:pic>
        <p:nvPicPr>
          <p:cNvPr id="9" name="Content Placeholder 8" descr="A diagram showing the operation of a block cipher: a plaintext block m and a secret key k are input to a cipher function e, producing a ciphertext block c. The figure illustrates the basic encryption flow from plaintext to ciphertext using a shared secret key.">
            <a:extLst>
              <a:ext uri="{FF2B5EF4-FFF2-40B4-BE49-F238E27FC236}">
                <a16:creationId xmlns:a16="http://schemas.microsoft.com/office/drawing/2014/main" id="{A04AD5CA-B270-8BB8-A205-482727863DA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24607" y="1825625"/>
            <a:ext cx="4419600" cy="2019300"/>
          </a:xfr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329D548-F00E-C82C-6877-A089817B47C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Block Cipher</a:t>
            </a:r>
            <a:endParaRPr lang="en-US" dirty="0"/>
          </a:p>
          <a:p>
            <a:pPr lvl="1"/>
            <a:r>
              <a:rPr lang="en-US" dirty="0"/>
              <a:t>Deterministic function</a:t>
            </a:r>
          </a:p>
          <a:p>
            <a:pPr lvl="1"/>
            <a:r>
              <a:rPr lang="en-US" dirty="0"/>
              <a:t>Fixed-size input block</a:t>
            </a:r>
          </a:p>
          <a:p>
            <a:pPr lvl="1"/>
            <a:r>
              <a:rPr lang="en-US" dirty="0"/>
              <a:t>Fixed-size output block</a:t>
            </a:r>
          </a:p>
          <a:p>
            <a:pPr lvl="1"/>
            <a:r>
              <a:rPr lang="en-US" dirty="0"/>
              <a:t>Controlled by a secret key</a:t>
            </a:r>
          </a:p>
          <a:p>
            <a:endParaRPr lang="en-US" dirty="0"/>
          </a:p>
        </p:txBody>
      </p:sp>
      <p:pic>
        <p:nvPicPr>
          <p:cNvPr id="11" name="Picture 10" descr="A diagram showing that encryption transforms a plaintext message into a ciphertext using a secret key, and decryption uses the same key to recover the original plaintext from the ciphertext.">
            <a:extLst>
              <a:ext uri="{FF2B5EF4-FFF2-40B4-BE49-F238E27FC236}">
                <a16:creationId xmlns:a16="http://schemas.microsoft.com/office/drawing/2014/main" id="{D5C2F0EC-C9F5-A574-718F-275C34733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902" y="4022679"/>
            <a:ext cx="3309010" cy="1667741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ACE6495-4E6E-3571-7DBB-A931574054EE}"/>
              </a:ext>
            </a:extLst>
          </p:cNvPr>
          <p:cNvSpPr/>
          <p:nvPr/>
        </p:nvSpPr>
        <p:spPr>
          <a:xfrm>
            <a:off x="6697717" y="4022679"/>
            <a:ext cx="3309009" cy="247019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• m is the plaintext block,</a:t>
            </a:r>
          </a:p>
          <a:p>
            <a:r>
              <a:rPr lang="en-US" dirty="0"/>
              <a:t>• k is the secret key,</a:t>
            </a:r>
          </a:p>
          <a:p>
            <a:r>
              <a:rPr lang="en-US" dirty="0"/>
              <a:t>• e is the encryption function,</a:t>
            </a:r>
          </a:p>
          <a:p>
            <a:r>
              <a:rPr lang="en-US" dirty="0"/>
              <a:t>• d is the decryption function,</a:t>
            </a:r>
          </a:p>
          <a:p>
            <a:r>
              <a:rPr lang="en-US" dirty="0"/>
              <a:t>• c is the ciphertext block.</a:t>
            </a:r>
          </a:p>
        </p:txBody>
      </p:sp>
    </p:spTree>
    <p:extLst>
      <p:ext uri="{BB962C8B-B14F-4D97-AF65-F5344CB8AC3E}">
        <p14:creationId xmlns:p14="http://schemas.microsoft.com/office/powerpoint/2010/main" val="379892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414B6-F679-B96A-0F0F-C59D9E8E5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Goal of a Block Cipher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589C0DF-34D6-5EF1-1398-3FC9C81D0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Security Objective</a:t>
            </a:r>
            <a:endParaRPr lang="en-US" dirty="0"/>
          </a:p>
          <a:p>
            <a:pPr lvl="1"/>
            <a:r>
              <a:rPr lang="en-US" dirty="0"/>
              <a:t>Ciphertext should look random</a:t>
            </a:r>
          </a:p>
          <a:p>
            <a:pPr lvl="1"/>
            <a:r>
              <a:rPr lang="en-US" dirty="0"/>
              <a:t>Small change in plaintext → large change in ciphertext</a:t>
            </a:r>
          </a:p>
          <a:p>
            <a:pPr lvl="1"/>
            <a:r>
              <a:rPr lang="en-US" dirty="0"/>
              <a:t>Relationship between plaintext and ciphertext should be hard to infer</a:t>
            </a:r>
          </a:p>
          <a:p>
            <a:r>
              <a:rPr lang="en-US" b="1" dirty="0"/>
              <a:t>Key property:</a:t>
            </a:r>
            <a:r>
              <a:rPr lang="en-US" dirty="0"/>
              <a:t> </a:t>
            </a:r>
            <a:r>
              <a:rPr lang="en-US" i="1" dirty="0">
                <a:solidFill>
                  <a:srgbClr val="FF0000"/>
                </a:solidFill>
              </a:rPr>
              <a:t>Avalanche effect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5A47EC9-B601-DEF1-C204-3220CEF1D5F9}"/>
              </a:ext>
            </a:extLst>
          </p:cNvPr>
          <p:cNvSpPr/>
          <p:nvPr/>
        </p:nvSpPr>
        <p:spPr>
          <a:xfrm>
            <a:off x="1671144" y="4466896"/>
            <a:ext cx="3121572" cy="1324303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  = 01001101 </a:t>
            </a:r>
            <a:r>
              <a:rPr lang="en-US" dirty="0">
                <a:solidFill>
                  <a:schemeClr val="tx1"/>
                </a:solidFill>
              </a:rPr>
              <a:t>1011001</a:t>
            </a:r>
            <a:r>
              <a:rPr lang="en-US" b="1" dirty="0">
                <a:solidFill>
                  <a:schemeClr val="tx1"/>
                </a:solidFill>
              </a:rPr>
              <a:t>0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P' = 01001101 1011001</a:t>
            </a:r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E625A33-CF37-AB89-0D70-D8D903008977}"/>
              </a:ext>
            </a:extLst>
          </p:cNvPr>
          <p:cNvSpPr/>
          <p:nvPr/>
        </p:nvSpPr>
        <p:spPr>
          <a:xfrm>
            <a:off x="7183820" y="4466895"/>
            <a:ext cx="3121572" cy="1324303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  = 11001010 00101101</a:t>
            </a:r>
          </a:p>
          <a:p>
            <a:pPr algn="ctr"/>
            <a:r>
              <a:rPr lang="en-US" dirty="0"/>
              <a:t>C' = 00110101 11010010</a:t>
            </a:r>
          </a:p>
          <a:p>
            <a:pPr algn="ctr"/>
            <a:r>
              <a:rPr lang="en-US" dirty="0"/>
              <a:t>(many bits differ)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FF46AA7-FFF1-1279-9E93-8CCD1BA9E1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V="1">
            <a:off x="4792716" y="5129047"/>
            <a:ext cx="239110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B40E278-136A-5C65-4E72-F804108FD120}"/>
              </a:ext>
            </a:extLst>
          </p:cNvPr>
          <p:cNvSpPr txBox="1"/>
          <p:nvPr/>
        </p:nvSpPr>
        <p:spPr>
          <a:xfrm>
            <a:off x="5257940" y="4805880"/>
            <a:ext cx="14606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Encrypt by </a:t>
            </a:r>
          </a:p>
          <a:p>
            <a:pPr algn="ctr"/>
            <a:r>
              <a:rPr lang="en-US" dirty="0"/>
              <a:t>Block Cipher</a:t>
            </a:r>
          </a:p>
        </p:txBody>
      </p:sp>
    </p:spTree>
    <p:extLst>
      <p:ext uri="{BB962C8B-B14F-4D97-AF65-F5344CB8AC3E}">
        <p14:creationId xmlns:p14="http://schemas.microsoft.com/office/powerpoint/2010/main" val="2406988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4BC51-7812-AD41-BFD3-291CAE735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Build a Block Cipher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68F99-F8AD-A84B-BB8B-2F3111BAC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How do we build a block cipher?</a:t>
            </a:r>
          </a:p>
          <a:p>
            <a:pPr lvl="1"/>
            <a:r>
              <a:rPr lang="en-US" b="1" dirty="0"/>
              <a:t>2 basic operations (by Claude Shannon)</a:t>
            </a:r>
          </a:p>
          <a:p>
            <a:pPr lvl="1"/>
            <a:r>
              <a:rPr lang="en-US" u="sng" dirty="0">
                <a:solidFill>
                  <a:srgbClr val="FF0000"/>
                </a:solidFill>
              </a:rPr>
              <a:t>Confusion:</a:t>
            </a:r>
          </a:p>
          <a:p>
            <a:pPr lvl="2"/>
            <a:r>
              <a:rPr lang="en-US" dirty="0"/>
              <a:t>Relationship between plaintext &amp; ciphertext is obscured.</a:t>
            </a:r>
          </a:p>
          <a:p>
            <a:pPr lvl="2"/>
            <a:r>
              <a:rPr lang="en-US" dirty="0"/>
              <a:t>Ex: Substitution table</a:t>
            </a:r>
          </a:p>
          <a:p>
            <a:pPr lvl="1"/>
            <a:r>
              <a:rPr lang="en-US" u="sng" dirty="0">
                <a:solidFill>
                  <a:srgbClr val="FF0000"/>
                </a:solidFill>
              </a:rPr>
              <a:t>Diffusion:</a:t>
            </a:r>
          </a:p>
          <a:p>
            <a:pPr lvl="2"/>
            <a:r>
              <a:rPr lang="en-US" dirty="0"/>
              <a:t>The influence of one each plaintext bit is spread over many ciphertext bits.</a:t>
            </a:r>
          </a:p>
          <a:p>
            <a:pPr lvl="2"/>
            <a:r>
              <a:rPr lang="en-US" dirty="0"/>
              <a:t>Ex: Permutation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93920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9493"/>
    </mc:Choice>
    <mc:Fallback xmlns="">
      <p:transition spd="slow" advTm="1494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E58E-D880-C859-5C54-259B3D684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95FBF-8382-66CC-C9AF-94DD12805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Obscures relationship between key and ciphertext</a:t>
            </a:r>
          </a:p>
          <a:p>
            <a:r>
              <a:rPr lang="en-US" dirty="0"/>
              <a:t>Achieved using substitutions</a:t>
            </a:r>
          </a:p>
          <a:p>
            <a:r>
              <a:rPr lang="en-US" dirty="0"/>
              <a:t>Makes key influence complex and nonlinear</a:t>
            </a:r>
          </a:p>
        </p:txBody>
      </p:sp>
      <p:pic>
        <p:nvPicPr>
          <p:cNvPr id="7" name="Picture 6" descr="AES Substitution Table">
            <a:extLst>
              <a:ext uri="{FF2B5EF4-FFF2-40B4-BE49-F238E27FC236}">
                <a16:creationId xmlns:a16="http://schemas.microsoft.com/office/drawing/2014/main" id="{7D2D477A-9C07-CBB8-6F09-954846D02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552" y="3429000"/>
            <a:ext cx="6274816" cy="323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4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ECB298D-7B43-DD46-A410-78C2D5DCB5A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79376" y="548680"/>
            <a:ext cx="1944216" cy="1368152"/>
          </a:xfrm>
          <a:prstGeom prst="roundRect">
            <a:avLst/>
          </a:prstGeom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Diffusion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B9CF91-3DE7-FA46-8DCD-7791BCF5CFC0}"/>
              </a:ext>
            </a:extLst>
          </p:cNvPr>
          <p:cNvSpPr txBox="1"/>
          <p:nvPr/>
        </p:nvSpPr>
        <p:spPr>
          <a:xfrm>
            <a:off x="2279576" y="3049237"/>
            <a:ext cx="18026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P1 = 0010 1011</a:t>
            </a:r>
          </a:p>
          <a:p>
            <a:r>
              <a:rPr lang="en-US" dirty="0"/>
              <a:t>P2 = 0000 1011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867A2F-D2C4-8548-9E73-7D16B9EBE0F6}"/>
              </a:ext>
            </a:extLst>
          </p:cNvPr>
          <p:cNvSpPr/>
          <p:nvPr/>
        </p:nvSpPr>
        <p:spPr>
          <a:xfrm>
            <a:off x="4932362" y="2941224"/>
            <a:ext cx="2304256" cy="86235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Block Cipher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5B9429-C1A4-D243-9FE8-7A5F8E21E0C2}"/>
              </a:ext>
            </a:extLst>
          </p:cNvPr>
          <p:cNvSpPr txBox="1"/>
          <p:nvPr/>
        </p:nvSpPr>
        <p:spPr>
          <a:xfrm>
            <a:off x="8086795" y="3036090"/>
            <a:ext cx="18026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C1 = 1011 1001</a:t>
            </a:r>
          </a:p>
          <a:p>
            <a:r>
              <a:rPr lang="en-US" dirty="0"/>
              <a:t>C2 = 0110 1100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94442CB-4979-D042-8F8D-ABB832BAA9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4082185" y="3372402"/>
            <a:ext cx="85017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9B9CB90-60D5-0845-9BCF-FCF7D719C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7236618" y="3388516"/>
            <a:ext cx="85017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054FB5A-8948-C041-85D9-5BCC079A3F47}"/>
              </a:ext>
            </a:extLst>
          </p:cNvPr>
          <p:cNvSpPr txBox="1"/>
          <p:nvPr/>
        </p:nvSpPr>
        <p:spPr>
          <a:xfrm>
            <a:off x="1556076" y="4392949"/>
            <a:ext cx="3249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Single bit of plaintext changes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3E86D8-D606-8B4D-AF27-EAF9FAA4C804}"/>
              </a:ext>
            </a:extLst>
          </p:cNvPr>
          <p:cNvSpPr txBox="1"/>
          <p:nvPr/>
        </p:nvSpPr>
        <p:spPr>
          <a:xfrm>
            <a:off x="7592722" y="4392949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Many bits of ciphertext change</a:t>
            </a:r>
          </a:p>
        </p:txBody>
      </p:sp>
    </p:spTree>
    <p:extLst>
      <p:ext uri="{BB962C8B-B14F-4D97-AF65-F5344CB8AC3E}">
        <p14:creationId xmlns:p14="http://schemas.microsoft.com/office/powerpoint/2010/main" val="3908289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533"/>
    </mc:Choice>
    <mc:Fallback xmlns="">
      <p:transition spd="slow" advTm="6053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A78E1-C498-E752-9422-1736FDAD7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Ciphers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CFD02-D65B-8A23-A3E8-EF5FB3554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Alternates confusion and diffusion</a:t>
            </a:r>
          </a:p>
          <a:p>
            <a:r>
              <a:rPr lang="en-US" dirty="0"/>
              <a:t>Repeated multiple times (rounds)</a:t>
            </a:r>
          </a:p>
          <a:p>
            <a:r>
              <a:rPr lang="en-US" dirty="0"/>
              <a:t>Security emerges from iteration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5F9C8EB-B765-EA88-029F-219276BE9308}"/>
              </a:ext>
            </a:extLst>
          </p:cNvPr>
          <p:cNvSpPr/>
          <p:nvPr/>
        </p:nvSpPr>
        <p:spPr>
          <a:xfrm>
            <a:off x="7692736" y="168417"/>
            <a:ext cx="3657600" cy="9144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Plaintext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87B554E-52AF-25EA-D0E6-3F511A90B9DF}"/>
              </a:ext>
            </a:extLst>
          </p:cNvPr>
          <p:cNvSpPr/>
          <p:nvPr/>
        </p:nvSpPr>
        <p:spPr>
          <a:xfrm>
            <a:off x="7692736" y="1298263"/>
            <a:ext cx="3657600" cy="9144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Confusion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C1C3D48-62B9-C6AC-85DC-7E1E1FD7370F}"/>
              </a:ext>
            </a:extLst>
          </p:cNvPr>
          <p:cNvSpPr/>
          <p:nvPr/>
        </p:nvSpPr>
        <p:spPr>
          <a:xfrm>
            <a:off x="7692736" y="2428109"/>
            <a:ext cx="3657600" cy="9144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Diffusion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D8DB60E-9043-A1E6-85A8-F6F8A33B5571}"/>
              </a:ext>
            </a:extLst>
          </p:cNvPr>
          <p:cNvSpPr/>
          <p:nvPr/>
        </p:nvSpPr>
        <p:spPr>
          <a:xfrm>
            <a:off x="7692736" y="3557955"/>
            <a:ext cx="3657600" cy="9144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Confusion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F03A579-A141-2173-DA17-602A685D72D8}"/>
              </a:ext>
            </a:extLst>
          </p:cNvPr>
          <p:cNvSpPr/>
          <p:nvPr/>
        </p:nvSpPr>
        <p:spPr>
          <a:xfrm>
            <a:off x="7692736" y="4687801"/>
            <a:ext cx="3657600" cy="9144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Diffusion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611AEB3-F343-DD14-9A00-8782CDCCD4B5}"/>
              </a:ext>
            </a:extLst>
          </p:cNvPr>
          <p:cNvSpPr/>
          <p:nvPr/>
        </p:nvSpPr>
        <p:spPr>
          <a:xfrm>
            <a:off x="7692736" y="5817645"/>
            <a:ext cx="3657600" cy="9144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Ciphertext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CAAE95E-45B0-F0EC-FFF3-3D68BB0C0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9521536" y="1082817"/>
            <a:ext cx="0" cy="2154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745C736-3A5D-2BC0-B433-AA525001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9521536" y="2212663"/>
            <a:ext cx="0" cy="2154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0748488-221D-F288-DCD3-75FBDE05B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9521536" y="3342509"/>
            <a:ext cx="0" cy="2154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41A64DA-A47A-7C70-EDD7-7506B96A36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9521536" y="4472355"/>
            <a:ext cx="0" cy="2154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78FF0B1-228E-D355-98B6-3F4E8977D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9521536" y="5602201"/>
            <a:ext cx="0" cy="215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4A995182-C336-235E-4954-19359A1D5262}"/>
              </a:ext>
            </a:extLst>
          </p:cNvPr>
          <p:cNvSpPr/>
          <p:nvPr/>
        </p:nvSpPr>
        <p:spPr>
          <a:xfrm>
            <a:off x="4184073" y="3596409"/>
            <a:ext cx="2715491" cy="2715491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(each layer </a:t>
            </a:r>
          </a:p>
          <a:p>
            <a:pPr algn="ctr"/>
            <a:r>
              <a:rPr lang="en-US" sz="2800" dirty="0"/>
              <a:t>= </a:t>
            </a:r>
          </a:p>
          <a:p>
            <a:pPr algn="ctr"/>
            <a:r>
              <a:rPr lang="en-US" sz="2800" dirty="0"/>
              <a:t>one round)</a:t>
            </a:r>
          </a:p>
        </p:txBody>
      </p:sp>
    </p:spTree>
    <p:extLst>
      <p:ext uri="{BB962C8B-B14F-4D97-AF65-F5344CB8AC3E}">
        <p14:creationId xmlns:p14="http://schemas.microsoft.com/office/powerpoint/2010/main" val="3850210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80B0B-B70B-22B7-8D0A-24D53ABCB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Feistel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F84EB-462A-EAE1-B3EB-536D658CA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59880" cy="4351338"/>
          </a:xfrm>
        </p:spPr>
        <p:txBody>
          <a:bodyPr>
            <a:normAutofit/>
          </a:bodyPr>
          <a:lstStyle/>
          <a:p>
            <a:r>
              <a:rPr lang="en-US" dirty="0"/>
              <a:t>Input block split into two halves</a:t>
            </a:r>
          </a:p>
          <a:p>
            <a:r>
              <a:rPr lang="en-US" dirty="0"/>
              <a:t>Round function applied to one half</a:t>
            </a:r>
          </a:p>
          <a:p>
            <a:r>
              <a:rPr lang="en-US" dirty="0"/>
              <a:t>Halves swapped each round</a:t>
            </a:r>
          </a:p>
          <a:p>
            <a:r>
              <a:rPr lang="en-US" b="1" dirty="0"/>
              <a:t>Key advantage:</a:t>
            </a:r>
          </a:p>
          <a:p>
            <a:pPr lvl="1"/>
            <a:r>
              <a:rPr lang="en-US" dirty="0"/>
              <a:t>Same structure for encryption and decryption</a:t>
            </a:r>
          </a:p>
          <a:p>
            <a:pPr lvl="1"/>
            <a:r>
              <a:rPr lang="en-US" dirty="0"/>
              <a:t>Allows non-invertible round functions</a:t>
            </a:r>
          </a:p>
          <a:p>
            <a:pPr lvl="1"/>
            <a:r>
              <a:rPr lang="en-US" dirty="0"/>
              <a:t>Efficient and flexible design</a:t>
            </a:r>
          </a:p>
        </p:txBody>
      </p:sp>
      <p:pic>
        <p:nvPicPr>
          <p:cNvPr id="6" name="Picture 5" descr="Basic operation of a Feistel cipher">
            <a:extLst>
              <a:ext uri="{FF2B5EF4-FFF2-40B4-BE49-F238E27FC236}">
                <a16:creationId xmlns:a16="http://schemas.microsoft.com/office/drawing/2014/main" id="{77FE2950-BDCD-5D10-B8C1-B8B8B64B5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272" y="2244598"/>
            <a:ext cx="5003800" cy="313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728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6AF6F-2F8E-6247-1BE1-A47304143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Encryption Standard (DES)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6F408-B0EC-2DB2-63E6-58BFD07D8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Facts:</a:t>
            </a:r>
          </a:p>
          <a:p>
            <a:pPr lvl="1"/>
            <a:r>
              <a:rPr lang="en-US" dirty="0"/>
              <a:t>Developed by IBM (1970s)</a:t>
            </a:r>
          </a:p>
          <a:p>
            <a:pPr lvl="1"/>
            <a:r>
              <a:rPr lang="en-US" dirty="0"/>
              <a:t>Adopted as U.S. standard in 1977</a:t>
            </a:r>
          </a:p>
          <a:p>
            <a:pPr lvl="1"/>
            <a:r>
              <a:rPr lang="en-US" dirty="0"/>
              <a:t>64-bit block size</a:t>
            </a:r>
          </a:p>
          <a:p>
            <a:pPr lvl="1"/>
            <a:r>
              <a:rPr lang="en-US" dirty="0"/>
              <a:t>56-bit key</a:t>
            </a:r>
          </a:p>
          <a:p>
            <a:r>
              <a:rPr lang="en-US" dirty="0"/>
              <a:t>DES Overview</a:t>
            </a:r>
          </a:p>
          <a:p>
            <a:pPr lvl="1"/>
            <a:r>
              <a:rPr lang="en-US" dirty="0"/>
              <a:t>16-round Feistel cipher</a:t>
            </a:r>
          </a:p>
          <a:p>
            <a:pPr lvl="1"/>
            <a:r>
              <a:rPr lang="en-US" dirty="0"/>
              <a:t>Each round:</a:t>
            </a:r>
          </a:p>
          <a:p>
            <a:pPr lvl="2"/>
            <a:r>
              <a:rPr lang="en-US" dirty="0"/>
              <a:t>Confusion via S-boxes</a:t>
            </a:r>
          </a:p>
          <a:p>
            <a:pPr lvl="2"/>
            <a:r>
              <a:rPr lang="en-US" dirty="0"/>
              <a:t>Diffusion via permutations</a:t>
            </a:r>
          </a:p>
          <a:p>
            <a:pPr lvl="2"/>
            <a:r>
              <a:rPr lang="en-US" dirty="0"/>
              <a:t>Same structure for encryption and decryption</a:t>
            </a:r>
          </a:p>
        </p:txBody>
      </p:sp>
      <p:pic>
        <p:nvPicPr>
          <p:cNvPr id="6" name="Picture 5" descr="DES as a Feistel cipher">
            <a:extLst>
              <a:ext uri="{FF2B5EF4-FFF2-40B4-BE49-F238E27FC236}">
                <a16:creationId xmlns:a16="http://schemas.microsoft.com/office/drawing/2014/main" id="{36F542DE-DFAD-2EA6-025F-5D654CC3AC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29" r="12572"/>
          <a:stretch>
            <a:fillRect/>
          </a:stretch>
        </p:blipFill>
        <p:spPr>
          <a:xfrm>
            <a:off x="7315200" y="1690688"/>
            <a:ext cx="3934690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969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47D23-8A65-F5C2-E2E4-EF4F21644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Wrap-up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93424-190A-8CBB-58BA-E60906AC4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Today</a:t>
            </a:r>
            <a:endParaRPr lang="en-US" dirty="0"/>
          </a:p>
          <a:p>
            <a:pPr lvl="1"/>
            <a:r>
              <a:rPr lang="en-US" dirty="0"/>
              <a:t>Block cipher concept</a:t>
            </a:r>
          </a:p>
          <a:p>
            <a:pPr lvl="1"/>
            <a:r>
              <a:rPr lang="en-US" dirty="0"/>
              <a:t>Confusion &amp; diffusion</a:t>
            </a:r>
          </a:p>
          <a:p>
            <a:pPr lvl="1"/>
            <a:r>
              <a:rPr lang="en-US" dirty="0"/>
              <a:t>Feistel structure</a:t>
            </a:r>
          </a:p>
          <a:p>
            <a:pPr lvl="1"/>
            <a:r>
              <a:rPr lang="en-US" dirty="0"/>
              <a:t>DES overview</a:t>
            </a:r>
          </a:p>
          <a:p>
            <a:r>
              <a:rPr lang="en-US" b="1" dirty="0"/>
              <a:t>Next</a:t>
            </a:r>
            <a:endParaRPr lang="en-US" dirty="0"/>
          </a:p>
          <a:p>
            <a:pPr lvl="1"/>
            <a:r>
              <a:rPr lang="en-US" dirty="0"/>
              <a:t>DES f-function</a:t>
            </a:r>
          </a:p>
          <a:p>
            <a:pPr lvl="1"/>
            <a:r>
              <a:rPr lang="en-US" dirty="0"/>
              <a:t>S-box design</a:t>
            </a:r>
          </a:p>
          <a:p>
            <a:pPr lvl="1"/>
            <a:r>
              <a:rPr lang="en-US" dirty="0"/>
              <a:t>Key schedule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0127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2|5.8|3.2|2.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8051F4F-9469-410E-B8A8-8DA99A3B9A05}">
  <we:reference id="WA200009978" version="1.0.0.1" store="Omex" storeType="OMEX"/>
  <we:alternateReferences>
    <we:reference id="WA200009978" version="1.0.0.1" store="WA200009978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404</Words>
  <Application>Microsoft Office PowerPoint</Application>
  <PresentationFormat>Widescreen</PresentationFormat>
  <Paragraphs>107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Block Ciphers  Data Encryption Standard</vt:lpstr>
      <vt:lpstr>Background</vt:lpstr>
      <vt:lpstr>Block Cipher</vt:lpstr>
      <vt:lpstr>Design Goal of a Block Cipher</vt:lpstr>
      <vt:lpstr>How to Build a Block Cipher</vt:lpstr>
      <vt:lpstr>Confusion</vt:lpstr>
      <vt:lpstr>Diffusion</vt:lpstr>
      <vt:lpstr>Product Ciphers</vt:lpstr>
      <vt:lpstr>Feistel Structure</vt:lpstr>
      <vt:lpstr>Data Encryption Standard (DES)</vt:lpstr>
      <vt:lpstr>Wrap-up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Xinyue Zhang</dc:creator>
  <cp:lastModifiedBy>Xinyue Zhang</cp:lastModifiedBy>
  <cp:revision>10</cp:revision>
  <dcterms:created xsi:type="dcterms:W3CDTF">2026-02-02T22:07:21Z</dcterms:created>
  <dcterms:modified xsi:type="dcterms:W3CDTF">2026-04-20T17:09:21Z</dcterms:modified>
</cp:coreProperties>
</file>