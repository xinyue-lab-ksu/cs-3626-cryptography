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8" r:id="rId4"/>
    <p:sldId id="383" r:id="rId5"/>
    <p:sldId id="384" r:id="rId6"/>
    <p:sldId id="385" r:id="rId7"/>
    <p:sldId id="367" r:id="rId8"/>
    <p:sldId id="386" r:id="rId9"/>
    <p:sldId id="388" r:id="rId10"/>
    <p:sldId id="389" r:id="rId11"/>
    <p:sldId id="369" r:id="rId12"/>
    <p:sldId id="387" r:id="rId13"/>
    <p:sldId id="370" r:id="rId14"/>
    <p:sldId id="372" r:id="rId15"/>
    <p:sldId id="3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9" autoAdjust="0"/>
    <p:restoredTop sz="94673" autoAdjust="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outlineViewPr>
    <p:cViewPr>
      <p:scale>
        <a:sx n="33" d="100"/>
        <a:sy n="33" d="100"/>
      </p:scale>
      <p:origin x="0" y="-67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A168-51B5-9C40-8115-9560B1FD7AB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70CB7-A5C3-2C49-82F1-0DDFC2BE9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3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7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6C7A-EBC1-64B1-EA38-3D9A26D4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>
            <a:extLst>
              <a:ext uri="{FF2B5EF4-FFF2-40B4-BE49-F238E27FC236}">
                <a16:creationId xmlns:a16="http://schemas.microsoft.com/office/drawing/2014/main" id="{4E6A4E2A-43B7-72A7-2318-93F9852BD0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18A0A6B-8118-7FD5-7784-DE28093A71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71E746C-FB34-14E5-9CA6-1FE63407B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8724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C152BB-3289-B54C-B77C-5536B430B290}" type="slidenum">
              <a:rPr lang="en-AU">
                <a:latin typeface="Arial" pitchFamily="-84" charset="0"/>
              </a:rPr>
              <a:pPr/>
              <a:t>11</a:t>
            </a:fld>
            <a:endParaRPr lang="en-AU">
              <a:latin typeface="Arial" pitchFamily="-8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27762-5641-D348-AF5A-03C56F213ADC}" type="slidenum">
              <a:rPr lang="en-AU">
                <a:latin typeface="Arial" pitchFamily="-84" charset="0"/>
              </a:rPr>
              <a:pPr/>
              <a:t>13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93D91-8EA2-3449-B649-5F467F3288A1}" type="slidenum">
              <a:rPr lang="en-AU">
                <a:latin typeface="Arial" pitchFamily="-84" charset="0"/>
              </a:rPr>
              <a:pPr/>
              <a:t>14</a:t>
            </a:fld>
            <a:endParaRPr lang="en-AU">
              <a:latin typeface="Arial" pitchFamily="-8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3D15-00F1-693D-B89B-DD12CD317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CD91-66F9-06A8-2C04-73DFC311E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31A1F-822B-B274-C92C-774BFB07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01AC-A65D-ED4C-8472-82F0013F551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8D14B-1180-7438-94E5-6C6F4478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305D2-F844-6FC2-06B4-406F533D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9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77D7-ACA8-D501-0DD7-5615C87D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B476-A95C-C0E6-2068-E0EF05D4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E3259-7A9A-FFC5-623B-1DBBC598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4E6D-7505-3E46-97A9-2F2AE453AE5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A38E6-E186-717F-CBBE-DF1501BC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71B2-C149-1FAD-9CC9-56A19608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5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572B-97B5-5211-CA5F-0DBBA110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2CE9D-BF6C-EC1B-E761-8DDD14A77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9AD0E-C284-527A-89D7-29470EDE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E287-2586-7249-83C4-EACB9849C56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B6E4-3BB0-AB36-92B9-58176903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314B-6521-99A6-5116-32663F3F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9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B307-BA3D-F2DC-7082-14BB4F20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1B18C-9D0D-7655-4DD9-A81FE838E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2FE1D-448F-C5EC-91D0-5DEAC142B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FF10A-B778-DEE7-5AC1-40D864C1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1198-D92C-1441-8ABD-C0C461B6CDB8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05A04-0C15-2A69-7ADD-10B1C9A5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1B0DE-E3AD-071B-1E84-40EF456E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0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16C3-03C3-CFC8-92CC-AF8C369F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02B47-5544-A773-6D64-DAB290427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83D16-E54A-5125-E031-5A4B79F28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2D7A7-5B66-7225-5D88-D9D6BF716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77284-D18C-D979-F08C-CA8E3A3C1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ED6B7-20EB-0E9D-5D31-FD67CCF5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2AE5-E26F-9348-8DCF-542EEE016E19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6620E-8C0F-961B-330E-1ED65118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F81D3-4C97-E5A2-99A0-DE73A8CE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34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DC2F-B953-0F98-F879-E5EF4F31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95159-9F42-2A7D-EDD0-619E791E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0EB95-3414-FD48-9850-6CD976142EEE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B425A-5243-7DBE-46C7-35EA9EF8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501F3-F236-8EA3-48E5-C0BCD4FC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1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7B404-C3E3-BB81-6E48-4BA36E62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7D5D3-45BD-2846-BE8C-712E1BF66567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70F23-75C3-21A0-1EC5-2DF06D4D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45597-CDFA-8093-6321-1EAB9091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8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892B-60EB-4F9D-1402-83E076D9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AA57A-C9E4-C68B-7265-8EACBBBD1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1D1CB-8F29-6A9A-F31A-9B5FB6753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9337C-C970-4264-5EEC-AB9DDEA9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5447-F006-7F4D-B357-4209AA16D453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E1FDB-A64F-2565-3F2E-A275D678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306B3-D213-56FC-C55B-6676657D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2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2297-1FDA-9875-BE92-7EC356C7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D73B0-324C-FE01-8038-C951E0D1D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A0407-D5A9-6031-CD8E-F8CA23EB3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0DD7-0EA7-4C42-C3E1-F5709B1C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67CE-BDA1-6C4B-83DC-298D9A86293D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09944-A187-4291-3679-23E5CAD9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C2F8F-0FAD-9510-D75C-F4CF5D96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1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09C3-4DC2-0719-020E-283D6E0D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6F0D0-33F2-112A-3C26-59F550219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4674C-DD1C-2D3F-D44F-EE8BC0A4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C3B2-3DB7-7C4C-A4E1-1911987973B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CF521-1020-56A6-59DF-DFD79419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34C8-D644-23E5-9F8E-535EBB6D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1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4352D-E080-902D-3E47-3A071E87C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4802B-9DB5-314B-50F5-A6E874548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B3F54-28DD-BF39-06DC-A127F7DE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EFD2-1000-0A47-9BC6-05B5E739EF5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D25A7-743F-2811-D98F-B29A14CF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90AA4-742F-9921-8E36-E022272D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EB80C-689D-33FF-5263-FE00410D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2F2C3-1AF9-A5EE-5F64-69067F287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EED86-59CB-1473-546E-15D84CB39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032B-CEBF-B84E-B300-D23E37A281E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841D6-F077-BE3B-7837-8A676CC49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A9EA-5298-7E99-D2C8-ADB278F80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64884-C896-3142-9CC1-37DF6274D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2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NULL"/><Relationship Id="rId5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20.png"/><Relationship Id="rId5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50.png"/><Relationship Id="rId5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80.png"/><Relationship Id="rId5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12F1-4208-B9C5-94BA-7D734BD67F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</a:t>
            </a:r>
            <a:r>
              <a:rPr lang="en-US" dirty="0" err="1"/>
              <a:t>Thoery</a:t>
            </a:r>
            <a:br>
              <a:rPr lang="en-US" dirty="0"/>
            </a:br>
            <a:r>
              <a:rPr lang="en-US" sz="2800" dirty="0"/>
              <a:t>“What number-theoretic facts make public-key cryptography possible?”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A760-CDA6-C9C0-5CED-842201AE0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CF0E-E16B-EF79-F544-E7D44C5F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4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40CF-57F1-89A1-B7F8-240419DF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F661-666E-DE1B-F25B-AA93CB640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  <a:p>
            <a:pPr lvl="1"/>
            <a:r>
              <a:rPr lang="en-US" dirty="0"/>
              <a:t>Extended Euclidean Algorithm (EEA)</a:t>
            </a:r>
          </a:p>
          <a:p>
            <a:r>
              <a:rPr lang="en-US" dirty="0"/>
              <a:t>Prime numbers</a:t>
            </a:r>
          </a:p>
          <a:p>
            <a:r>
              <a:rPr lang="en-US" dirty="0"/>
              <a:t>Fermat’s theorem</a:t>
            </a:r>
          </a:p>
          <a:p>
            <a:r>
              <a:rPr lang="en-US" dirty="0"/>
              <a:t>Euler’s function</a:t>
            </a:r>
          </a:p>
          <a:p>
            <a:r>
              <a:rPr lang="en-US" dirty="0"/>
              <a:t>Euler’s theorem</a:t>
            </a:r>
          </a:p>
          <a:p>
            <a:r>
              <a:rPr lang="en-US" dirty="0"/>
              <a:t>Chinese remainder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E95BB-8E60-FEA0-0BE9-ACA5D8C8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1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D991-2CC4-4493-B6DD-8EEDCE05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Euclidean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7576-E48C-497E-8A67-D9FEB4419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448534"/>
              </a:xfrm>
            </p:spPr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i="1" u="sng" dirty="0">
                    <a:solidFill>
                      <a:schemeClr val="tx1"/>
                    </a:solidFill>
                  </a:rPr>
                  <a:t>Question: Find the inverse of 15 mod 26.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the step 0 and step 1, the value of this number is given: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the remainder of the steps, we recursively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. Continue this calculation for one step beyond the last step of the Euclidean algorithm.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The algorithm starts by "dividing"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by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. If the last non-zero remainder occurs at step k, then if this remainder is 1, x has an inverse, and it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We can find that the inverse of 15 mod 26 is 7.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15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01168" lvl="1" indent="0">
                  <a:buNone/>
                </a:pPr>
                <a:endParaRPr lang="en-US" sz="2000" dirty="0"/>
              </a:p>
              <a:p>
                <a:pPr marL="201168" lvl="1" indent="0">
                  <a:buNone/>
                </a:pPr>
                <a:endParaRPr lang="en-US" sz="2000" dirty="0"/>
              </a:p>
              <a:p>
                <a:pPr marL="201168" lvl="1" indent="0">
                  <a:buNone/>
                </a:pPr>
                <a:endParaRPr lang="en-US" sz="2000" dirty="0"/>
              </a:p>
              <a:p>
                <a:pPr marL="201168" lvl="1" indent="0">
                  <a:buNone/>
                </a:pPr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7576-E48C-497E-8A67-D9FEB4419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448534"/>
              </a:xfrm>
              <a:blipFill>
                <a:blip r:embed="rId5"/>
                <a:stretch>
                  <a:fillRect t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450E1A-53B0-47C2-AEF1-A4A448B96119}"/>
                  </a:ext>
                </a:extLst>
              </p:cNvPr>
              <p:cNvSpPr txBox="1"/>
              <p:nvPr/>
            </p:nvSpPr>
            <p:spPr>
              <a:xfrm>
                <a:off x="1272210" y="3632809"/>
                <a:ext cx="3441834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01168" lvl="1" indent="0">
                  <a:buNone/>
                </a:pPr>
                <a:r>
                  <a:rPr lang="en-US" sz="2000" dirty="0"/>
                  <a:t>Step 0: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en-US" sz="2000" dirty="0"/>
              </a:p>
              <a:p>
                <a:pPr marL="201168" lvl="1" indent="0">
                  <a:buNone/>
                </a:pPr>
                <a:r>
                  <a:rPr lang="en-US" sz="2000" dirty="0"/>
                  <a:t>Step 1: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dirty="0"/>
              </a:p>
              <a:p>
                <a:pPr marL="201168" lvl="1" indent="0">
                  <a:buNone/>
                </a:pPr>
                <a:r>
                  <a:rPr lang="en-US" sz="2000" dirty="0"/>
                  <a:t>Step 2: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 marL="201168" lvl="1" indent="0">
                  <a:buNone/>
                </a:pPr>
                <a:r>
                  <a:rPr lang="en-US" sz="2000" dirty="0"/>
                  <a:t>Step 3: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201168" lvl="1" indent="0">
                  <a:buNone/>
                </a:pPr>
                <a:r>
                  <a:rPr lang="en-US" sz="2000" dirty="0"/>
                  <a:t>Step 4: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450E1A-53B0-47C2-AEF1-A4A448B9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10" y="3632809"/>
                <a:ext cx="3441834" cy="1908215"/>
              </a:xfrm>
              <a:prstGeom prst="rect">
                <a:avLst/>
              </a:prstGeom>
              <a:blipFill>
                <a:blip r:embed="rId6"/>
                <a:stretch>
                  <a:fillRect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876092-6E8D-4E1F-B278-C7057FEBF9C1}"/>
                  </a:ext>
                </a:extLst>
              </p:cNvPr>
              <p:cNvSpPr txBox="1"/>
              <p:nvPr/>
            </p:nvSpPr>
            <p:spPr>
              <a:xfrm>
                <a:off x="5810179" y="3550980"/>
                <a:ext cx="552043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21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876092-6E8D-4E1F-B278-C7057FEB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179" y="3550980"/>
                <a:ext cx="5520432" cy="31393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9CE5-4844-46B6-BCA7-09EC5F3E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68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397"/>
    </mc:Choice>
    <mc:Fallback xmlns="">
      <p:transition spd="slow" advTm="4133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A20A-41AE-DC18-0821-4FCAEC28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EEA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2AAF-8FDD-E24A-3465-86AA53D91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Q:    Find the inverse of 17 mod 72.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48FBA7-16FB-6390-671D-9E07F6FBD524}"/>
                  </a:ext>
                </a:extLst>
              </p:cNvPr>
              <p:cNvSpPr txBox="1"/>
              <p:nvPr/>
            </p:nvSpPr>
            <p:spPr>
              <a:xfrm>
                <a:off x="1415480" y="2726076"/>
                <a:ext cx="3441834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01168" lvl="1" indent="0">
                  <a:buNone/>
                </a:pPr>
                <a:r>
                  <a:rPr lang="en-US" sz="2000" dirty="0"/>
                  <a:t>Step 0: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dirty="0"/>
              </a:p>
              <a:p>
                <a:pPr marL="201168" lvl="1" indent="0">
                  <a:buNone/>
                </a:pPr>
                <a:r>
                  <a:rPr lang="en-US" sz="2000" dirty="0"/>
                  <a:t>Step 1: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/>
              </a:p>
              <a:p>
                <a:pPr marL="201168" lvl="1" indent="0">
                  <a:buNone/>
                </a:pPr>
                <a:r>
                  <a:rPr lang="en-US" sz="2000" dirty="0"/>
                  <a:t>Step 2: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48FBA7-16FB-6390-671D-9E07F6FB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2726076"/>
                <a:ext cx="3441834" cy="1292662"/>
              </a:xfrm>
              <a:prstGeom prst="rect">
                <a:avLst/>
              </a:prstGeom>
              <a:blipFill>
                <a:blip r:embed="rId5"/>
                <a:stretch>
                  <a:fillRect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E0BFE7-8B0D-DDFD-07AF-9F15EE505010}"/>
                  </a:ext>
                </a:extLst>
              </p:cNvPr>
              <p:cNvSpPr txBox="1"/>
              <p:nvPr/>
            </p:nvSpPr>
            <p:spPr>
              <a:xfrm>
                <a:off x="5953449" y="2644247"/>
                <a:ext cx="552043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68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- 271 = -4 * 72 + 17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E0BFE7-8B0D-DDFD-07AF-9F15EE505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449" y="2644247"/>
                <a:ext cx="5520432" cy="2585323"/>
              </a:xfrm>
              <a:prstGeom prst="rect">
                <a:avLst/>
              </a:prstGeom>
              <a:blipFill>
                <a:blip r:embed="rId6"/>
                <a:stretch>
                  <a:fillRect l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726E4-1AED-9902-D74B-A58B528A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293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858"/>
    </mc:Choice>
    <mc:Fallback xmlns="">
      <p:transition spd="slow" advTm="4148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EDFE-87A3-5F0B-C2E9-816DA3DC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16588-1A3C-B5DE-6F40-2E4DF6D50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prime</a:t>
                </a:r>
                <a:r>
                  <a:rPr lang="en-US" dirty="0"/>
                  <a:t> if its only positive divisors are: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If an integer greater than 1 is not prime, it is called </a:t>
                </a:r>
                <a:r>
                  <a:rPr lang="en-US" b="1" dirty="0"/>
                  <a:t>composite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Every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can be written uniquely (up to ordering) as: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sup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where: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prime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a positive integer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16588-1A3C-B5DE-6F40-2E4DF6D50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b="-8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7000F-CBA3-3E03-41BC-7A259459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6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2C4F-C357-5AF9-E85B-C37FE8F8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Do </a:t>
            </a:r>
            <a:r>
              <a:rPr lang="en-US" i="1" dirty="0"/>
              <a:t>Not</a:t>
            </a:r>
            <a:r>
              <a:rPr lang="en-US" dirty="0"/>
              <a:t> Do With Primes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CB47B-20F4-B53E-0FC0-7E4E76F5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Cryptography Does </a:t>
            </a:r>
            <a:r>
              <a:rPr lang="en-US" i="1" dirty="0"/>
              <a:t>Not</a:t>
            </a:r>
            <a:r>
              <a:rPr lang="en-US" dirty="0"/>
              <a:t> Rely On</a:t>
            </a:r>
          </a:p>
          <a:p>
            <a:pPr lvl="1"/>
            <a:r>
              <a:rPr lang="en-US" dirty="0"/>
              <a:t>Listing all primes</a:t>
            </a:r>
          </a:p>
          <a:p>
            <a:pPr lvl="1"/>
            <a:r>
              <a:rPr lang="en-US" dirty="0"/>
              <a:t>Memorizing prime tables</a:t>
            </a:r>
          </a:p>
          <a:p>
            <a:pPr lvl="1"/>
            <a:r>
              <a:rPr lang="en-US" dirty="0"/>
              <a:t>Factoring by hand</a:t>
            </a:r>
          </a:p>
          <a:p>
            <a:endParaRPr lang="en-US" dirty="0"/>
          </a:p>
          <a:p>
            <a:r>
              <a:rPr lang="en-US" dirty="0"/>
              <a:t>What It </a:t>
            </a:r>
            <a:r>
              <a:rPr lang="en-US" i="1" dirty="0"/>
              <a:t>Does</a:t>
            </a:r>
            <a:r>
              <a:rPr lang="en-US" dirty="0"/>
              <a:t> Rely On</a:t>
            </a:r>
          </a:p>
          <a:p>
            <a:pPr lvl="1"/>
            <a:r>
              <a:rPr lang="en-US" dirty="0"/>
              <a:t>Testing primality efficiently</a:t>
            </a:r>
          </a:p>
          <a:p>
            <a:pPr lvl="1"/>
            <a:r>
              <a:rPr lang="en-US" dirty="0"/>
              <a:t>Using primes as secret structure</a:t>
            </a:r>
          </a:p>
          <a:p>
            <a:pPr lvl="1"/>
            <a:r>
              <a:rPr lang="en-US" dirty="0"/>
              <a:t>Avoiding efficient factorization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7EE01-C8D4-2658-71D9-95415348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Fermat’s Little Theorem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38401" y="1905001"/>
                <a:ext cx="7570787" cy="4638675"/>
              </a:xfrm>
            </p:spPr>
            <p:txBody>
              <a:bodyPr rtlCol="0">
                <a:normAutofit/>
              </a:bodyPr>
              <a:lstStyle/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Fermat’s Little Theorem</a:t>
                </a:r>
                <a:r>
                  <a:rPr lang="en-AU" dirty="0">
                    <a:ea typeface="+mn-ea"/>
                    <a:cs typeface="+mn-cs"/>
                  </a:rPr>
                  <a:t>:</a:t>
                </a:r>
              </a:p>
              <a:p>
                <a:pPr lvl="1">
                  <a:buFont typeface="Candara" pitchFamily="34" charset="0"/>
                  <a:buChar char="•"/>
                  <a:defRPr/>
                </a:pPr>
                <a:r>
                  <a:rPr lang="en-AU" dirty="0">
                    <a:ea typeface="+mn-ea"/>
                  </a:rPr>
                  <a:t>If </a:t>
                </a:r>
                <a:r>
                  <a:rPr lang="en-AU" i="1" dirty="0">
                    <a:ea typeface="+mn-ea"/>
                  </a:rPr>
                  <a:t>p </a:t>
                </a:r>
                <a:r>
                  <a:rPr lang="en-AU" dirty="0">
                    <a:ea typeface="+mn-ea"/>
                  </a:rPr>
                  <a:t>is prime and </a:t>
                </a:r>
                <a:r>
                  <a:rPr lang="en-AU" i="1" dirty="0">
                    <a:ea typeface="+mn-ea"/>
                  </a:rPr>
                  <a:t>a </a:t>
                </a:r>
                <a:r>
                  <a:rPr lang="en-AU" dirty="0">
                    <a:ea typeface="+mn-ea"/>
                  </a:rPr>
                  <a:t>is a positive integer not divisible by </a:t>
                </a:r>
                <a:r>
                  <a:rPr lang="en-AU" i="1" dirty="0">
                    <a:ea typeface="+mn-ea"/>
                  </a:rPr>
                  <a:t>p </a:t>
                </a:r>
                <a:r>
                  <a:rPr lang="en-AU" dirty="0">
                    <a:ea typeface="+mn-ea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>
                    <a:ea typeface="+mn-ea"/>
                  </a:rPr>
                  <a:t>)</a:t>
                </a:r>
                <a:r>
                  <a:rPr lang="en-AU" i="1" dirty="0">
                    <a:ea typeface="+mn-ea"/>
                  </a:rPr>
                  <a:t> </a:t>
                </a:r>
                <a:r>
                  <a:rPr lang="en-AU" dirty="0">
                    <a:ea typeface="+mn-ea"/>
                  </a:rPr>
                  <a:t>then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  <a:defRPr/>
                </a:pPr>
                <a:r>
                  <a:rPr lang="en-AU" dirty="0">
                    <a:ea typeface="+mn-ea"/>
                    <a:cs typeface="+mn-cs"/>
                  </a:rPr>
                  <a:t>			a</a:t>
                </a:r>
                <a:r>
                  <a:rPr lang="en-AU" baseline="30000" dirty="0">
                    <a:ea typeface="+mn-ea"/>
                    <a:cs typeface="+mn-cs"/>
                  </a:rPr>
                  <a:t>p-1</a:t>
                </a:r>
                <a:r>
                  <a:rPr lang="en-AU" dirty="0">
                    <a:ea typeface="+mn-ea"/>
                    <a:cs typeface="+mn-cs"/>
                  </a:rPr>
                  <a:t> = 1 (mod </a:t>
                </a:r>
                <a:r>
                  <a:rPr lang="en-AU" i="1" dirty="0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)</a:t>
                </a:r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dirty="0"/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dirty="0"/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Equivalently</a:t>
                </a:r>
                <a:r>
                  <a:rPr lang="en-US" dirty="0">
                    <a:ea typeface="+mn-ea"/>
                    <a:cs typeface="+mn-cs"/>
                  </a:rPr>
                  <a:t>: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  <a:defRPr/>
                </a:pPr>
                <a:r>
                  <a:rPr lang="en-US" dirty="0">
                    <a:ea typeface="+mn-ea"/>
                    <a:cs typeface="+mn-cs"/>
                  </a:rPr>
                  <a:t>			 </a:t>
                </a:r>
                <a:r>
                  <a:rPr lang="en-AU" i="1" dirty="0">
                    <a:ea typeface="+mn-ea"/>
                    <a:cs typeface="+mn-cs"/>
                  </a:rPr>
                  <a:t>a</a:t>
                </a:r>
                <a:r>
                  <a:rPr lang="en-AU" baseline="30000" dirty="0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 = </a:t>
                </a:r>
                <a:r>
                  <a:rPr lang="en-AU" i="1" dirty="0">
                    <a:ea typeface="+mn-ea"/>
                    <a:cs typeface="+mn-cs"/>
                  </a:rPr>
                  <a:t>a</a:t>
                </a:r>
                <a:r>
                  <a:rPr lang="en-AU" dirty="0">
                    <a:ea typeface="+mn-ea"/>
                    <a:cs typeface="+mn-cs"/>
                  </a:rPr>
                  <a:t> (mod </a:t>
                </a:r>
                <a:r>
                  <a:rPr lang="en-AU" i="1" dirty="0" err="1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)</a:t>
                </a:r>
                <a:endParaRPr lang="en-US" dirty="0"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8401" y="1905001"/>
                <a:ext cx="7570787" cy="4638675"/>
              </a:xfrm>
              <a:blipFill>
                <a:blip r:embed="rId5"/>
                <a:stretch>
                  <a:fillRect l="-1843" t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2238F-DA54-24A8-6A52-09832E6A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061"/>
    </mc:Choice>
    <mc:Fallback xmlns="">
      <p:transition spd="slow" advTm="29106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7E8D-854A-C97A-A47B-07FE6DD5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ADBC93-677B-2C71-10CE-8345C6E1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Fermat’s Little Theorem (cont.)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9" name="Rectangle 3">
                <a:extLst>
                  <a:ext uri="{FF2B5EF4-FFF2-40B4-BE49-F238E27FC236}">
                    <a16:creationId xmlns:a16="http://schemas.microsoft.com/office/drawing/2014/main" id="{2AC7D33A-0F7B-AF6D-4B4C-C9C78CE50F0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38401" y="1905001"/>
                <a:ext cx="7570787" cy="4638675"/>
              </a:xfrm>
            </p:spPr>
            <p:txBody>
              <a:bodyPr rtlCol="0">
                <a:normAutofit/>
              </a:bodyPr>
              <a:lstStyle/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Fermat’s Little Theorem</a:t>
                </a:r>
                <a:r>
                  <a:rPr lang="en-AU" dirty="0">
                    <a:ea typeface="+mn-ea"/>
                    <a:cs typeface="+mn-cs"/>
                  </a:rPr>
                  <a:t>:</a:t>
                </a:r>
              </a:p>
              <a:p>
                <a:pPr lvl="1">
                  <a:buFont typeface="Candara" pitchFamily="34" charset="0"/>
                  <a:buChar char="•"/>
                  <a:defRPr/>
                </a:pPr>
                <a:r>
                  <a:rPr lang="en-AU" dirty="0">
                    <a:ea typeface="+mn-ea"/>
                  </a:rPr>
                  <a:t>If </a:t>
                </a:r>
                <a:r>
                  <a:rPr lang="en-AU" i="1" dirty="0">
                    <a:ea typeface="+mn-ea"/>
                  </a:rPr>
                  <a:t>p </a:t>
                </a:r>
                <a:r>
                  <a:rPr lang="en-AU" dirty="0">
                    <a:ea typeface="+mn-ea"/>
                  </a:rPr>
                  <a:t>is prime and </a:t>
                </a:r>
                <a:r>
                  <a:rPr lang="en-AU" i="1" dirty="0">
                    <a:ea typeface="+mn-ea"/>
                  </a:rPr>
                  <a:t>a </a:t>
                </a:r>
                <a:r>
                  <a:rPr lang="en-AU" dirty="0">
                    <a:ea typeface="+mn-ea"/>
                  </a:rPr>
                  <a:t>is a positive integer not divisible by </a:t>
                </a:r>
                <a:r>
                  <a:rPr lang="en-AU" i="1" dirty="0">
                    <a:ea typeface="+mn-ea"/>
                  </a:rPr>
                  <a:t>p </a:t>
                </a:r>
                <a:r>
                  <a:rPr lang="en-AU" dirty="0">
                    <a:ea typeface="+mn-ea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>
                    <a:ea typeface="+mn-ea"/>
                  </a:rPr>
                  <a:t>)</a:t>
                </a:r>
                <a:r>
                  <a:rPr lang="en-AU" i="1" dirty="0">
                    <a:ea typeface="+mn-ea"/>
                  </a:rPr>
                  <a:t> </a:t>
                </a:r>
                <a:r>
                  <a:rPr lang="en-AU" dirty="0">
                    <a:ea typeface="+mn-ea"/>
                  </a:rPr>
                  <a:t>then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  <a:defRPr/>
                </a:pPr>
                <a:r>
                  <a:rPr lang="en-AU" dirty="0">
                    <a:ea typeface="+mn-ea"/>
                    <a:cs typeface="+mn-cs"/>
                  </a:rPr>
                  <a:t>			a</a:t>
                </a:r>
                <a:r>
                  <a:rPr lang="en-AU" baseline="30000" dirty="0">
                    <a:ea typeface="+mn-ea"/>
                    <a:cs typeface="+mn-cs"/>
                  </a:rPr>
                  <a:t>p-1</a:t>
                </a:r>
                <a:r>
                  <a:rPr lang="en-AU" dirty="0">
                    <a:ea typeface="+mn-ea"/>
                    <a:cs typeface="+mn-cs"/>
                  </a:rPr>
                  <a:t> = 1 (mod </a:t>
                </a:r>
                <a:r>
                  <a:rPr lang="en-AU" i="1" dirty="0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)</a:t>
                </a:r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dirty="0"/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endParaRPr lang="en-US" dirty="0"/>
              </a:p>
              <a:p>
                <a:pPr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/>
                  <a:t>Equivalently</a:t>
                </a:r>
                <a:r>
                  <a:rPr lang="en-US" dirty="0">
                    <a:ea typeface="+mn-ea"/>
                    <a:cs typeface="+mn-cs"/>
                  </a:rPr>
                  <a:t>: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  <a:defRPr/>
                </a:pPr>
                <a:r>
                  <a:rPr lang="en-US" dirty="0">
                    <a:ea typeface="+mn-ea"/>
                    <a:cs typeface="+mn-cs"/>
                  </a:rPr>
                  <a:t>			 </a:t>
                </a:r>
                <a:r>
                  <a:rPr lang="en-AU" i="1" dirty="0">
                    <a:ea typeface="+mn-ea"/>
                    <a:cs typeface="+mn-cs"/>
                  </a:rPr>
                  <a:t>a</a:t>
                </a:r>
                <a:r>
                  <a:rPr lang="en-AU" baseline="30000" dirty="0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 = </a:t>
                </a:r>
                <a:r>
                  <a:rPr lang="en-AU" i="1" dirty="0">
                    <a:ea typeface="+mn-ea"/>
                    <a:cs typeface="+mn-cs"/>
                  </a:rPr>
                  <a:t>a</a:t>
                </a:r>
                <a:r>
                  <a:rPr lang="en-AU" dirty="0">
                    <a:ea typeface="+mn-ea"/>
                    <a:cs typeface="+mn-cs"/>
                  </a:rPr>
                  <a:t> (mod </a:t>
                </a:r>
                <a:r>
                  <a:rPr lang="en-AU" i="1" dirty="0" err="1">
                    <a:ea typeface="+mn-ea"/>
                    <a:cs typeface="+mn-cs"/>
                  </a:rPr>
                  <a:t>p</a:t>
                </a:r>
                <a:r>
                  <a:rPr lang="en-AU" dirty="0">
                    <a:ea typeface="+mn-ea"/>
                    <a:cs typeface="+mn-cs"/>
                  </a:rPr>
                  <a:t>)</a:t>
                </a:r>
                <a:endParaRPr lang="en-US" dirty="0"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179" name="Rectangle 3">
                <a:extLst>
                  <a:ext uri="{FF2B5EF4-FFF2-40B4-BE49-F238E27FC236}">
                    <a16:creationId xmlns:a16="http://schemas.microsoft.com/office/drawing/2014/main" id="{2AC7D33A-0F7B-AF6D-4B4C-C9C78CE50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8401" y="1905001"/>
                <a:ext cx="7570787" cy="4638675"/>
              </a:xfrm>
              <a:blipFill>
                <a:blip r:embed="rId3"/>
                <a:stretch>
                  <a:fillRect l="-1843" t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F17A28-8382-13A9-8C27-59C36B8C976D}"/>
              </a:ext>
            </a:extLst>
          </p:cNvPr>
          <p:cNvSpPr/>
          <p:nvPr/>
        </p:nvSpPr>
        <p:spPr>
          <a:xfrm>
            <a:off x="7020911" y="3429000"/>
            <a:ext cx="4960883" cy="30638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Why This Matters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Explains regularity in modular exponentiation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Foundation for primality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in cryptographic proofs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F9B3E-F1C6-2B31-8191-A318A398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5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061"/>
    </mc:Choice>
    <mc:Fallback xmlns="">
      <p:transition spd="slow" advTm="2910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6DCF-C7A9-26DD-0E3B-3CC33B26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Euler’s Totient Function </a:t>
            </a:r>
            <a:r>
              <a:rPr lang="en-AU" i="1" dirty="0" err="1"/>
              <a:t>ø</a:t>
            </a:r>
            <a:r>
              <a:rPr lang="en-AU" i="1" dirty="0"/>
              <a:t>(n)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8E01A-1126-66A4-E2C9-EBBD910E4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Euler’s Totient Function:</a:t>
                </a:r>
              </a:p>
              <a:p>
                <a:r>
                  <a:rPr lang="en-US" i="1" dirty="0"/>
                  <a:t>The number of integers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={0,1,2,…,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i="1" dirty="0"/>
                  <a:t> relatively prime to n is denoted by Φ(n).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8E01A-1126-66A4-E2C9-EBBD910E4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27" t="-2907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1DAC-6B10-9B60-6B45-D23169C7688A}"/>
                  </a:ext>
                </a:extLst>
              </p:cNvPr>
              <p:cNvSpPr txBox="1"/>
              <p:nvPr/>
            </p:nvSpPr>
            <p:spPr>
              <a:xfrm>
                <a:off x="3107448" y="3433384"/>
                <a:ext cx="51559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n=6, what is </a:t>
                </a:r>
                <a:r>
                  <a:rPr lang="el-GR" dirty="0"/>
                  <a:t>Φ(</a:t>
                </a:r>
                <a:r>
                  <a:rPr lang="en-US" dirty="0"/>
                  <a:t>n)?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={0,1,2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,3,4,5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1DAC-6B10-9B60-6B45-D23169C7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448" y="3433384"/>
                <a:ext cx="5155925" cy="646331"/>
              </a:xfrm>
              <a:prstGeom prst="rect">
                <a:avLst/>
              </a:prstGeom>
              <a:blipFill>
                <a:blip r:embed="rId6"/>
                <a:stretch>
                  <a:fillRect l="-983" t="-384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F83051F-A479-01B9-AA34-E7A4CD7D667E}"/>
              </a:ext>
            </a:extLst>
          </p:cNvPr>
          <p:cNvSpPr txBox="1"/>
          <p:nvPr/>
        </p:nvSpPr>
        <p:spPr>
          <a:xfrm>
            <a:off x="3127837" y="4079715"/>
            <a:ext cx="4204138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dirty="0" err="1"/>
              <a:t>gcd</a:t>
            </a:r>
            <a:r>
              <a:rPr lang="en-US" dirty="0"/>
              <a:t>(0,6)=6 </a:t>
            </a:r>
          </a:p>
          <a:p>
            <a:r>
              <a:rPr lang="en-US" dirty="0" err="1"/>
              <a:t>gcd</a:t>
            </a:r>
            <a:r>
              <a:rPr lang="en-US" dirty="0"/>
              <a:t>(1,6)=</a:t>
            </a:r>
          </a:p>
          <a:p>
            <a:r>
              <a:rPr lang="en-US" dirty="0" err="1"/>
              <a:t>gcd</a:t>
            </a:r>
            <a:r>
              <a:rPr lang="en-US" dirty="0"/>
              <a:t>(2,6)= </a:t>
            </a:r>
          </a:p>
          <a:p>
            <a:r>
              <a:rPr lang="en-US" dirty="0" err="1"/>
              <a:t>gcd</a:t>
            </a:r>
            <a:r>
              <a:rPr lang="en-US" dirty="0"/>
              <a:t>(3,6)= </a:t>
            </a:r>
          </a:p>
          <a:p>
            <a:r>
              <a:rPr lang="en-US" dirty="0" err="1"/>
              <a:t>gcd</a:t>
            </a:r>
            <a:r>
              <a:rPr lang="en-US" dirty="0"/>
              <a:t>(4,6)=</a:t>
            </a:r>
          </a:p>
          <a:p>
            <a:r>
              <a:rPr lang="en-US" dirty="0" err="1"/>
              <a:t>gcd</a:t>
            </a:r>
            <a:r>
              <a:rPr lang="en-US" dirty="0"/>
              <a:t>(5,6)=</a:t>
            </a:r>
          </a:p>
        </p:txBody>
      </p:sp>
      <p:sp>
        <p:nvSpPr>
          <p:cNvPr id="13" name="Arrow: Right 14">
            <a:extLst>
              <a:ext uri="{FF2B5EF4-FFF2-40B4-BE49-F238E27FC236}">
                <a16:creationId xmlns:a16="http://schemas.microsoft.com/office/drawing/2014/main" id="{D30E99BA-25E7-DEBF-C6D8-F50423E24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9771" y="4714064"/>
            <a:ext cx="809296" cy="280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3A1A5D-E345-B067-F77F-7B2D079D9058}"/>
              </a:ext>
            </a:extLst>
          </p:cNvPr>
          <p:cNvSpPr txBox="1"/>
          <p:nvPr/>
        </p:nvSpPr>
        <p:spPr>
          <a:xfrm>
            <a:off x="6014391" y="4048552"/>
            <a:ext cx="2309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numbers are relatively prime to 6, namely 1 and 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phi function takes the value 2, i.e., </a:t>
            </a:r>
            <a:r>
              <a:rPr lang="en-US" b="1" dirty="0">
                <a:solidFill>
                  <a:srgbClr val="FF0000"/>
                </a:solidFill>
              </a:rPr>
              <a:t>Φ(6) = 2</a:t>
            </a:r>
            <a:r>
              <a:rPr lang="en-US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FFC9AF-17E9-674B-2CD7-711F1D61331B}"/>
              </a:ext>
            </a:extLst>
          </p:cNvPr>
          <p:cNvSpPr txBox="1"/>
          <p:nvPr/>
        </p:nvSpPr>
        <p:spPr>
          <a:xfrm>
            <a:off x="4086901" y="4077612"/>
            <a:ext cx="836002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 </a:t>
            </a:r>
          </a:p>
          <a:p>
            <a:r>
              <a:rPr lang="en-US" dirty="0"/>
              <a:t>3 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1</a:t>
            </a:r>
          </a:p>
        </p:txBody>
      </p:sp>
      <p:sp>
        <p:nvSpPr>
          <p:cNvPr id="16" name="Rectangle: Rounded Corners 2">
            <a:extLst>
              <a:ext uri="{FF2B5EF4-FFF2-40B4-BE49-F238E27FC236}">
                <a16:creationId xmlns:a16="http://schemas.microsoft.com/office/drawing/2014/main" id="{92774631-72AE-39BF-B15A-01580CDAB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7837" y="4395026"/>
            <a:ext cx="1177158" cy="288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8">
            <a:extLst>
              <a:ext uri="{FF2B5EF4-FFF2-40B4-BE49-F238E27FC236}">
                <a16:creationId xmlns:a16="http://schemas.microsoft.com/office/drawing/2014/main" id="{DEFFBA5F-B9BA-DA58-5C2D-B99FCEBA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7837" y="5484430"/>
            <a:ext cx="1177158" cy="288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6CF552-A6FD-F969-3AC4-52FBC270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987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768"/>
    </mc:Choice>
    <mc:Fallback xmlns="">
      <p:transition spd="slow" advTm="2447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12" grpId="0" uiExpand="1" build="p"/>
      <p:bldP spid="13" grpId="0" animBg="1"/>
      <p:bldP spid="14" grpId="0" uiExpand="1" build="p"/>
      <p:bldP spid="15" grpId="0" uiExpand="1" build="p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ACE8-5BCD-3065-177D-17FA87E8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Euler’s Totient Function </a:t>
            </a:r>
            <a:r>
              <a:rPr lang="en-AU" i="1" dirty="0"/>
              <a:t>ø(n) </a:t>
            </a:r>
            <a:r>
              <a:rPr lang="en-US" dirty="0"/>
              <a:t>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10C68-BE0C-B399-DA07-677419E9D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en-US" sz="2400" b="1" i="1" dirty="0"/>
                  <a:t>Theorem: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400" dirty="0"/>
                  <a:t>Let n have the following canonical factorization,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∙…∙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sz="2400" dirty="0"/>
                  <a:t>,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400" dirty="0"/>
                  <a:t>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are distinct prime numbers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are positive integers, then </a:t>
                </a: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10C68-BE0C-B399-DA07-677419E9D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8D112F-8340-DE12-962E-2406773A389C}"/>
                  </a:ext>
                </a:extLst>
              </p:cNvPr>
              <p:cNvSpPr txBox="1"/>
              <p:nvPr/>
            </p:nvSpPr>
            <p:spPr>
              <a:xfrm>
                <a:off x="263352" y="4067780"/>
                <a:ext cx="5155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360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, what is </a:t>
                </a:r>
                <a:r>
                  <a:rPr lang="el-GR" dirty="0"/>
                  <a:t>Φ(</a:t>
                </a:r>
                <a:r>
                  <a:rPr lang="en-US" dirty="0"/>
                  <a:t>n)?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8D112F-8340-DE12-962E-2406773A3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4067780"/>
                <a:ext cx="5155925" cy="369332"/>
              </a:xfrm>
              <a:prstGeom prst="rect">
                <a:avLst/>
              </a:prstGeom>
              <a:blipFill>
                <a:blip r:embed="rId6"/>
                <a:stretch>
                  <a:fillRect l="-98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719DDD8-973F-8AFC-3C0E-E0733382EE90}"/>
                  </a:ext>
                </a:extLst>
              </p:cNvPr>
              <p:cNvSpPr/>
              <p:nvPr/>
            </p:nvSpPr>
            <p:spPr>
              <a:xfrm>
                <a:off x="21580" y="4317332"/>
                <a:ext cx="6326657" cy="25360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719DDD8-973F-8AFC-3C0E-E0733382E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" y="4317332"/>
                <a:ext cx="6326657" cy="2536079"/>
              </a:xfrm>
              <a:prstGeom prst="rect">
                <a:avLst/>
              </a:prstGeom>
              <a:blipFill>
                <a:blip r:embed="rId7"/>
                <a:stretch>
                  <a:fillRect t="-37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D370-0AE1-5354-F3DC-5CF4F3C2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239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914"/>
    </mc:Choice>
    <mc:Fallback xmlns="">
      <p:transition spd="slow" advTm="507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Euler's Theorem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2209800"/>
            <a:ext cx="7570788" cy="4419600"/>
          </a:xfrm>
        </p:spPr>
        <p:txBody>
          <a:bodyPr/>
          <a:lstStyle/>
          <a:p>
            <a:r>
              <a:rPr lang="en-AU" dirty="0"/>
              <a:t>States that for every </a:t>
            </a:r>
            <a:r>
              <a:rPr lang="en-AU" i="1" dirty="0"/>
              <a:t>a </a:t>
            </a:r>
            <a:r>
              <a:rPr lang="en-AU" dirty="0"/>
              <a:t>and </a:t>
            </a:r>
            <a:r>
              <a:rPr lang="en-AU" i="1" dirty="0" err="1"/>
              <a:t>n</a:t>
            </a:r>
            <a:r>
              <a:rPr lang="en-AU" i="1" dirty="0"/>
              <a:t> </a:t>
            </a:r>
            <a:r>
              <a:rPr lang="en-AU" dirty="0"/>
              <a:t>that are relatively prime:</a:t>
            </a:r>
          </a:p>
          <a:p>
            <a:pPr>
              <a:buFont typeface="Candara" pitchFamily="-84" charset="0"/>
              <a:buNone/>
            </a:pPr>
            <a:r>
              <a:rPr lang="en-AU" dirty="0"/>
              <a:t>			</a:t>
            </a:r>
            <a:r>
              <a:rPr lang="en-US" i="1" dirty="0">
                <a:solidFill>
                  <a:schemeClr val="tx1"/>
                </a:solidFill>
              </a:rPr>
              <a:t>a</a:t>
            </a:r>
            <a:r>
              <a:rPr lang="en-AU" baseline="30000" dirty="0" err="1"/>
              <a:t>ø</a:t>
            </a:r>
            <a:r>
              <a:rPr lang="en-US" baseline="30000" dirty="0">
                <a:solidFill>
                  <a:schemeClr val="tx1"/>
                </a:solidFill>
              </a:rPr>
              <a:t>(</a:t>
            </a:r>
            <a:r>
              <a:rPr lang="en-US" baseline="30000" dirty="0" err="1">
                <a:solidFill>
                  <a:schemeClr val="tx1"/>
                </a:solidFill>
              </a:rPr>
              <a:t>n</a:t>
            </a:r>
            <a:r>
              <a:rPr lang="en-US" baseline="30000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chemeClr val="tx1"/>
                </a:solidFill>
              </a:rPr>
              <a:t>=  1(mod </a:t>
            </a:r>
            <a:r>
              <a:rPr lang="en-US" i="1" dirty="0" err="1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/>
          </a:p>
          <a:p>
            <a:r>
              <a:rPr lang="en-US" dirty="0"/>
              <a:t>Alternatively:</a:t>
            </a:r>
          </a:p>
          <a:p>
            <a:pPr>
              <a:buFont typeface="Candara" pitchFamily="-84" charset="0"/>
              <a:buNone/>
            </a:pPr>
            <a:r>
              <a:rPr lang="en-US" dirty="0"/>
              <a:t>			</a:t>
            </a:r>
            <a:r>
              <a:rPr lang="en-US" i="1" dirty="0">
                <a:solidFill>
                  <a:schemeClr val="tx1"/>
                </a:solidFill>
              </a:rPr>
              <a:t>a</a:t>
            </a:r>
            <a:r>
              <a:rPr lang="en-AU" baseline="30000" dirty="0" err="1"/>
              <a:t>ø</a:t>
            </a:r>
            <a:r>
              <a:rPr lang="en-US" baseline="30000" dirty="0">
                <a:solidFill>
                  <a:schemeClr val="tx1"/>
                </a:solidFill>
              </a:rPr>
              <a:t>(n)+1 </a:t>
            </a:r>
            <a:r>
              <a:rPr lang="en-US" dirty="0">
                <a:solidFill>
                  <a:schemeClr val="tx1"/>
                </a:solidFill>
              </a:rPr>
              <a:t>=  </a:t>
            </a:r>
            <a:r>
              <a:rPr lang="en-US" i="1" dirty="0" err="1">
                <a:solidFill>
                  <a:schemeClr val="tx1"/>
                </a:solidFill>
              </a:rPr>
              <a:t>a</a:t>
            </a:r>
            <a:r>
              <a:rPr lang="en-US" dirty="0" err="1">
                <a:solidFill>
                  <a:schemeClr val="tx1"/>
                </a:solidFill>
              </a:rPr>
              <a:t>(mod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 err="1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dirty="0"/>
          </a:p>
          <a:p>
            <a:pPr>
              <a:buFont typeface="Candara" pitchFamily="-84" charset="0"/>
              <a:buNone/>
            </a:pPr>
            <a:endParaRPr lang="en-AU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7AB8-2785-AC8C-D2B5-C3BE71A9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914"/>
    </mc:Choice>
    <mc:Fallback xmlns="">
      <p:transition spd="slow" advTm="29591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214F-DB3D-CCC3-28B0-C9E80B71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for Primality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A7EBD-1661-BCE2-83DC-F42C66C9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challenge:</a:t>
            </a:r>
          </a:p>
          <a:p>
            <a:pPr lvl="1"/>
            <a:r>
              <a:rPr lang="en-US" dirty="0"/>
              <a:t>Large primes are easy to generate</a:t>
            </a:r>
          </a:p>
          <a:p>
            <a:pPr lvl="1"/>
            <a:r>
              <a:rPr lang="en-US" dirty="0"/>
              <a:t>Factoring large numbers is hard</a:t>
            </a:r>
          </a:p>
          <a:p>
            <a:r>
              <a:rPr lang="en-US" dirty="0"/>
              <a:t>Probabilistic Primality Testing</a:t>
            </a:r>
          </a:p>
          <a:p>
            <a:pPr lvl="1"/>
            <a:r>
              <a:rPr lang="en-US" dirty="0"/>
              <a:t>Miller–Rabin test</a:t>
            </a:r>
          </a:p>
          <a:p>
            <a:pPr lvl="1"/>
            <a:r>
              <a:rPr lang="en-US" dirty="0"/>
              <a:t>Fast and reliable in practice</a:t>
            </a:r>
          </a:p>
          <a:p>
            <a:pPr lvl="1"/>
            <a:r>
              <a:rPr lang="en-US" dirty="0"/>
              <a:t>Small probability of error</a:t>
            </a:r>
          </a:p>
          <a:p>
            <a:pPr lvl="1"/>
            <a:r>
              <a:rPr lang="en-US" b="1" u="sng" dirty="0"/>
              <a:t>Cryptography is comfortable with </a:t>
            </a:r>
            <a:r>
              <a:rPr lang="en-US" b="1" i="1" u="sng" dirty="0"/>
              <a:t>negligible probability of error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DEA91-3BF0-5653-49B6-D1DEBDBF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61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Miller-Rabin Algorithm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98376" y="1516858"/>
            <a:ext cx="8001000" cy="1981200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/>
              <a:t>T</a:t>
            </a:r>
            <a:r>
              <a:rPr lang="en-US" dirty="0">
                <a:ea typeface="+mn-ea"/>
                <a:cs typeface="+mn-cs"/>
              </a:rPr>
              <a:t>est a large number for primality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>
                <a:ea typeface="+mn-ea"/>
                <a:cs typeface="+mn-cs"/>
              </a:rPr>
              <a:t>Algorithm:</a:t>
            </a:r>
            <a:endParaRPr lang="en-AU" dirty="0">
              <a:ea typeface="+mn-ea"/>
              <a:cs typeface="+mn-cs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AU" dirty="0">
                <a:ea typeface="+mn-ea"/>
              </a:rPr>
              <a:t>TEST (</a:t>
            </a:r>
            <a:r>
              <a:rPr lang="en-AU" i="1" dirty="0">
                <a:ea typeface="+mn-ea"/>
              </a:rPr>
              <a:t>n</a:t>
            </a:r>
            <a:r>
              <a:rPr lang="en-AU" dirty="0">
                <a:ea typeface="+mn-ea"/>
              </a:rPr>
              <a:t>) </a:t>
            </a:r>
          </a:p>
          <a:p>
            <a:pPr lvl="1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AU" dirty="0">
                <a:ea typeface="+mn-ea"/>
              </a:rPr>
              <a:t>	</a:t>
            </a:r>
            <a:endParaRPr lang="en-AU" dirty="0"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91AB57-92C4-377F-622C-79F689B1C4FA}"/>
                  </a:ext>
                </a:extLst>
              </p:cNvPr>
              <p:cNvSpPr/>
              <p:nvPr/>
            </p:nvSpPr>
            <p:spPr>
              <a:xfrm>
                <a:off x="838200" y="3005959"/>
                <a:ext cx="6645166" cy="331075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Compute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and odd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such that: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Choose a random base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b="1" dirty="0"/>
                  <a:t>if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baseline="30000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dirty="0"/>
                  <a:t>then</a:t>
                </a:r>
                <a:r>
                  <a:rPr lang="en-AU" sz="2400" dirty="0"/>
                  <a:t> return (“</a:t>
                </a:r>
                <a:r>
                  <a:rPr lang="en-US" sz="2400" dirty="0"/>
                  <a:t>inconclusive</a:t>
                </a:r>
                <a:r>
                  <a:rPr lang="en-AU" sz="2400" dirty="0"/>
                  <a:t>") </a:t>
                </a:r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 for j = 0 to k – 1 do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AU" sz="2400" b="1" dirty="0"/>
                  <a:t>if</a:t>
                </a:r>
                <a:r>
                  <a:rPr lang="en-AU" sz="2400" dirty="0"/>
                  <a:t> </a:t>
                </a:r>
                <a:r>
                  <a:rPr lang="en-AU" sz="2400" i="1" dirty="0"/>
                  <a:t>(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AU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sz="2400" i="1" dirty="0"/>
                  <a:t>) </a:t>
                </a:r>
                <a:r>
                  <a:rPr lang="en-AU" sz="2400" b="1" dirty="0"/>
                  <a:t>then</a:t>
                </a:r>
                <a:r>
                  <a:rPr lang="en-AU" sz="2400" dirty="0"/>
                  <a:t> return (“</a:t>
                </a:r>
                <a:r>
                  <a:rPr lang="en-US" sz="2400" dirty="0"/>
                  <a:t>inconclusive</a:t>
                </a:r>
                <a:r>
                  <a:rPr lang="en-AU" sz="2400" dirty="0"/>
                  <a:t>") 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/>
                  <a:t>return (“composite") ;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91AB57-92C4-377F-622C-79F689B1C4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05959"/>
                <a:ext cx="6645166" cy="3310758"/>
              </a:xfrm>
              <a:prstGeom prst="rect">
                <a:avLst/>
              </a:prstGeom>
              <a:blipFill>
                <a:blip r:embed="rId13"/>
                <a:stretch>
                  <a:fillRect l="-1333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1207A-7781-D8DA-A62E-158B944D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365"/>
    </mc:Choice>
    <mc:Fallback xmlns="">
      <p:transition spd="slow" advTm="59336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828800"/>
            <a:ext cx="7570788" cy="2819400"/>
          </a:xfrm>
        </p:spPr>
        <p:txBody>
          <a:bodyPr rtlCol="0">
            <a:normAutofit/>
          </a:bodyPr>
          <a:lstStyle/>
          <a:p>
            <a:r>
              <a:rPr lang="en-US" dirty="0"/>
              <a:t>If:</a:t>
            </a:r>
          </a:p>
          <a:p>
            <a:pPr lvl="1"/>
            <a:r>
              <a:rPr lang="en-US" dirty="0"/>
              <a:t>moduli are pairwise relatively prime</a:t>
            </a:r>
          </a:p>
          <a:p>
            <a:r>
              <a:rPr lang="en-US" dirty="0"/>
              <a:t>Then:</a:t>
            </a:r>
          </a:p>
          <a:p>
            <a:pPr lvl="1"/>
            <a:r>
              <a:rPr lang="en-US" dirty="0"/>
              <a:t>a system of congruences has a </a:t>
            </a:r>
            <a:r>
              <a:rPr lang="en-US" b="1" dirty="0"/>
              <a:t>unique solution modulo their product</a:t>
            </a:r>
            <a:endParaRPr lang="en-US" dirty="0"/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AU" dirty="0">
              <a:ea typeface="+mn-ea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6790500-588A-B5F9-2AA2-36345E69ECF5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Chinese Remainder Theorem (CRT)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9CF74B-DD5A-C7F5-BE6F-53F699A7D06F}"/>
              </a:ext>
            </a:extLst>
          </p:cNvPr>
          <p:cNvSpPr/>
          <p:nvPr/>
        </p:nvSpPr>
        <p:spPr>
          <a:xfrm>
            <a:off x="2837794" y="4035971"/>
            <a:ext cx="5707118" cy="249357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Why CRT Is Important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Breaks large problems into smaller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efficient computation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in cryptographic implementations</a:t>
            </a:r>
          </a:p>
          <a:p>
            <a:pPr lvl="0"/>
            <a:endParaRPr lang="en-AU" dirty="0">
              <a:ea typeface="+mn-ea"/>
            </a:endParaRPr>
          </a:p>
          <a:p>
            <a:pPr lvl="0"/>
            <a:r>
              <a:rPr lang="en-AU" dirty="0">
                <a:ea typeface="+mn-ea"/>
              </a:rPr>
              <a:t>This can be useful when </a:t>
            </a:r>
            <a:r>
              <a:rPr lang="en-AU" i="1" dirty="0">
                <a:ea typeface="+mn-ea"/>
              </a:rPr>
              <a:t>M </a:t>
            </a:r>
            <a:r>
              <a:rPr lang="en-AU" dirty="0">
                <a:ea typeface="+mn-ea"/>
              </a:rPr>
              <a:t>is 150 digits or more. However, it is necessary to know beforehand the factorization of </a:t>
            </a:r>
            <a:r>
              <a:rPr lang="en-AU" i="1" dirty="0">
                <a:ea typeface="+mn-ea"/>
              </a:rPr>
              <a:t>M.</a:t>
            </a:r>
            <a:endParaRPr lang="en-AU" dirty="0">
              <a:ea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AE850-E257-F986-EF77-413ECCC3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072"/>
    </mc:Choice>
    <mc:Fallback xmlns="">
      <p:transition spd="slow" advTm="52307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027C-9A68-3E1A-5617-4F81DD13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B53B2-B298-382A-517C-9158C80AE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Primes are the building blocks of integers</a:t>
            </a:r>
          </a:p>
          <a:p>
            <a:r>
              <a:rPr lang="en-US" dirty="0"/>
              <a:t>Factoring is hard; primality testing is easy</a:t>
            </a:r>
          </a:p>
          <a:p>
            <a:r>
              <a:rPr lang="en-US" dirty="0"/>
              <a:t>Fermat’s and Euler’s theorems explain modular regularities</a:t>
            </a:r>
          </a:p>
          <a:p>
            <a:r>
              <a:rPr lang="en-US" dirty="0"/>
              <a:t>Euler’s totient function measures invertibility</a:t>
            </a:r>
          </a:p>
          <a:p>
            <a:r>
              <a:rPr lang="en-US" dirty="0"/>
              <a:t>CRT enables efficient modular computation</a:t>
            </a:r>
          </a:p>
          <a:p>
            <a:r>
              <a:rPr lang="en-US" dirty="0"/>
              <a:t>These results power public-key cryptography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21CE0-554B-E6FB-CA84-FE2054F3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64884-C896-3142-9CC1-37DF6274DA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57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144.3|18.6|12.3|5.9|3.1|5.9|28.5|10|35.8|39.9|23.2|25.1|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9|23.2|7.4|36.7|0.6|8.6|39.1|2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3|121.8|9.2|23.1|4.9|2.2|1.5|2.3|0.9|1.5|1|1.3|1.9|1.4|2.3|1.1|7.8|2.1|1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6|100.8|2|37.5|40.5|9|3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A2E4C3-B763-4AAD-AEAF-281E89CF4B38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1145</Words>
  <Application>Microsoft Office PowerPoint</Application>
  <PresentationFormat>Widescreen</PresentationFormat>
  <Paragraphs>197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Candara</vt:lpstr>
      <vt:lpstr>Courier New</vt:lpstr>
      <vt:lpstr>Wingdings</vt:lpstr>
      <vt:lpstr>Office Theme</vt:lpstr>
      <vt:lpstr>Number Thoery “What number-theoretic facts make public-key cryptography possible?”</vt:lpstr>
      <vt:lpstr>Outline</vt:lpstr>
      <vt:lpstr>Extended Euclidean Algorithm</vt:lpstr>
      <vt:lpstr>EEA Practice</vt:lpstr>
      <vt:lpstr>Prime Numbers</vt:lpstr>
      <vt:lpstr>What We Do Not Do With Primes</vt:lpstr>
      <vt:lpstr>Fermat’s Little Theorem</vt:lpstr>
      <vt:lpstr>Fermat’s Little Theorem (cont.)</vt:lpstr>
      <vt:lpstr>Euler’s Totient Function ø(n)</vt:lpstr>
      <vt:lpstr>Euler’s Totient Function ø(n) (cont.)</vt:lpstr>
      <vt:lpstr>Euler's Theorem</vt:lpstr>
      <vt:lpstr>Testing for Primality</vt:lpstr>
      <vt:lpstr>Miller-Rabin Algorithm</vt:lpstr>
      <vt:lpstr>Chinese Remainder Theorem (CRT)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7</cp:revision>
  <dcterms:created xsi:type="dcterms:W3CDTF">2026-01-21T16:18:54Z</dcterms:created>
  <dcterms:modified xsi:type="dcterms:W3CDTF">2026-04-20T15:51:16Z</dcterms:modified>
</cp:coreProperties>
</file>