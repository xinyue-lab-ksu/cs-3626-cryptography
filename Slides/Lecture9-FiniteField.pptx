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422" r:id="rId3"/>
    <p:sldId id="423" r:id="rId4"/>
    <p:sldId id="424" r:id="rId5"/>
    <p:sldId id="257" r:id="rId6"/>
    <p:sldId id="425" r:id="rId7"/>
    <p:sldId id="426" r:id="rId8"/>
    <p:sldId id="428" r:id="rId9"/>
    <p:sldId id="427" r:id="rId10"/>
    <p:sldId id="431" r:id="rId11"/>
    <p:sldId id="430" r:id="rId12"/>
    <p:sldId id="432" r:id="rId13"/>
    <p:sldId id="433" r:id="rId14"/>
    <p:sldId id="435" r:id="rId15"/>
    <p:sldId id="436" r:id="rId16"/>
    <p:sldId id="434" r:id="rId17"/>
    <p:sldId id="4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4" autoAdjust="0"/>
    <p:restoredTop sz="84867" autoAdjust="0"/>
  </p:normalViewPr>
  <p:slideViewPr>
    <p:cSldViewPr snapToGrid="0">
      <p:cViewPr varScale="1">
        <p:scale>
          <a:sx n="94" d="100"/>
          <a:sy n="94" d="100"/>
        </p:scale>
        <p:origin x="108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89B2B-697F-E547-8E68-6E35E537568B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2347F-893A-6242-B314-2E768F34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8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21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10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53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To construct the field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𝐺𝐹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(2^𝑚 )</a:t>
                </a:r>
                <a:r>
                  <a:rPr lang="ar-AE" dirty="0"/>
                  <a:t>, </a:t>
                </a:r>
                <a:r>
                  <a:rPr lang="en-US" dirty="0"/>
                  <a:t>we move from integers to polynomials.</a:t>
                </a:r>
              </a:p>
              <a:p>
                <a:r>
                  <a:rPr lang="en-US" dirty="0"/>
                  <a:t>The coefficients are taken from GF(2), meaning each coefficient is either 0 or 1.</a:t>
                </a:r>
              </a:p>
              <a:p>
                <a:r>
                  <a:rPr lang="en-US" dirty="0"/>
                  <a:t>The elements of the field are all polynomials of degree strictly less than m.</a:t>
                </a:r>
              </a:p>
              <a:p>
                <a:r>
                  <a:rPr lang="en-US" dirty="0"/>
                  <a:t>Since each of the m coefficients can be either 0 or 1, there are exactly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2^𝑚</a:t>
                </a:r>
                <a:r>
                  <a:rPr lang="en-US" dirty="0"/>
                  <a:t>possible combinations.</a:t>
                </a:r>
              </a:p>
              <a:p>
                <a:r>
                  <a:rPr lang="en-US" dirty="0"/>
                  <a:t>That’s why the field contains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2^𝑚</a:t>
                </a:r>
                <a:r>
                  <a:rPr lang="en-US" dirty="0"/>
                  <a:t>elements.</a:t>
                </a:r>
              </a:p>
              <a:p>
                <a:r>
                  <a:rPr lang="en-US" dirty="0"/>
                  <a:t>This is how we generate the elements of the field.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39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9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Addition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𝐺𝐹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(2^𝑚 )</a:t>
                </a:r>
                <a:r>
                  <a:rPr lang="en-US" dirty="0"/>
                  <a:t>is very simple.</a:t>
                </a:r>
              </a:p>
              <a:p>
                <a:r>
                  <a:rPr lang="en-US" dirty="0"/>
                  <a:t>We add coefficients modulo 2.</a:t>
                </a:r>
              </a:p>
              <a:p>
                <a:r>
                  <a:rPr lang="en-US" dirty="0"/>
                  <a:t>Since coefficients are 0 or 1, addition becomes XOR.</a:t>
                </a:r>
              </a:p>
              <a:p>
                <a:r>
                  <a:rPr lang="en-US" dirty="0"/>
                  <a:t>For example, if we add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𝑥^2+𝑥+1</a:t>
                </a:r>
                <a:r>
                  <a:rPr lang="en-US" dirty="0"/>
                  <a:t>and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𝑥^2+1</a:t>
                </a:r>
                <a:r>
                  <a:rPr lang="ar-AE" dirty="0"/>
                  <a:t>, </a:t>
                </a:r>
                <a:r>
                  <a:rPr lang="en-US" dirty="0"/>
                  <a:t>the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𝑥^2</a:t>
                </a:r>
                <a:r>
                  <a:rPr lang="en-US" dirty="0"/>
                  <a:t>terms cancel, the constant terms cancel, and we are left with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51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66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Now let’s look at examples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𝐺𝐹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(2)</a:t>
                </a:r>
                <a:r>
                  <a:rPr lang="ar-AE" dirty="0"/>
                  <a:t>.</a:t>
                </a:r>
              </a:p>
              <a:p>
                <a:r>
                  <a:rPr lang="en-US" dirty="0"/>
                  <a:t>Consider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𝑥^3+𝑥+1</a:t>
                </a:r>
                <a:r>
                  <a:rPr lang="ar-AE" dirty="0"/>
                  <a:t>.</a:t>
                </a:r>
              </a:p>
              <a:p>
                <a:r>
                  <a:rPr lang="en-US" dirty="0"/>
                  <a:t>Since it has degree 3, if it were reducible, it would have a linear factor.</a:t>
                </a:r>
              </a:p>
              <a:p>
                <a:r>
                  <a:rPr lang="en-US" dirty="0"/>
                  <a:t>To test for a linear factor, we simply check whether it has a root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𝐺𝐹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(2)</a:t>
                </a:r>
                <a:r>
                  <a:rPr lang="ar-AE" dirty="0"/>
                  <a:t>.</a:t>
                </a:r>
              </a:p>
              <a:p>
                <a:r>
                  <a:rPr lang="en-US" dirty="0"/>
                  <a:t>Plug in 0 — not zero.</a:t>
                </a:r>
                <a:br>
                  <a:rPr lang="en-US" dirty="0"/>
                </a:br>
                <a:r>
                  <a:rPr lang="en-US" dirty="0"/>
                  <a:t>Plug in 1 — also not zero.</a:t>
                </a:r>
              </a:p>
              <a:p>
                <a:r>
                  <a:rPr lang="en-US" dirty="0"/>
                  <a:t>So it has no roots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𝐺𝐹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(2)</a:t>
                </a:r>
                <a:r>
                  <a:rPr lang="ar-AE" dirty="0"/>
                  <a:t>, </a:t>
                </a:r>
                <a:r>
                  <a:rPr lang="en-US" dirty="0"/>
                  <a:t>and therefore it is irreducible.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18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On the other hand, if we consider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𝑥^3+𝑥^2+𝑥</a:t>
                </a:r>
                <a:r>
                  <a:rPr lang="ar-AE" dirty="0"/>
                  <a:t>, </a:t>
                </a:r>
                <a:r>
                  <a:rPr lang="en-US" dirty="0"/>
                  <a:t>we can factor out x.</a:t>
                </a:r>
              </a:p>
              <a:p>
                <a:r>
                  <a:rPr lang="en-US" dirty="0"/>
                  <a:t>Since it factors, it is reducible.</a:t>
                </a:r>
              </a:p>
              <a:p>
                <a:r>
                  <a:rPr lang="en-US" dirty="0"/>
                  <a:t>For constructing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𝐺𝐹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(2^3 )</a:t>
                </a:r>
                <a:r>
                  <a:rPr lang="ar-AE" dirty="0"/>
                  <a:t>, </a:t>
                </a:r>
                <a:r>
                  <a:rPr lang="en-US" dirty="0"/>
                  <a:t>we must use an irreducible polynomial of degree 3.</a:t>
                </a:r>
              </a:p>
              <a:p>
                <a:r>
                  <a:rPr lang="en-US" dirty="0"/>
                  <a:t>This guarantees that when we reduce polynomial arithmetic modulo that polynomial, we eliminate zero divisors and obtain a proper field.</a:t>
                </a:r>
              </a:p>
              <a:p>
                <a:endParaRPr lang="en-US" dirty="0"/>
              </a:p>
              <a:p>
                <a:r>
                  <a:rPr lang="en-US" dirty="0"/>
                  <a:t>Emphasize:</a:t>
                </a:r>
              </a:p>
              <a:p>
                <a:r>
                  <a:rPr lang="en-US" dirty="0"/>
                  <a:t>Irreducibility guarantees no zero divisors</a:t>
                </a:r>
              </a:p>
              <a:p>
                <a:r>
                  <a:rPr lang="en-US" dirty="0"/>
                  <a:t>Guarantees multiplicative inverses exist</a:t>
                </a:r>
              </a:p>
              <a:p>
                <a:r>
                  <a:rPr lang="en-US" dirty="0"/>
                  <a:t>AES uses an irreducible polynomial of degree 8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57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walk through a complete example.</a:t>
                </a:r>
              </a:p>
              <a:p>
                <a:r>
                  <a:rPr lang="en-US" dirty="0"/>
                  <a:t>Suppose our irreducible polynomial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𝑥^3+𝑥+1</a:t>
                </a:r>
                <a:r>
                  <a:rPr lang="ar-AE" dirty="0"/>
                  <a:t>.</a:t>
                </a:r>
              </a:p>
              <a:p>
                <a:r>
                  <a:rPr lang="en-US" dirty="0"/>
                  <a:t>First, we multiply normally.</a:t>
                </a:r>
              </a:p>
              <a:p>
                <a:r>
                  <a:rPr lang="en-US" dirty="0"/>
                  <a:t>That gives us a polynomial of degree 3.</a:t>
                </a:r>
              </a:p>
              <a:p>
                <a:r>
                  <a:rPr lang="en-US" dirty="0"/>
                  <a:t>But in this field, elements must have degree less than 3.</a:t>
                </a:r>
              </a:p>
              <a:p>
                <a:r>
                  <a:rPr lang="en-US" dirty="0"/>
                  <a:t>So we reduce modulo the irreducible polynomial.</a:t>
                </a:r>
              </a:p>
              <a:p>
                <a:r>
                  <a:rPr lang="en-US" dirty="0"/>
                  <a:t>Since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𝑥^3+𝑥+1=0</a:t>
                </a:r>
                <a:r>
                  <a:rPr lang="ar-AE" dirty="0"/>
                  <a:t>, </a:t>
                </a:r>
                <a:r>
                  <a:rPr lang="en-US" dirty="0"/>
                  <a:t>we rewrite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𝑥^3</a:t>
                </a:r>
                <a:r>
                  <a:rPr lang="en-US" dirty="0"/>
                  <a:t>as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𝑥+1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After substitution and simplification, we obtain a polynomial of degree less than 3.</a:t>
                </a:r>
              </a:p>
              <a:p>
                <a:r>
                  <a:rPr lang="en-US" dirty="0"/>
                  <a:t>This final polynomial is the product in the field.</a:t>
                </a:r>
              </a:p>
              <a:p>
                <a:r>
                  <a:rPr lang="en-US" dirty="0"/>
                  <a:t>That’s how multiplication works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𝐺𝐹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(2^𝑚 )</a:t>
                </a:r>
                <a:r>
                  <a:rPr lang="ar-AE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0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2347F-893A-6242-B314-2E768F343C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24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4FF1-FC27-2F4B-8636-73933DB7E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381D5-5065-632E-C440-4AABA71F9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0E4C2-FA9C-1C5A-91AA-F880A5F1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14A62-E44D-1B6F-7E25-C7F6D3C78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B05A3-1C0C-BE12-BBCC-A6645AB6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6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CE62-0DD7-1A0C-D1DD-F4742ACD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1FBD5-7B9C-2BB8-EF61-15251A00F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3AC3C-2BCE-F1EB-70BB-9AA4A181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55658-4999-9D17-9EDD-67B4DAB3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9B657-CFCF-7E2E-A5C5-C09A6DE9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4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B40A0-EC6B-F827-70A6-EA6C460F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7448B-F0BD-A631-677C-08ADF846A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F744D-5CC0-139D-3A45-029E04B3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63B3D-14AF-8413-A0BB-9B5EB8071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3B51B-07D0-7DE1-3D8A-53D0DD02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7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9D79-DA6D-B303-C701-5F3F83FD4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A56EA-7A02-9328-DEDB-823B63087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C650-A814-40B9-9BAB-CCE103FEF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06E30-ABA9-2E4F-19FF-AA3854654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88FAC-E893-2939-227E-CFD4370D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72F68-DC75-550C-6EA1-50963351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6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C4E1-70F6-636F-CA4D-93BC4F19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7078D-0DFE-D8BF-1297-30E59E4C7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7EE17-C9AB-CCD9-ADFA-9B99959C2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40D49-5536-17F0-DA59-63FE05B7D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593F3-E484-9EFE-5B08-5BA6D6DB5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D45C0-1A5C-8AFF-A42E-F6D34EEE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3FEADB-B7D0-1B99-81B8-C0CAC55B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6B791-233D-F468-DD6C-BE576E86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3EF0-6620-305E-151F-00D75183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AB0F3-8AD3-DD7F-BDCD-F036204A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01A00-3BF6-7367-5C0A-EB9714A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367013-D798-1A10-7611-7FAEDB40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2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70BA4-53C6-F3AF-996E-8F5FEBB3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570DE-B29F-DDB8-1B1F-32FED2F3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B72FF-92CC-280A-E982-0692000B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6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D530-ED48-6EAB-4706-5A00D3167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8D773-55FC-BFD0-A578-32C88C2C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42ED8-E151-2C43-6113-8EC7CA339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24DFF-64BD-3FB9-1E49-3A3676E6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F913-7405-9F29-0E0A-CEB5743C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0761A-A2BD-DDDF-15A9-0568AD33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5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40757-3627-77EA-F098-4E0C9DA0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12535-3527-8A2C-6179-B99B4C218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8CBA2-08B4-D05E-6CD1-74B46FE86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0F198-AA17-EAAA-D04F-550CB13E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B233E-2339-C967-3DF6-D29F19C1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3984F-7E8B-7CF8-C6F4-F99FEE79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7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FF7D-4B2A-DC9B-7BF6-3AC93BA6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C2C49-FA8E-F376-C954-BC157CD2D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19B5B-9110-F4CA-52CF-F0A2A735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A0619-6E93-B3C4-A942-5EF1CC89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8AE20-D484-0581-D8AA-64E2F852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81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B6FE22-A6B8-4AD4-85BC-0AAEE1506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89CB9-9E8B-5064-085A-0DE9B80F1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78B57-F5C0-FCED-86DC-C1F0B311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CD279-CD50-4A80-575D-168A30A2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FEA9B-45D6-261D-9015-959148D5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1BEFB-5E6E-DC14-EF5D-3CEFFC10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363E7-6158-15BC-527F-AECEB0643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37CE3-5CCD-B2B5-EE0E-805001686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C164E-9E0B-3343-A129-A636B642272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2FB53-6B3C-BE36-9A99-90AFC33BE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27E7A-6623-8B5E-0AA5-A67665042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438F2-792C-BF42-A713-325FABE1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68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ABB8-5B82-55E5-965F-59E7CE33A5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Finite Fields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0D630-3EDE-5B1B-D57F-4136E4EF71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</p:spTree>
    <p:extLst>
      <p:ext uri="{BB962C8B-B14F-4D97-AF65-F5344CB8AC3E}">
        <p14:creationId xmlns:p14="http://schemas.microsoft.com/office/powerpoint/2010/main" val="375828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D09D2-69C4-DE07-C677-20681BC12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E307-995B-B6BD-1695-AC7297FEB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u="sng" dirty="0"/>
              <a:t>field</a:t>
            </a:r>
            <a:r>
              <a:rPr lang="en-US" dirty="0"/>
              <a:t> is a set 𝐹 equipped with two </a:t>
            </a:r>
            <a:r>
              <a:rPr lang="en-US" b="1" dirty="0"/>
              <a:t>binary operations</a:t>
            </a:r>
            <a:r>
              <a:rPr lang="en-US" dirty="0"/>
              <a:t>, </a:t>
            </a:r>
            <a:r>
              <a:rPr lang="en-US" u="sng" dirty="0"/>
              <a:t>Addition (+) and Multiplication (·)</a:t>
            </a:r>
            <a:r>
              <a:rPr lang="en-US" dirty="0"/>
              <a:t>. Such that the following properties hold:</a:t>
            </a:r>
          </a:p>
          <a:p>
            <a:r>
              <a:rPr lang="en-US" dirty="0"/>
              <a:t>Properties of Addition (𝐹, +): For all 𝑎,𝑏,𝑐 ∈ 𝐹: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(1) Closure: </a:t>
            </a:r>
            <a:r>
              <a:rPr lang="en-US" dirty="0"/>
              <a:t>𝑎+𝑏 ∈ 𝐹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(2) Associativity: </a:t>
            </a:r>
            <a:r>
              <a:rPr lang="en-US" dirty="0"/>
              <a:t>(𝑎+𝑏)+𝑐=𝑎+(𝑏+𝑐)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(3) Additive Identity: </a:t>
            </a:r>
            <a:r>
              <a:rPr lang="en-US" dirty="0"/>
              <a:t>There exists 0∈𝐹 such that 𝑎+0=𝑎.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(4) Additive Inverse: </a:t>
            </a:r>
            <a:r>
              <a:rPr lang="en-US" dirty="0"/>
              <a:t>For every 𝑎∈𝐹, there exists −𝑎∈𝐹 such that 𝑎+(−𝑎)=0.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(5) Commutativity: </a:t>
            </a:r>
            <a:r>
              <a:rPr lang="en-US" dirty="0"/>
              <a:t>𝑎+𝑏=𝑏+𝑎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2C8183-15F5-8FC5-2A74-9F0C24141C0D}"/>
              </a:ext>
            </a:extLst>
          </p:cNvPr>
          <p:cNvSpPr/>
          <p:nvPr/>
        </p:nvSpPr>
        <p:spPr>
          <a:xfrm>
            <a:off x="6997445" y="197647"/>
            <a:ext cx="4896544" cy="156050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 </a:t>
            </a:r>
            <a:r>
              <a:rPr lang="en-US" sz="2000" b="1" dirty="0"/>
              <a:t>binary operation</a:t>
            </a:r>
            <a:r>
              <a:rPr lang="en-US" sz="2000" dirty="0"/>
              <a:t> is a calculation that combines two elements to produce another element, such as addition, subtraction, multiplication, vector addition, matrix multiplication, etc.</a:t>
            </a:r>
          </a:p>
        </p:txBody>
      </p:sp>
    </p:spTree>
    <p:extLst>
      <p:ext uri="{BB962C8B-B14F-4D97-AF65-F5344CB8AC3E}">
        <p14:creationId xmlns:p14="http://schemas.microsoft.com/office/powerpoint/2010/main" val="29907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5CB4-3858-2191-5807-5022EDA6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3AB6-6A02-714D-5E12-36203B2B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 </a:t>
            </a:r>
            <a:br>
              <a:rPr lang="en-US" dirty="0"/>
            </a:br>
            <a:r>
              <a:rPr lang="en-US" dirty="0"/>
              <a:t>– Multiplication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EE417-1AF9-6209-7DEE-E34D70F7D5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u="sng" dirty="0"/>
                  <a:t>field</a:t>
                </a:r>
                <a:r>
                  <a:rPr lang="en-US" dirty="0"/>
                  <a:t> is a set 𝐹 equipped with two </a:t>
                </a:r>
                <a:r>
                  <a:rPr lang="en-US" b="1" dirty="0"/>
                  <a:t>binary operations</a:t>
                </a:r>
                <a:r>
                  <a:rPr lang="en-US" dirty="0"/>
                  <a:t>, </a:t>
                </a:r>
                <a:r>
                  <a:rPr lang="en-US" u="sng" dirty="0"/>
                  <a:t>Addition (+) and Multiplication (·)</a:t>
                </a:r>
                <a:r>
                  <a:rPr lang="en-US" dirty="0"/>
                  <a:t>. Such that the following properties hold:</a:t>
                </a:r>
              </a:p>
              <a:p>
                <a:r>
                  <a:rPr lang="en-US" dirty="0"/>
                  <a:t>Properties of </a:t>
                </a:r>
                <a:r>
                  <a:rPr lang="en-US" u="sng" dirty="0"/>
                  <a:t>Multiplication</a:t>
                </a:r>
                <a:r>
                  <a:rPr lang="en-US" dirty="0"/>
                  <a:t> (𝐹, ·): For all 𝑎,𝑏,𝑐 ∈ 𝐹: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b="1" dirty="0"/>
                  <a:t>(1) Closure: </a:t>
                </a:r>
                <a:r>
                  <a:rPr lang="en-US" dirty="0"/>
                  <a:t>𝑎·𝑏 ∈ 𝐹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b="1" dirty="0"/>
                  <a:t>(2) Associativity: </a:t>
                </a:r>
                <a:r>
                  <a:rPr lang="en-US" dirty="0"/>
                  <a:t>(𝑎·𝑏) ·𝑐=𝑎· (𝑏·𝑐)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b="1" dirty="0"/>
                  <a:t>(3) Distributive: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·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b="1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b="1" dirty="0"/>
                  <a:t>(4) Commutativity: </a:t>
                </a:r>
                <a:r>
                  <a:rPr lang="en-US" dirty="0"/>
                  <a:t>𝑎 · 𝑏=𝑏 · 𝑎</a:t>
                </a:r>
                <a:endParaRPr lang="en-US" b="1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b="1" dirty="0"/>
                  <a:t>(5) Multiplicative Identity: </a:t>
                </a:r>
                <a:r>
                  <a:rPr lang="en-US" dirty="0"/>
                  <a:t>There exists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b="1" dirty="0"/>
                  <a:t>(6) No zero divisors:</a:t>
                </a:r>
                <a:r>
                  <a:rPr lang="en-US" dirty="0"/>
                  <a:t> For ab =  0, then a = 0 or b = 0.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b="1" u="sng" dirty="0">
                    <a:solidFill>
                      <a:schemeClr val="tx1"/>
                    </a:solidFill>
                  </a:rPr>
                  <a:t>(7) Multiplicative Inverse: </a:t>
                </a:r>
                <a:r>
                  <a:rPr lang="en-US" u="sng" dirty="0">
                    <a:solidFill>
                      <a:schemeClr val="tx1"/>
                    </a:solidFill>
                  </a:rPr>
                  <a:t>For every 𝑎∈𝐹, there exists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u="sng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u="sng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u="sng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u="sng" dirty="0">
                    <a:solidFill>
                      <a:schemeClr val="tx1"/>
                    </a:solidFill>
                  </a:rPr>
                  <a:t>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u="sng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i="1" u="sng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u="sng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u="sng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u="sng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sng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u="sng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5EE417-1AF9-6209-7DEE-E34D70F7D5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D3D0A21-086D-7FE9-B1FB-BB50866DAA99}"/>
              </a:ext>
            </a:extLst>
          </p:cNvPr>
          <p:cNvSpPr/>
          <p:nvPr/>
        </p:nvSpPr>
        <p:spPr>
          <a:xfrm>
            <a:off x="6997445" y="197647"/>
            <a:ext cx="4896544" cy="156050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 </a:t>
            </a:r>
            <a:r>
              <a:rPr lang="en-US" sz="2000" b="1" dirty="0"/>
              <a:t>binary operation</a:t>
            </a:r>
            <a:r>
              <a:rPr lang="en-US" sz="2000" dirty="0"/>
              <a:t> is a calculation that combines two elements to produce another element, such as addition, subtraction, multiplication, vector addition, matrix multiplication, etc.</a:t>
            </a:r>
          </a:p>
        </p:txBody>
      </p:sp>
    </p:spTree>
    <p:extLst>
      <p:ext uri="{BB962C8B-B14F-4D97-AF65-F5344CB8AC3E}">
        <p14:creationId xmlns:p14="http://schemas.microsoft.com/office/powerpoint/2010/main" val="347639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3E2D-1550-AE67-B1FB-074FE900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1980-449E-9B4E-6003-D4048F1F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 – Multiplication Properties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56C583-2B30-A37F-385F-B8F5160628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Properties of </a:t>
                </a:r>
                <a:r>
                  <a:rPr lang="en-US" u="sng" dirty="0"/>
                  <a:t>Multiplication</a:t>
                </a:r>
                <a:r>
                  <a:rPr lang="en-US" dirty="0"/>
                  <a:t> (𝐹, ·): For all 𝑎,𝑏,𝑐 ∈ 𝐹: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b="1" u="sng" dirty="0">
                    <a:solidFill>
                      <a:schemeClr val="tx1"/>
                    </a:solidFill>
                  </a:rPr>
                  <a:t>(7) Multiplicative Inverse: </a:t>
                </a:r>
                <a:r>
                  <a:rPr lang="en-US" u="sng" dirty="0">
                    <a:solidFill>
                      <a:schemeClr val="tx1"/>
                    </a:solidFill>
                  </a:rPr>
                  <a:t>For every 𝑎∈𝐹, there exists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u="sng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u="sng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u="sng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u="sng" dirty="0">
                    <a:solidFill>
                      <a:schemeClr val="tx1"/>
                    </a:solidFill>
                  </a:rPr>
                  <a:t>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u="sng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u="sng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i="1" u="sng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u="sng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u="sng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u="sng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u="sng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u="sng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dirty="0"/>
                  <a:t>A field is a set where addition and multiplication behave like ordinary arithmetic, and every nonzero element has a multiplicative inverse.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56C583-2B30-A37F-385F-B8F516062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9CA15E4-405B-85CC-F058-6C186B8FE845}"/>
                  </a:ext>
                </a:extLst>
              </p:cNvPr>
              <p:cNvSpPr/>
              <p:nvPr/>
            </p:nvSpPr>
            <p:spPr>
              <a:xfrm>
                <a:off x="838200" y="4310742"/>
                <a:ext cx="5169725" cy="2434441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b="1" dirty="0"/>
                  <a:t>✅ Positive Example: Real Numbers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Closed under +, −, ×, ÷ (except division by 0)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0 is additive identity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 is multiplicative identity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Every nonzero number has a multiplicative inverse</a:t>
                </a:r>
              </a:p>
              <a:p>
                <a:r>
                  <a:rPr lang="en-US" b="1" dirty="0"/>
                  <a:t>Conclusion: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is a field.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9CA15E4-405B-85CC-F058-6C186B8FE8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10742"/>
                <a:ext cx="5169725" cy="243444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48A4E09-9571-FE7C-84C3-B6EB69725D63}"/>
                  </a:ext>
                </a:extLst>
              </p:cNvPr>
              <p:cNvSpPr/>
              <p:nvPr/>
            </p:nvSpPr>
            <p:spPr>
              <a:xfrm>
                <a:off x="6184075" y="4310741"/>
                <a:ext cx="5169725" cy="2434441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b="1" dirty="0"/>
                  <a:t>❌ Negative Example: Integers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Closed under +, −, ×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NOT closed under division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Conclusion: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is NOT a field.</a:t>
                </a: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48A4E09-9571-FE7C-84C3-B6EB69725D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075" y="4310741"/>
                <a:ext cx="5169725" cy="243444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444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3B57-BBB7-12DD-9C0F-DD300884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75F6813-8765-C99E-1178-78BE2D1360D8}"/>
                  </a:ext>
                </a:extLst>
              </p:cNvPr>
              <p:cNvSpPr/>
              <p:nvPr/>
            </p:nvSpPr>
            <p:spPr>
              <a:xfrm>
                <a:off x="838200" y="1570471"/>
                <a:ext cx="4572000" cy="4572000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/>
                  <a:t>Infinite Fields</a:t>
                </a:r>
              </a:p>
              <a:p>
                <a:pPr algn="ctr"/>
                <a:endParaRPr lang="en-US" sz="2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Infinitely many elements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Examples: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Real numbers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Rational numbers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Complex numbers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75F6813-8765-C99E-1178-78BE2D136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70471"/>
                <a:ext cx="4572000" cy="4572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911E219-5499-F58D-9FC4-2D8C3DE5B37A}"/>
              </a:ext>
            </a:extLst>
          </p:cNvPr>
          <p:cNvSpPr>
            <a:spLocks noChangeAspect="1"/>
          </p:cNvSpPr>
          <p:nvPr/>
        </p:nvSpPr>
        <p:spPr>
          <a:xfrm>
            <a:off x="6781802" y="1570471"/>
            <a:ext cx="4572000" cy="457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Finite Fields</a:t>
            </a:r>
          </a:p>
          <a:p>
            <a:pPr algn="ctr"/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Finite number of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Also called </a:t>
            </a:r>
            <a:r>
              <a:rPr lang="en-US" sz="2400" b="1" dirty="0"/>
              <a:t>Galois Fields (GF)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in cryptography</a:t>
            </a:r>
          </a:p>
        </p:txBody>
      </p:sp>
    </p:spTree>
    <p:extLst>
      <p:ext uri="{BB962C8B-B14F-4D97-AF65-F5344CB8AC3E}">
        <p14:creationId xmlns:p14="http://schemas.microsoft.com/office/powerpoint/2010/main" val="2009329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1204-B669-8657-72E3-3BB2F4CC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Fields Types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BFBDF-A908-FADA-1E4B-617E093A4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Theorem (Key Fact):</a:t>
                </a:r>
                <a:endParaRPr lang="en-US" dirty="0"/>
              </a:p>
              <a:p>
                <a:r>
                  <a:rPr lang="en-US" dirty="0"/>
                  <a:t>A finite field exists </a:t>
                </a:r>
                <a:r>
                  <a:rPr lang="en-US" b="1" dirty="0"/>
                  <a:t>only if</a:t>
                </a:r>
                <a:r>
                  <a:rPr lang="en-US" dirty="0"/>
                  <a:t> its size 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= prime number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= positive integer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BFBDF-A908-FADA-1E4B-617E093A4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E7D8684-DFE2-5066-0F63-23DF9408EC1C}"/>
                  </a:ext>
                </a:extLst>
              </p:cNvPr>
              <p:cNvSpPr/>
              <p:nvPr/>
            </p:nvSpPr>
            <p:spPr>
              <a:xfrm>
                <a:off x="838200" y="4257303"/>
                <a:ext cx="4548249" cy="2410691"/>
              </a:xfrm>
              <a:prstGeom prst="roundRect">
                <a:avLst/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/>
                  <a:t>Prime Fields —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ar-AE" sz="2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 is prime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Elements: {0,1,...,p−1}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Arithmetic modulo 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ar-AE" sz="24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E7D8684-DFE2-5066-0F63-23DF9408E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57303"/>
                <a:ext cx="4548249" cy="241069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E92BB2B-8B81-3C7E-E1E1-DA4BE3A6289F}"/>
                  </a:ext>
                </a:extLst>
              </p:cNvPr>
              <p:cNvSpPr/>
              <p:nvPr/>
            </p:nvSpPr>
            <p:spPr>
              <a:xfrm>
                <a:off x="6393872" y="4257302"/>
                <a:ext cx="5410200" cy="2410691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/>
                  <a:t>Extension Fields 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endParaRPr lang="ar-AE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 &gt; 1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Constructed using polynomials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Arithmetic modulo an irreducible polynomial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Used in AES when p=2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E92BB2B-8B81-3C7E-E1E1-DA4BE3A628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872" y="4257302"/>
                <a:ext cx="5410200" cy="241069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9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21A1-5D4C-7B50-315E-0DF09A566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Fields: GF</a:t>
            </a:r>
            <a:r>
              <a:rPr lang="en-US" i="1" dirty="0"/>
              <a:t>(p)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0E942-CC31-E65D-DFB6-93FB03FFB6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GF stands for </a:t>
                </a:r>
                <a:r>
                  <a:rPr lang="en-US" b="1" dirty="0"/>
                  <a:t>Galois field</a:t>
                </a:r>
                <a:r>
                  <a:rPr lang="en-US" dirty="0"/>
                  <a:t>, name after a mathematician</a:t>
                </a:r>
              </a:p>
              <a:p>
                <a:r>
                  <a:rPr lang="en-US" dirty="0"/>
                  <a:t>Definition: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𝐺𝐹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Operations:</a:t>
                </a:r>
              </a:p>
              <a:p>
                <a:pPr lvl="1"/>
                <a:r>
                  <a:rPr lang="en-US" dirty="0"/>
                  <a:t>Addition mod p</a:t>
                </a:r>
              </a:p>
              <a:p>
                <a:pPr lvl="1"/>
                <a:r>
                  <a:rPr lang="en-US" dirty="0"/>
                  <a:t>Multiplication mod p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0E942-CC31-E65D-DFB6-93FB03FFB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85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76EB-E33E-E79C-ED83-6ED231A2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GF(</a:t>
            </a:r>
            <a:r>
              <a:rPr lang="en-US" i="1" dirty="0"/>
              <a:t>p</a:t>
            </a:r>
            <a:r>
              <a:rPr lang="en-US" dirty="0"/>
              <a:t>)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8D6C0-9BDB-2F69-2A3A-559BC60C7F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42709" cy="4351338"/>
              </a:xfrm>
            </p:spPr>
            <p:txBody>
              <a:bodyPr/>
              <a:lstStyle/>
              <a:p>
                <a:r>
                  <a:rPr lang="en-US" b="1" dirty="0"/>
                  <a:t>GF(7)={0,1,2,3,4,5,6}</a:t>
                </a:r>
              </a:p>
              <a:p>
                <a:r>
                  <a:rPr lang="en-US" dirty="0"/>
                  <a:t>All arithmetic is performed </a:t>
                </a:r>
                <a:r>
                  <a:rPr lang="en-US" b="1" dirty="0"/>
                  <a:t>mod 7</a:t>
                </a:r>
              </a:p>
              <a:p>
                <a:r>
                  <a:rPr lang="en-US" b="1" dirty="0"/>
                  <a:t>Addition 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b="1" dirty="0"/>
                  <a:t>Multiplication 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18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≡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8D6C0-9BDB-2F69-2A3A-559BC60C7F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42709" cy="4351338"/>
              </a:xfrm>
              <a:blipFill>
                <a:blip r:embed="rId2"/>
                <a:stretch>
                  <a:fillRect l="-191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B66C272-56BF-8EF1-16C4-B983BECCF5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49291" y="1825625"/>
                <a:ext cx="574270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Multiplicative Inverses</a:t>
                </a:r>
              </a:p>
              <a:p>
                <a:pPr lvl="1"/>
                <a:r>
                  <a:rPr lang="en-US" dirty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such that: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We should use EEA to calculate the multiplicative inverse in this finite field.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B66C272-56BF-8EF1-16C4-B983BECCF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291" y="1825625"/>
                <a:ext cx="5742709" cy="4351338"/>
              </a:xfrm>
              <a:prstGeom prst="rect">
                <a:avLst/>
              </a:prstGeom>
              <a:blipFill>
                <a:blip r:embed="rId3"/>
                <a:stretch>
                  <a:fillRect l="-176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5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uiExpan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270A-2793-4466-1BEA-679E4910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Fields: GF</a:t>
            </a:r>
            <a:r>
              <a:rPr lang="en-US" i="1" dirty="0"/>
              <a:t>(p</a:t>
            </a:r>
            <a:r>
              <a:rPr lang="en-US" i="1" baseline="30000" dirty="0"/>
              <a:t>m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3EAB3-B54E-7B41-5BBF-03FDBC55F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Finite fields only exist if they have p</a:t>
            </a:r>
            <a:r>
              <a:rPr lang="en-US" baseline="30000" dirty="0"/>
              <a:t>m</a:t>
            </a:r>
            <a:r>
              <a:rPr lang="en-US" dirty="0"/>
              <a:t> elements. </a:t>
            </a:r>
            <a:r>
              <a:rPr lang="en-US" i="1" dirty="0"/>
              <a:t>m</a:t>
            </a:r>
            <a:r>
              <a:rPr lang="en-US" dirty="0"/>
              <a:t> is always a positive integer.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1. There is a finite field with 11 elements. GF(11)</a:t>
            </a:r>
          </a:p>
          <a:p>
            <a:pPr lvl="1"/>
            <a:r>
              <a:rPr lang="en-US" dirty="0"/>
              <a:t>2. There is a finite field with 81 elements. GF(81)=GF(3</a:t>
            </a:r>
            <a:r>
              <a:rPr lang="en-US" baseline="30000" dirty="0"/>
              <a:t>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3. There is a finite field with 256 elements. GF(256)=GF(2</a:t>
            </a:r>
            <a:r>
              <a:rPr lang="en-US" baseline="30000" dirty="0"/>
              <a:t>8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4. There is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a finite field with 12 elements. GF(12)=GF(2</a:t>
            </a:r>
            <a:r>
              <a:rPr lang="en-US" baseline="30000" dirty="0"/>
              <a:t>2</a:t>
            </a:r>
            <a:r>
              <a:rPr lang="en-US" dirty="0"/>
              <a:t> * 3)</a:t>
            </a:r>
          </a:p>
          <a:p>
            <a:r>
              <a:rPr lang="en-US" dirty="0"/>
              <a:t>Especially important in Crypto: GF(2</a:t>
            </a:r>
            <a:r>
              <a:rPr lang="en-US" baseline="30000" dirty="0"/>
              <a:t>m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12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FE7F14-008C-7D98-2B42-82CEC5CCBC2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Elements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DFE7F14-008C-7D98-2B42-82CEC5CCB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068C42-9D2F-27D0-0C9C-098516982C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To construct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pPr lvl="1"/>
                <a:r>
                  <a:rPr lang="en-US" dirty="0"/>
                  <a:t>Start with coefficients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Consider polynomials of degree &lt; m</a:t>
                </a:r>
              </a:p>
              <a:p>
                <a:pPr lvl="1"/>
                <a:r>
                  <a:rPr lang="en-US" dirty="0"/>
                  <a:t>Reduce modulo an irreducible polynomial of degree m</a:t>
                </a:r>
              </a:p>
              <a:p>
                <a:r>
                  <a:rPr lang="en-US" b="1" dirty="0"/>
                  <a:t>Elements look like: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b="1" dirty="0"/>
                  <a:t>Total number of elements:</a:t>
                </a:r>
              </a:p>
              <a:p>
                <a:pPr lvl="1"/>
                <a:r>
                  <a:rPr lang="en-US" dirty="0"/>
                  <a:t>Each coefficient has 2 choices</a:t>
                </a:r>
              </a:p>
              <a:p>
                <a:pPr lvl="1"/>
                <a:r>
                  <a:rPr lang="en-US" dirty="0"/>
                  <a:t>There are m coefficients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m:rPr>
                          <m:nor/>
                        </m:rPr>
                        <a:rPr lang="ar-AE" i="1"/>
                        <m:t> </m:t>
                      </m:r>
                      <m:r>
                        <m:rPr>
                          <m:nor/>
                        </m:rPr>
                        <a:rPr lang="en-US" i="1"/>
                        <m:t>elements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068C42-9D2F-27D0-0C9C-098516982C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6" t="-3488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714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BCB6-4F8F-D80E-D2D5-82EE7836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GF(2</a:t>
            </a:r>
            <a:r>
              <a:rPr lang="en-US" baseline="30000" dirty="0"/>
              <a:t>m</a:t>
            </a:r>
            <a:r>
              <a:rPr lang="en-US" dirty="0"/>
              <a:t>)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A57D-9C1A-021F-B97D-718919FB3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p = 2:</a:t>
            </a:r>
          </a:p>
          <a:p>
            <a:pPr lvl="1"/>
            <a:r>
              <a:rPr lang="en-US" dirty="0"/>
              <a:t>Coefficients are 0 or 1</a:t>
            </a:r>
          </a:p>
          <a:p>
            <a:pPr lvl="1"/>
            <a:r>
              <a:rPr lang="en-US" dirty="0"/>
              <a:t>Addition = XOR</a:t>
            </a:r>
          </a:p>
          <a:p>
            <a:pPr lvl="1"/>
            <a:r>
              <a:rPr lang="en-US" dirty="0"/>
              <a:t>Efficient for hardware/software</a:t>
            </a:r>
          </a:p>
          <a:p>
            <a:r>
              <a:rPr lang="en-US" dirty="0"/>
              <a:t>AES uses: GF(2</a:t>
            </a:r>
            <a:r>
              <a:rPr lang="en-US" baseline="30000" dirty="0"/>
              <a:t>8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878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3F47277-7C4A-710F-95AB-2069FE1A36A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Polynomial Arithmetic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- Addition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3F47277-7C4A-710F-95AB-2069FE1A3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99BE7-D835-B813-5A7F-2B07045F59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Addition</a:t>
                </a:r>
              </a:p>
              <a:p>
                <a:pPr lvl="1"/>
                <a:r>
                  <a:rPr lang="en-US" b="1" dirty="0"/>
                  <a:t>Add coefficients modulo 2 (XOR)</a:t>
                </a:r>
              </a:p>
              <a:p>
                <a:r>
                  <a:rPr lang="en-US" dirty="0"/>
                  <a:t>Example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 algn="ctr">
                  <a:buNone/>
                </a:pPr>
                <a:r>
                  <a:rPr lang="ar-AE" dirty="0"/>
                  <a:t>=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Another example: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b="0" dirty="0"/>
                  <a:t>=</a:t>
                </a:r>
                <a:r>
                  <a:rPr lang="ar-A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=</a:t>
                </a:r>
                <a:r>
                  <a:rPr lang="ar-A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199BE7-D835-B813-5A7F-2B07045F59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344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5F4CF81-A356-7C1E-1B78-FCF5C4160D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Polynomial Arithmetic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- Multiplication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5F4CF81-A356-7C1E-1B78-FCF5C4160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 t="-13364" b="-2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D9F35-9A72-93E5-67B5-E679639FB8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Multiplication</a:t>
                </a:r>
              </a:p>
              <a:p>
                <a:pPr lvl="1"/>
                <a:r>
                  <a:rPr lang="en-US" dirty="0"/>
                  <a:t>Multiply as usual polynomials</a:t>
                </a:r>
              </a:p>
              <a:p>
                <a:pPr lvl="1"/>
                <a:r>
                  <a:rPr lang="en-US" dirty="0"/>
                  <a:t>Reduce coefficients mod 2</a:t>
                </a:r>
              </a:p>
              <a:p>
                <a:pPr lvl="1"/>
                <a:r>
                  <a:rPr lang="en-US" dirty="0"/>
                  <a:t>Then reduce modulo </a:t>
                </a:r>
                <a:r>
                  <a:rPr lang="en-US" i="1" dirty="0"/>
                  <a:t>irreducible polynomial</a:t>
                </a:r>
              </a:p>
              <a:p>
                <a:r>
                  <a:rPr lang="en-US" dirty="0"/>
                  <a:t>A non-constant polynomial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irreducible over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if:</a:t>
                </a:r>
              </a:p>
              <a:p>
                <a:pPr lvl="1"/>
                <a:r>
                  <a:rPr lang="en-US" dirty="0"/>
                  <a:t>It cannot be written as a product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and both have degree ≥ 1.</a:t>
                </a:r>
              </a:p>
              <a:p>
                <a:r>
                  <a:rPr lang="en-US" dirty="0"/>
                  <a:t>In other words:</a:t>
                </a:r>
              </a:p>
              <a:p>
                <a:pPr lvl="1"/>
                <a:r>
                  <a:rPr lang="en-US" dirty="0"/>
                  <a:t>An irreducible polynomial cannot be factored into lower-degree polynomials over the same field.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D9F35-9A72-93E5-67B5-E679639FB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6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105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F68ABB-FE4E-8D5B-FF05-F186A0C426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Irreducible Polynomial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FF68ABB-FE4E-8D5B-FF05-F186A0C426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03EA8-0FBD-6812-8553-A66F1C3A50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To check irreducibility:</a:t>
                </a:r>
              </a:p>
              <a:p>
                <a:pPr lvl="1"/>
                <a:r>
                  <a:rPr lang="en-US" dirty="0"/>
                  <a:t>In degree 3 over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ar-AE" dirty="0"/>
                  <a:t>,</a:t>
                </a:r>
                <a:r>
                  <a:rPr lang="en-US" dirty="0"/>
                  <a:t> a polynomial is reducible </a:t>
                </a:r>
                <a:r>
                  <a:rPr lang="en-US" b="1" dirty="0" err="1"/>
                  <a:t>iff</a:t>
                </a:r>
                <a:r>
                  <a:rPr lang="en-US" b="1" dirty="0"/>
                  <a:t> it has a root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r>
                  <a:rPr lang="en-US" dirty="0"/>
                  <a:t>Check: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r>
                  <a:rPr lang="en-US" dirty="0"/>
                  <a:t>No roots ⇒ no linear factors ⇒ irreducible.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03EA8-0FBD-6812-8553-A66F1C3A50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6" t="-2326" r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542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7ECC3E-28A2-7611-4973-6526FAD135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Irreducible Polynomial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(cont.)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7ECC3E-28A2-7611-4973-6526FAD135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ECFFF3-0BB5-C0F8-3F2F-1D4F73AF62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Another Irreducible Polynomial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Check: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  <a:p>
                <a:r>
                  <a:rPr lang="en-US" dirty="0"/>
                  <a:t>No roots ⇒ irreducible.</a:t>
                </a:r>
              </a:p>
              <a:p>
                <a:r>
                  <a:rPr lang="en-US" b="1" dirty="0"/>
                  <a:t>Example of Reducible Polynomial</a:t>
                </a:r>
              </a:p>
              <a:p>
                <a:r>
                  <a:rPr lang="en-US" dirty="0"/>
                  <a:t>Consider: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Factor: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Since it factors ⇒ reducible.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ECFFF3-0BB5-C0F8-3F2F-1D4F73AF62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65" t="-3488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3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F1B084-3139-5E93-C6D9-C5EF2842621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Polynomial Arithmetic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- Example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F1B084-3139-5E93-C6D9-C5EF28426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2DC30B-0A8F-3247-CA9D-83F04D30A8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Let the irreducible polynomial in GF(2</a:t>
                </a:r>
                <a:r>
                  <a:rPr lang="en-US" baseline="30000" dirty="0"/>
                  <a:t>3</a:t>
                </a:r>
                <a:r>
                  <a:rPr lang="en-US" dirty="0"/>
                  <a:t>)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Multiply Example: </a:t>
                </a:r>
                <a:r>
                  <a:rPr lang="en-US" dirty="0">
                    <a:solidFill>
                      <a:schemeClr val="accent5"/>
                    </a:solidFill>
                  </a:rPr>
                  <a:t>A(x) = x+1, B(x) = x</a:t>
                </a:r>
                <a:r>
                  <a:rPr lang="en-US" baseline="30000" dirty="0">
                    <a:solidFill>
                      <a:schemeClr val="accent5"/>
                    </a:solidFill>
                  </a:rPr>
                  <a:t>2</a:t>
                </a:r>
                <a:r>
                  <a:rPr lang="en-US" dirty="0">
                    <a:solidFill>
                      <a:schemeClr val="accent5"/>
                    </a:solidFill>
                  </a:rPr>
                  <a:t>+1, what is A(x)B(x)?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Step 1: Multiply normally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Step 2: Reduce using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Substitute: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Simplify: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2DC30B-0A8F-3247-CA9D-83F04D30A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44" t="-3198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956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2B25A-7D2F-4212-8D32-51369B230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9E81A-EF1E-ADC8-1AD0-3D08FBC685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78236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Finite Fields Exist Only When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∣=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ar-AE" dirty="0"/>
                  <a:t>= </a:t>
                </a:r>
                <a:r>
                  <a:rPr lang="en-US" dirty="0"/>
                  <a:t>prime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Two Types of Finite Fields</a:t>
                </a:r>
              </a:p>
              <a:p>
                <a:pPr lvl="1"/>
                <a:r>
                  <a:rPr lang="en-US" b="1" dirty="0"/>
                  <a:t>Prime Fields 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Elements: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 lvl="2"/>
                <a:r>
                  <a:rPr lang="en-US" dirty="0"/>
                  <a:t>Arithmetic modulo p</a:t>
                </a:r>
              </a:p>
              <a:p>
                <a:pPr lvl="2"/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Extension Fields 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b="1" dirty="0"/>
                  <a:t>, </a:t>
                </a:r>
                <a:r>
                  <a:rPr lang="en-US" b="1" dirty="0"/>
                  <a:t>m &gt; 1</a:t>
                </a:r>
                <a:endParaRPr lang="en-US" dirty="0"/>
              </a:p>
              <a:p>
                <a:pPr lvl="1"/>
                <a:r>
                  <a:rPr lang="en-US" dirty="0"/>
                  <a:t>Elements: polynomials of degree &lt; m</a:t>
                </a:r>
              </a:p>
              <a:p>
                <a:pPr lvl="1"/>
                <a:r>
                  <a:rPr lang="en-US" dirty="0"/>
                  <a:t>Coefficients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Arithmetic modulo irreducible polynomial</a:t>
                </a:r>
              </a:p>
              <a:p>
                <a:pPr lvl="1"/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9E81A-EF1E-ADC8-1AD0-3D08FBC685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78236" cy="4351338"/>
              </a:xfrm>
              <a:blipFill>
                <a:blip r:embed="rId3"/>
                <a:stretch>
                  <a:fillRect l="-1699" t="-3488" b="-6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6C9312-A658-F92C-D589-0955A387FFB3}"/>
                  </a:ext>
                </a:extLst>
              </p:cNvPr>
              <p:cNvSpPr txBox="1"/>
              <p:nvPr/>
            </p:nvSpPr>
            <p:spPr>
              <a:xfrm>
                <a:off x="6192982" y="1690688"/>
                <a:ext cx="569421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600" b="1" dirty="0"/>
                  <a:t>Polynomial Arithmetic in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6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endParaRPr lang="ar-AE" sz="2600" b="1" dirty="0"/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Addition = coefficient-wise mod 2 (XOR)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Multiplication = polynomial multiply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Then reduce modulo irreducible polynomial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600" dirty="0"/>
                  <a:t>Irreducibility ⇒ multiplicative inverses exist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6C9312-A658-F92C-D589-0955A387F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982" y="1690688"/>
                <a:ext cx="5694218" cy="4093428"/>
              </a:xfrm>
              <a:prstGeom prst="rect">
                <a:avLst/>
              </a:prstGeom>
              <a:blipFill>
                <a:blip r:embed="rId4"/>
                <a:stretch>
                  <a:fillRect l="-1556" t="-1543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17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F4BB72-B603-402D-AC51-38E89D71804A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1381</Words>
  <Application>Microsoft Office PowerPoint</Application>
  <PresentationFormat>Widescreen</PresentationFormat>
  <Paragraphs>205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Courier New</vt:lpstr>
      <vt:lpstr>Office Theme</vt:lpstr>
      <vt:lpstr>Finite Fields</vt:lpstr>
      <vt:lpstr>Fields</vt:lpstr>
      <vt:lpstr>Fields  – Multiplication Properties</vt:lpstr>
      <vt:lpstr>Fields – Multiplication Properties (cont.)</vt:lpstr>
      <vt:lpstr>Types of Fields</vt:lpstr>
      <vt:lpstr>Finite Fields Types</vt:lpstr>
      <vt:lpstr>Finite Fields: GF(p)</vt:lpstr>
      <vt:lpstr>GF(p) Example</vt:lpstr>
      <vt:lpstr>Finite Fields: GF(pm)</vt:lpstr>
      <vt:lpstr>Elements of GF(2^m )</vt:lpstr>
      <vt:lpstr>Why GF(2m) is Important</vt:lpstr>
      <vt:lpstr>Polynomial Arithmetic in GF(2^m ) - Addition</vt:lpstr>
      <vt:lpstr>Polynomial Arithmetic in GF(2^m ) - Multiplication</vt:lpstr>
      <vt:lpstr>Irreducible Polynomial in GF(2^3 )</vt:lpstr>
      <vt:lpstr>Irreducible Polynomial in GF(2^3 ) (cont.)</vt:lpstr>
      <vt:lpstr>Polynomial Arithmetic in GF(2^m ) -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35</cp:revision>
  <dcterms:created xsi:type="dcterms:W3CDTF">2026-02-11T22:00:55Z</dcterms:created>
  <dcterms:modified xsi:type="dcterms:W3CDTF">2026-04-20T17:55:45Z</dcterms:modified>
</cp:coreProperties>
</file>