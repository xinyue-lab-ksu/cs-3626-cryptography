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7" r:id="rId2"/>
    <p:sldId id="407" r:id="rId3"/>
    <p:sldId id="259" r:id="rId4"/>
    <p:sldId id="387" r:id="rId5"/>
    <p:sldId id="280" r:id="rId6"/>
    <p:sldId id="389" r:id="rId7"/>
    <p:sldId id="391" r:id="rId8"/>
    <p:sldId id="392" r:id="rId9"/>
    <p:sldId id="393" r:id="rId10"/>
    <p:sldId id="395" r:id="rId11"/>
    <p:sldId id="394" r:id="rId12"/>
    <p:sldId id="405" r:id="rId13"/>
    <p:sldId id="397" r:id="rId14"/>
    <p:sldId id="398" r:id="rId15"/>
    <p:sldId id="399" r:id="rId16"/>
    <p:sldId id="400" r:id="rId17"/>
    <p:sldId id="408" r:id="rId18"/>
    <p:sldId id="40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67" autoAdjust="0"/>
    <p:restoredTop sz="86441" autoAdjust="0"/>
  </p:normalViewPr>
  <p:slideViewPr>
    <p:cSldViewPr snapToGrid="0">
      <p:cViewPr varScale="1">
        <p:scale>
          <a:sx n="66" d="100"/>
          <a:sy n="66" d="100"/>
        </p:scale>
        <p:origin x="90" y="726"/>
      </p:cViewPr>
      <p:guideLst/>
    </p:cSldViewPr>
  </p:slideViewPr>
  <p:outlineViewPr>
    <p:cViewPr>
      <p:scale>
        <a:sx n="33" d="100"/>
        <a:sy n="33" d="100"/>
      </p:scale>
      <p:origin x="0" y="-19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F99B8-AD21-3F43-8990-B735D8BAF1A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ABEDA-71D1-C540-B951-19F2E309E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25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725B11-0D82-5A49-9B0B-3038EE19D03F}" type="slidenum">
              <a:rPr lang="en-AU">
                <a:latin typeface="Arial" pitchFamily="-1" charset="0"/>
              </a:rPr>
              <a:pPr/>
              <a:t>5</a:t>
            </a:fld>
            <a:endParaRPr lang="en-AU" dirty="0">
              <a:latin typeface="Arial" pitchFamily="-1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b="0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1B765E1-EB55-3F42-96E6-9BC39CDD5E78}" type="slidenum">
              <a:rPr lang="en-AU" smtClean="0"/>
              <a:pPr>
                <a:defRPr/>
              </a:pPr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936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ABEDA-71D1-C540-B951-19F2E309EA1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80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0D12-001C-4724-8956-0F2E5A7BC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B16DD-6EF8-3023-9D9C-4449E5897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15644-3293-E667-997A-CE80E97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3F0E5-212F-8D4E-84DE-09BA4A8988AD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091FE-D55A-5EF2-854E-DEA4F6DD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0D95-C327-309D-1532-1BE112664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061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0DC72-28CA-8236-C6AB-9D0D5026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A763C-DFDD-14D2-A0CE-4217FA35E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EB481-25C4-8605-A472-FBD685D3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4F103-033E-DB4C-93FA-E0672231AEC5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43626-85D2-8EC1-88F2-9845305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DE7A-2AAF-1FB1-3114-6D450AB5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48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C326-9623-B49C-1B37-B2824094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467A0C-90D4-C2DB-742A-13FE02906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AA6C2-FD59-02B5-6207-3B97B415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DC1CB-2B92-844D-994D-DD1ED102067D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B9448-7D3B-6403-60EA-D9125C932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7D3E1-DC63-372B-F0C3-DACF6870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5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B9E8E-B2A2-FEC1-535F-CBFA58F6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B9EF0-6DC8-FDA6-B988-FA7DC0E2DD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8541D-0CBE-DBA1-E23F-1D4327B1A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A696F4-E714-FAEE-BDDD-FDF0DEB36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920B-B2D9-9643-9BAE-2A55CB4A048E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E7514-2B82-7660-81B9-A37D4128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0E774-B1E3-A231-17C6-EAFAC037B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67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98F64-4433-9E2F-8CE8-F29A8E77D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6EED3-A531-5492-A226-A1BA47F38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D5D6AE-8093-A1E8-4CD1-003B74504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CD548-99EB-DAEB-5D23-EF709ECBE7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B2644E-5A0C-086E-12A1-35E9E40432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F6E05-9D59-CDE3-59EA-363B84F9E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53A42-ACAA-494F-9F48-BA38BA3F3CF4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DB960A-F50B-F2D3-E5C0-B03C6184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20C18B-E69E-7606-E52E-0C37597F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00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53E12-98A8-3750-B2B0-5140E0A2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C68E3-1DC4-91C4-4242-932119EFB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62517-DABC-9642-A4C6-3165E8FBFAA9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EAA09-7AA6-E9FB-DBDB-5432FCD34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D2D30-9AD3-00A6-787D-5456B7E4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7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D36CF-383C-EEDB-32D2-17504C4CC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8594-DF71-3F45-9A0F-18383206C4D9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95F793-A094-08C2-E09A-78B98F774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41985-37A6-2882-CA0C-590E263D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61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4679-3522-07A3-EAD4-D441C8D13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7D47-B647-75E8-1136-880C9C854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3D3A7-C569-EFB8-4374-F9C8CC7D20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642CA-2E63-E934-0867-D7E2C60E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9E563-7CF8-F146-92C1-681587D831CE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40E01-763D-C352-20CD-31EB30F6D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C6B27-588B-52D9-9B4B-3BB22513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7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E79A-6630-53D8-38BE-645198740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25DFA-A32C-2F28-CB93-9DA1806F4C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91A46-769B-365E-FA0C-BC06DAA5E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073FD-5F05-8AA7-593F-CFA6E0ED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4719-EAEA-F840-BE8A-4C554CD74549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75748-BA80-4D2E-B942-05BB3918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3C767-035A-0A78-8B56-5C70B30B1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7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BFD8-5BCC-F0E8-6F2B-59181FFF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8412C-E359-7B1B-063C-458C4D71C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2E75B-40BA-AEA3-8CDA-5812B2CB6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C258A-AA17-224F-9C63-045E2D085251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67AFF-F5B0-DA30-A4B8-C8F8E340A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CDA39-08BD-E257-0488-7C1EFCFC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13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ACA657-16A6-B813-FD66-F88291DD05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8DAA5-426E-A327-0142-57DBDAFA7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BB4B7-799B-DF0B-45A8-39A720CD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3233-3CB4-3844-BE3F-4FFAE940031B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B2698-BEF0-A048-BC3A-4C003A57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CF0DE-6A23-F6A2-9B73-EDB5A6A9F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1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AC66A-0B73-B06D-5F04-D3A30F542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C720D-BB7F-085E-E244-D1579C1A4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7A9F5-8C78-5BE1-F0EA-F3FA1DB4F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06070-CCD8-E04C-86F8-D83DD73B26EF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C541E-811D-6B01-0686-38969948A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99328-1E46-E2E1-144B-1F8FC306C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36EF1-E91E-3245-9153-77EA29F06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06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1E04-C63B-5054-1D95-A9942CD2F0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Encryption Standard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4BF6B-C06A-A01A-3C6D-A156BEAD10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Dr. Xinyue Zhang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Department of Computer Science</a:t>
            </a:r>
          </a:p>
          <a:p>
            <a:r>
              <a:rPr lang="en-US" dirty="0"/>
              <a:t>Kennesaw State University</a:t>
            </a:r>
          </a:p>
          <a:p>
            <a:r>
              <a:rPr lang="en-US" dirty="0"/>
              <a:t>Marietta, GA, USA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03472-6174-AC77-271F-8DF9CC740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3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6077D-8A42-0313-F55B-595CCF87F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BD04D-739D-5055-6D23-4B157FC85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  <a:p>
            <a:pPr lvl="1"/>
            <a:r>
              <a:rPr lang="en-US" dirty="0"/>
              <a:t>Block cipher</a:t>
            </a:r>
          </a:p>
          <a:p>
            <a:pPr lvl="1"/>
            <a:r>
              <a:rPr lang="en-US" dirty="0"/>
              <a:t>Confusion</a:t>
            </a:r>
          </a:p>
          <a:p>
            <a:pPr lvl="1"/>
            <a:r>
              <a:rPr lang="en-US" dirty="0"/>
              <a:t>Diffusion</a:t>
            </a:r>
          </a:p>
          <a:p>
            <a:r>
              <a:rPr lang="en-US" dirty="0"/>
              <a:t>DES</a:t>
            </a:r>
          </a:p>
          <a:p>
            <a:pPr lvl="1"/>
            <a:r>
              <a:rPr lang="en-US" dirty="0"/>
              <a:t>Feistel Cipher</a:t>
            </a:r>
          </a:p>
          <a:p>
            <a:pPr lvl="1"/>
            <a:r>
              <a:rPr lang="en-US" dirty="0"/>
              <a:t>F-function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19ED8-9F88-2E33-01C6-B06BD977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9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ACFB2-E118-46D3-EF4F-B519D7D9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</a:t>
            </a:r>
          </a:p>
        </p:txBody>
      </p:sp>
      <p:pic>
        <p:nvPicPr>
          <p:cNvPr id="9" name="Content Placeholder 8" descr="A diagram showing the operation of a block cipher: a plaintext block m and a secret key k are input to a cipher function e, producing a ciphertext block c. The figure illustrates the basic encryption flow from plaintext to ciphertext using a shared secret key.">
            <a:extLst>
              <a:ext uri="{FF2B5EF4-FFF2-40B4-BE49-F238E27FC236}">
                <a16:creationId xmlns:a16="http://schemas.microsoft.com/office/drawing/2014/main" id="{A04AD5CA-B270-8BB8-A205-482727863D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24607" y="1825625"/>
            <a:ext cx="4419600" cy="2019300"/>
          </a:xfr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29D548-F00E-C82C-6877-A089817B47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Block Cipher</a:t>
            </a:r>
            <a:endParaRPr lang="en-US" dirty="0"/>
          </a:p>
          <a:p>
            <a:pPr lvl="1"/>
            <a:r>
              <a:rPr lang="en-US" dirty="0"/>
              <a:t>Deterministic function</a:t>
            </a:r>
          </a:p>
          <a:p>
            <a:pPr lvl="1"/>
            <a:r>
              <a:rPr lang="en-US" dirty="0"/>
              <a:t>Fixed-size input block</a:t>
            </a:r>
          </a:p>
          <a:p>
            <a:pPr lvl="1"/>
            <a:r>
              <a:rPr lang="en-US" dirty="0"/>
              <a:t>Fixed-size output block</a:t>
            </a:r>
          </a:p>
          <a:p>
            <a:pPr lvl="1"/>
            <a:r>
              <a:rPr lang="en-US" dirty="0"/>
              <a:t>Controlled by a secret key</a:t>
            </a:r>
          </a:p>
          <a:p>
            <a:endParaRPr lang="en-US" dirty="0"/>
          </a:p>
        </p:txBody>
      </p:sp>
      <p:pic>
        <p:nvPicPr>
          <p:cNvPr id="11" name="Picture 10" descr="A diagram showing that encryption transforms a plaintext message into a ciphertext using a secret key, and decryption uses the same key to recover the original plaintext from the ciphertext.">
            <a:extLst>
              <a:ext uri="{FF2B5EF4-FFF2-40B4-BE49-F238E27FC236}">
                <a16:creationId xmlns:a16="http://schemas.microsoft.com/office/drawing/2014/main" id="{D5C2F0EC-C9F5-A574-718F-275C34733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902" y="4022679"/>
            <a:ext cx="3309010" cy="166774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ACE6495-4E6E-3571-7DBB-A931574054EE}"/>
              </a:ext>
            </a:extLst>
          </p:cNvPr>
          <p:cNvSpPr/>
          <p:nvPr/>
        </p:nvSpPr>
        <p:spPr>
          <a:xfrm>
            <a:off x="6697717" y="4022679"/>
            <a:ext cx="3309009" cy="247019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• m is the plaintext block,</a:t>
            </a:r>
          </a:p>
          <a:p>
            <a:r>
              <a:rPr lang="en-US" dirty="0"/>
              <a:t>• k is the secret key,</a:t>
            </a:r>
          </a:p>
          <a:p>
            <a:r>
              <a:rPr lang="en-US" dirty="0"/>
              <a:t>• e is the encryption function,</a:t>
            </a:r>
          </a:p>
          <a:p>
            <a:r>
              <a:rPr lang="en-US" dirty="0"/>
              <a:t>• d is the decryption function,</a:t>
            </a:r>
          </a:p>
          <a:p>
            <a:r>
              <a:rPr lang="en-US" dirty="0"/>
              <a:t>• c is the ciphertext block.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A41D0D-7DE0-5683-A1C7-5EA3D35A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2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4BC51-7812-AD41-BFD3-291CAE73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Cipher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68F99-F8AD-A84B-BB8B-2F3111BAC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do we build a block cipher?</a:t>
            </a:r>
          </a:p>
          <a:p>
            <a:pPr lvl="1"/>
            <a:r>
              <a:rPr lang="en-US" b="1" dirty="0"/>
              <a:t>2 basic operations (by Claude Shannon)</a:t>
            </a:r>
          </a:p>
          <a:p>
            <a:pPr lvl="1"/>
            <a:r>
              <a:rPr lang="en-US" u="sng" dirty="0">
                <a:solidFill>
                  <a:srgbClr val="FF0000"/>
                </a:solidFill>
              </a:rPr>
              <a:t>Confusion:</a:t>
            </a:r>
          </a:p>
          <a:p>
            <a:pPr lvl="2"/>
            <a:r>
              <a:rPr lang="en-US" dirty="0"/>
              <a:t>Relationship between plaintext &amp; ciphertext is obscured.</a:t>
            </a:r>
          </a:p>
          <a:p>
            <a:pPr lvl="2"/>
            <a:r>
              <a:rPr lang="en-US" dirty="0"/>
              <a:t>Ex: Substitution table</a:t>
            </a:r>
          </a:p>
          <a:p>
            <a:pPr lvl="1"/>
            <a:r>
              <a:rPr lang="en-US" u="sng" dirty="0">
                <a:solidFill>
                  <a:srgbClr val="FF0000"/>
                </a:solidFill>
              </a:rPr>
              <a:t>Diffusion:</a:t>
            </a:r>
          </a:p>
          <a:p>
            <a:pPr lvl="2"/>
            <a:r>
              <a:rPr lang="en-US" dirty="0"/>
              <a:t>The influence of one each plaintext bit is spread over many ciphertext bits.</a:t>
            </a:r>
          </a:p>
          <a:p>
            <a:pPr lvl="2"/>
            <a:r>
              <a:rPr lang="en-US" dirty="0"/>
              <a:t>Ex: Permutation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ED8F8-690C-5D3D-CE29-684D1EC4A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392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9493"/>
    </mc:Choice>
    <mc:Fallback xmlns="">
      <p:transition spd="slow" advTm="1494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03.pdf"/>
          <p:cNvPicPr>
            <a:picLocks noChangeAspect="1"/>
          </p:cNvPicPr>
          <p:nvPr/>
        </p:nvPicPr>
        <p:blipFill rotWithShape="1">
          <a:blip r:embed="rId3"/>
          <a:srcRect l="8573" t="8035" r="53993" b="48000"/>
          <a:stretch/>
        </p:blipFill>
        <p:spPr>
          <a:xfrm>
            <a:off x="0" y="0"/>
            <a:ext cx="2630675" cy="3998423"/>
          </a:xfrm>
          <a:prstGeom prst="rect">
            <a:avLst/>
          </a:prstGeom>
        </p:spPr>
      </p:pic>
      <p:pic>
        <p:nvPicPr>
          <p:cNvPr id="6" name="Picture 5" descr="f03.pdf">
            <a:extLst>
              <a:ext uri="{FF2B5EF4-FFF2-40B4-BE49-F238E27FC236}">
                <a16:creationId xmlns:a16="http://schemas.microsoft.com/office/drawing/2014/main" id="{4A551FE2-FD3B-A94A-B782-303E394392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72" t="51015" r="50809" b="9973"/>
          <a:stretch/>
        </p:blipFill>
        <p:spPr>
          <a:xfrm>
            <a:off x="2610509" y="0"/>
            <a:ext cx="2802772" cy="3312368"/>
          </a:xfrm>
          <a:prstGeom prst="rect">
            <a:avLst/>
          </a:prstGeom>
        </p:spPr>
      </p:pic>
      <p:pic>
        <p:nvPicPr>
          <p:cNvPr id="7" name="Picture 6" descr="f03.pdf">
            <a:extLst>
              <a:ext uri="{FF2B5EF4-FFF2-40B4-BE49-F238E27FC236}">
                <a16:creationId xmlns:a16="http://schemas.microsoft.com/office/drawing/2014/main" id="{A8B0182D-E018-B54C-8566-4E7C7CBF4D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692" t="2001" r="12767" b="47984"/>
          <a:stretch/>
        </p:blipFill>
        <p:spPr>
          <a:xfrm>
            <a:off x="6312024" y="-81780"/>
            <a:ext cx="2471256" cy="4260786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CDE9C22-3967-C143-89B4-615ECCCE7239}"/>
              </a:ext>
            </a:extLst>
          </p:cNvPr>
          <p:cNvSpPr>
            <a:spLocks/>
          </p:cNvSpPr>
          <p:nvPr/>
        </p:nvSpPr>
        <p:spPr>
          <a:xfrm>
            <a:off x="1876230" y="3501008"/>
            <a:ext cx="2105352" cy="902079"/>
          </a:xfrm>
          <a:prstGeom prst="roundRect">
            <a:avLst/>
          </a:prstGeom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Encryption</a:t>
            </a:r>
          </a:p>
        </p:txBody>
      </p:sp>
      <p:pic>
        <p:nvPicPr>
          <p:cNvPr id="8" name="Picture 7" descr="f03.pdf">
            <a:extLst>
              <a:ext uri="{FF2B5EF4-FFF2-40B4-BE49-F238E27FC236}">
                <a16:creationId xmlns:a16="http://schemas.microsoft.com/office/drawing/2014/main" id="{0630CF57-DBC8-A34D-B73F-9661D9FB7DD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191" t="51015" r="12960" b="14236"/>
          <a:stretch/>
        </p:blipFill>
        <p:spPr>
          <a:xfrm>
            <a:off x="8783280" y="194170"/>
            <a:ext cx="2722590" cy="323483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02DEA09-091B-0043-B48B-39A47F992B39}"/>
              </a:ext>
            </a:extLst>
          </p:cNvPr>
          <p:cNvSpPr/>
          <p:nvPr/>
        </p:nvSpPr>
        <p:spPr>
          <a:xfrm>
            <a:off x="8185042" y="3501008"/>
            <a:ext cx="2105352" cy="90207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Decryption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06AC0-955F-2F4A-67D0-C9E3D722E685}"/>
              </a:ext>
            </a:extLst>
          </p:cNvPr>
          <p:cNvSpPr txBox="1"/>
          <p:nvPr/>
        </p:nvSpPr>
        <p:spPr>
          <a:xfrm>
            <a:off x="-69431" y="6614891"/>
            <a:ext cx="91630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*Figure resource: Stallings, William. Cryptography and Network Security: Principles and Practice, 7th ed. England: Pearson Education Limited, 2017.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541F9C7-DEAC-AF5F-20F3-F3025632B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40C51E-70F3-3B40-A840-CB9050AB8CA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257712" y="3719328"/>
            <a:ext cx="3289940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 Encryption and Decryption</a:t>
            </a:r>
          </a:p>
        </p:txBody>
      </p:sp>
    </p:spTree>
  </p:cSld>
  <p:clrMapOvr>
    <a:masterClrMapping/>
  </p:clrMapOvr>
  <p:transition advTm="874133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CC04B1-35B2-6942-A596-F60BD5C67391}"/>
              </a:ext>
            </a:extLst>
          </p:cNvPr>
          <p:cNvSpPr txBox="1">
            <a:spLocks/>
          </p:cNvSpPr>
          <p:nvPr/>
        </p:nvSpPr>
        <p:spPr>
          <a:xfrm>
            <a:off x="937783" y="980728"/>
            <a:ext cx="53066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F-function: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Expansion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E-box provides diffusion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32 bits -&gt; 48 bits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mixing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XOR operation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Key: 48 bits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Substitution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S-box provides confusion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Permutation</a:t>
            </a:r>
          </a:p>
        </p:txBody>
      </p:sp>
      <p:pic>
        <p:nvPicPr>
          <p:cNvPr id="7" name="Picture 6" descr="F-function:&#10;&#10;Expansion&#10;E-box provides diffusion&#10;32 bits -&gt; 48 bits&#10;Key mixing &#10;XOR operation&#10;Key: 48 bits&#10;Substitution&#10;S-box provides confusion&#10;Permutation&#10;">
            <a:extLst>
              <a:ext uri="{FF2B5EF4-FFF2-40B4-BE49-F238E27FC236}">
                <a16:creationId xmlns:a16="http://schemas.microsoft.com/office/drawing/2014/main" id="{DA1E535A-F3B9-A744-8952-45EE21B4C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20" y="749300"/>
            <a:ext cx="4699000" cy="61087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10421DF-918D-6E48-A987-F529624052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93472" y="25747"/>
            <a:ext cx="2664296" cy="870522"/>
          </a:xfrm>
          <a:prstGeom prst="roundRect">
            <a:avLst/>
          </a:prstGeom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F-function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521F0-F6A6-9F66-4EF6-C2B42584CE70}"/>
              </a:ext>
            </a:extLst>
          </p:cNvPr>
          <p:cNvSpPr txBox="1"/>
          <p:nvPr/>
        </p:nvSpPr>
        <p:spPr>
          <a:xfrm>
            <a:off x="-69431" y="6614891"/>
            <a:ext cx="76562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*Figure resource: Paar, Christof, and Jan Pelzl. Understanding cryptography. Vol. 1. Springer-Verlag Berlin Heidelberg, 2010.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1B582-A45A-61B6-2336-23F92989DD08}"/>
              </a:ext>
            </a:extLst>
          </p:cNvPr>
          <p:cNvSpPr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936EF1-E91E-3245-9153-77EA29F06AD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82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056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457"/>
    </mc:Choice>
    <mc:Fallback xmlns="">
      <p:transition spd="slow" advTm="22645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F-function:&#10;&#10;Expansion&#10;E-box provides diffusion&#10;32 bits -&gt; 48 bits&#10;Key mixing &#10;XOR operation&#10;Key: 48 bits&#10;Substitution&#10;S-box provides confusion&#10;Permutation&#10;">
            <a:extLst>
              <a:ext uri="{FF2B5EF4-FFF2-40B4-BE49-F238E27FC236}">
                <a16:creationId xmlns:a16="http://schemas.microsoft.com/office/drawing/2014/main" id="{CB22B44D-11C1-0F4B-89F8-126281145A2C}"/>
              </a:ext>
            </a:extLst>
          </p:cNvPr>
          <p:cNvGrpSpPr/>
          <p:nvPr/>
        </p:nvGrpSpPr>
        <p:grpSpPr>
          <a:xfrm>
            <a:off x="7176120" y="25747"/>
            <a:ext cx="4699000" cy="6832253"/>
            <a:chOff x="7176120" y="25747"/>
            <a:chExt cx="4699000" cy="6832253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CC6B1746-1539-D24B-9B5B-1CFF4E4A4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6120" y="749300"/>
              <a:ext cx="4699000" cy="6108700"/>
            </a:xfrm>
            <a:prstGeom prst="rect">
              <a:avLst/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A439E6D3-16AF-7E49-B5A8-92BF7B0A6EE2}"/>
                </a:ext>
              </a:extLst>
            </p:cNvPr>
            <p:cNvSpPr/>
            <p:nvPr/>
          </p:nvSpPr>
          <p:spPr>
            <a:xfrm>
              <a:off x="8193472" y="25747"/>
              <a:ext cx="2664296" cy="870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F-function</a:t>
              </a:r>
            </a:p>
          </p:txBody>
        </p:sp>
      </p:grpSp>
      <p:pic>
        <p:nvPicPr>
          <p:cNvPr id="8" name="Picture 7" descr="Expansion map">
            <a:extLst>
              <a:ext uri="{FF2B5EF4-FFF2-40B4-BE49-F238E27FC236}">
                <a16:creationId xmlns:a16="http://schemas.microsoft.com/office/drawing/2014/main" id="{747BF627-09AA-6F47-B258-1FCB2D4E9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57" y="3523378"/>
            <a:ext cx="5832648" cy="21075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C958B4-E017-9449-BAA7-A4E8F7DCBEDA}"/>
              </a:ext>
            </a:extLst>
          </p:cNvPr>
          <p:cNvSpPr txBox="1">
            <a:spLocks/>
          </p:cNvSpPr>
          <p:nvPr/>
        </p:nvSpPr>
        <p:spPr>
          <a:xfrm>
            <a:off x="350466" y="1298983"/>
            <a:ext cx="660963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32-bit input is expanded to 48 bits by partitioning the input into eight 4-bit blocks and by expanding each block to 6 bits.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output consists of eight 6-bit (8 × 6 = 48 bits) pieces, each containing a copy of 4 corresponding input bits,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plus a copy of the immediately adjacent bit from each of the input pieces to either side.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6B6A4C2-5DAA-35DC-11CC-F777A929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Expansion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2E72C-9047-1871-AE43-8AF188C1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2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1285"/>
    </mc:Choice>
    <mc:Fallback xmlns="">
      <p:transition spd="slow" advTm="5312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F-function:&#10;&#10;Expansion&#10;E-box provides diffusion&#10;32 bits -&gt; 48 bits&#10;Key mixing &#10;XOR operation&#10;Key: 48 bits&#10;Substitution&#10;S-box provides confusion&#10;Permutation&#10;">
            <a:extLst>
              <a:ext uri="{FF2B5EF4-FFF2-40B4-BE49-F238E27FC236}">
                <a16:creationId xmlns:a16="http://schemas.microsoft.com/office/drawing/2014/main" id="{7F5E4A4F-E97F-3D4C-B63A-4D5F22112DFF}"/>
              </a:ext>
            </a:extLst>
          </p:cNvPr>
          <p:cNvGrpSpPr/>
          <p:nvPr/>
        </p:nvGrpSpPr>
        <p:grpSpPr>
          <a:xfrm>
            <a:off x="7176120" y="25747"/>
            <a:ext cx="4699000" cy="6832253"/>
            <a:chOff x="7176120" y="25747"/>
            <a:chExt cx="4699000" cy="6832253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A47EF9C7-456C-C645-9657-3B0A38F38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6120" y="749300"/>
              <a:ext cx="4699000" cy="6108700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6F5878C-E7F7-9E40-B844-1A035EE43FA9}"/>
                </a:ext>
              </a:extLst>
            </p:cNvPr>
            <p:cNvSpPr/>
            <p:nvPr/>
          </p:nvSpPr>
          <p:spPr>
            <a:xfrm>
              <a:off x="8193472" y="25747"/>
              <a:ext cx="2664296" cy="870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F-function</a:t>
              </a:r>
            </a:p>
          </p:txBody>
        </p:sp>
      </p:grpSp>
      <p:pic>
        <p:nvPicPr>
          <p:cNvPr id="6" name="Picture 5" descr="Expansion map">
            <a:extLst>
              <a:ext uri="{FF2B5EF4-FFF2-40B4-BE49-F238E27FC236}">
                <a16:creationId xmlns:a16="http://schemas.microsoft.com/office/drawing/2014/main" id="{D9BD90C8-91FE-C241-8850-285534BB3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57" y="1321405"/>
            <a:ext cx="5832648" cy="210759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14004F4-53A0-364F-87C1-E82070399E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50466" y="620688"/>
            <a:ext cx="6609630" cy="52322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Expansion:</a:t>
            </a:r>
          </a:p>
        </p:txBody>
      </p:sp>
      <p:pic>
        <p:nvPicPr>
          <p:cNvPr id="9" name="Picture 8" descr="Expansion Table">
            <a:extLst>
              <a:ext uri="{FF2B5EF4-FFF2-40B4-BE49-F238E27FC236}">
                <a16:creationId xmlns:a16="http://schemas.microsoft.com/office/drawing/2014/main" id="{12AC133C-5090-C047-84BB-2CB34145C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592" y="3429000"/>
            <a:ext cx="2665328" cy="3308683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FE14524-22AC-003B-4BC8-992D657F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7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605"/>
    </mc:Choice>
    <mc:Fallback xmlns="">
      <p:transition spd="slow" advTm="11960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F-function:&#10;&#10;Expansion&#10;E-box provides diffusion&#10;32 bits -&gt; 48 bits&#10;Key mixing &#10;XOR operation&#10;Key: 48 bits&#10;Substitution&#10;S-box provides confusion&#10;Permutation&#10;">
            <a:extLst>
              <a:ext uri="{FF2B5EF4-FFF2-40B4-BE49-F238E27FC236}">
                <a16:creationId xmlns:a16="http://schemas.microsoft.com/office/drawing/2014/main" id="{7F5E4A4F-E97F-3D4C-B63A-4D5F22112DFF}"/>
              </a:ext>
            </a:extLst>
          </p:cNvPr>
          <p:cNvGrpSpPr/>
          <p:nvPr/>
        </p:nvGrpSpPr>
        <p:grpSpPr>
          <a:xfrm>
            <a:off x="7176120" y="25747"/>
            <a:ext cx="4699000" cy="6832253"/>
            <a:chOff x="7176120" y="25747"/>
            <a:chExt cx="4699000" cy="6832253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A47EF9C7-456C-C645-9657-3B0A38F38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6120" y="749300"/>
              <a:ext cx="4699000" cy="6108700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6F5878C-E7F7-9E40-B844-1A035EE43FA9}"/>
                </a:ext>
              </a:extLst>
            </p:cNvPr>
            <p:cNvSpPr/>
            <p:nvPr/>
          </p:nvSpPr>
          <p:spPr>
            <a:xfrm>
              <a:off x="8193472" y="25747"/>
              <a:ext cx="2664296" cy="870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F-function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442424F-7B12-A94C-82CD-69D1FF593AC1}"/>
              </a:ext>
            </a:extLst>
          </p:cNvPr>
          <p:cNvSpPr txBox="1"/>
          <p:nvPr/>
        </p:nvSpPr>
        <p:spPr>
          <a:xfrm>
            <a:off x="316880" y="1254905"/>
            <a:ext cx="6609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Eight 6-bit blocks are fed into eight different substitution boxes </a:t>
            </a:r>
            <a:r>
              <a:rPr lang="en-US" sz="2000" b="1" u="sng" dirty="0">
                <a:latin typeface="+mn-lt"/>
              </a:rPr>
              <a:t>(S-boxes)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Each S-box is a lookup table that maps a 6-bit input to a 4-bit output.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+mn-lt"/>
            </a:endParaRPr>
          </a:p>
        </p:txBody>
      </p:sp>
      <p:pic>
        <p:nvPicPr>
          <p:cNvPr id="7" name="Picture 6" descr="Substitution workflow">
            <a:extLst>
              <a:ext uri="{FF2B5EF4-FFF2-40B4-BE49-F238E27FC236}">
                <a16:creationId xmlns:a16="http://schemas.microsoft.com/office/drawing/2014/main" id="{16B43EFA-6F03-9F43-B2F0-A5D91D2AA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551311"/>
            <a:ext cx="4037581" cy="2043410"/>
          </a:xfrm>
          <a:prstGeom prst="rect">
            <a:avLst/>
          </a:prstGeom>
        </p:spPr>
      </p:pic>
      <p:pic>
        <p:nvPicPr>
          <p:cNvPr id="9" name="Picture 8" descr="Substitution table for S1">
            <a:extLst>
              <a:ext uri="{FF2B5EF4-FFF2-40B4-BE49-F238E27FC236}">
                <a16:creationId xmlns:a16="http://schemas.microsoft.com/office/drawing/2014/main" id="{774BFFB9-B3DD-1B4D-84CA-DB4320343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56" y="4725932"/>
            <a:ext cx="6560050" cy="1800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02956A-1BC9-A2EE-72C1-66A86DE8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Substitution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AFDD14-D89C-619A-F0D9-A80FD1B22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4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7306"/>
    </mc:Choice>
    <mc:Fallback xmlns="">
      <p:transition spd="slow" advTm="36730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ubstitution table for S1">
            <a:extLst>
              <a:ext uri="{FF2B5EF4-FFF2-40B4-BE49-F238E27FC236}">
                <a16:creationId xmlns:a16="http://schemas.microsoft.com/office/drawing/2014/main" id="{07FFA0DD-760F-A347-A5C6-3C5C397F5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20" y="574703"/>
            <a:ext cx="4572000" cy="1291167"/>
          </a:xfrm>
          <a:prstGeom prst="rect">
            <a:avLst/>
          </a:prstGeom>
        </p:spPr>
      </p:pic>
      <p:pic>
        <p:nvPicPr>
          <p:cNvPr id="6" name="Picture 5" descr="Substitution table for S2">
            <a:extLst>
              <a:ext uri="{FF2B5EF4-FFF2-40B4-BE49-F238E27FC236}">
                <a16:creationId xmlns:a16="http://schemas.microsoft.com/office/drawing/2014/main" id="{0E4DBB9B-8483-294A-BC83-A74B344FF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20" y="2132440"/>
            <a:ext cx="4572000" cy="1354667"/>
          </a:xfrm>
          <a:prstGeom prst="rect">
            <a:avLst/>
          </a:prstGeom>
        </p:spPr>
      </p:pic>
      <p:pic>
        <p:nvPicPr>
          <p:cNvPr id="8" name="Picture 7" descr="Substitution table for S3">
            <a:extLst>
              <a:ext uri="{FF2B5EF4-FFF2-40B4-BE49-F238E27FC236}">
                <a16:creationId xmlns:a16="http://schemas.microsoft.com/office/drawing/2014/main" id="{F90955D3-F622-AE4E-A10F-F9B330484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20" y="3740607"/>
            <a:ext cx="4572000" cy="1309255"/>
          </a:xfrm>
          <a:prstGeom prst="rect">
            <a:avLst/>
          </a:prstGeom>
        </p:spPr>
      </p:pic>
      <p:pic>
        <p:nvPicPr>
          <p:cNvPr id="10" name="Picture 9" descr="Substitution table for S4&#10;">
            <a:extLst>
              <a:ext uri="{FF2B5EF4-FFF2-40B4-BE49-F238E27FC236}">
                <a16:creationId xmlns:a16="http://schemas.microsoft.com/office/drawing/2014/main" id="{7BCC1D54-9B9E-FC45-84A8-83C6A3928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20" y="5306061"/>
            <a:ext cx="4572000" cy="1246909"/>
          </a:xfrm>
          <a:prstGeom prst="rect">
            <a:avLst/>
          </a:prstGeom>
        </p:spPr>
      </p:pic>
      <p:pic>
        <p:nvPicPr>
          <p:cNvPr id="12" name="Picture 11" descr="Substitution table for S5">
            <a:extLst>
              <a:ext uri="{FF2B5EF4-FFF2-40B4-BE49-F238E27FC236}">
                <a16:creationId xmlns:a16="http://schemas.microsoft.com/office/drawing/2014/main" id="{1D5203BA-B3C4-5945-95C0-FFCF0C5D60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880" y="561067"/>
            <a:ext cx="4572000" cy="1318437"/>
          </a:xfrm>
          <a:prstGeom prst="rect">
            <a:avLst/>
          </a:prstGeom>
        </p:spPr>
      </p:pic>
      <p:pic>
        <p:nvPicPr>
          <p:cNvPr id="14" name="Picture 13" descr="Substitution table for S6&#10;">
            <a:extLst>
              <a:ext uri="{FF2B5EF4-FFF2-40B4-BE49-F238E27FC236}">
                <a16:creationId xmlns:a16="http://schemas.microsoft.com/office/drawing/2014/main" id="{DD89DD6F-E519-FF47-AD31-66939789A4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6675" y="2132440"/>
            <a:ext cx="4572000" cy="1275907"/>
          </a:xfrm>
          <a:prstGeom prst="rect">
            <a:avLst/>
          </a:prstGeom>
        </p:spPr>
      </p:pic>
      <p:pic>
        <p:nvPicPr>
          <p:cNvPr id="16" name="Picture 15" descr="Substitution table for S7">
            <a:extLst>
              <a:ext uri="{FF2B5EF4-FFF2-40B4-BE49-F238E27FC236}">
                <a16:creationId xmlns:a16="http://schemas.microsoft.com/office/drawing/2014/main" id="{1AA0D428-F9F2-5D47-BB7A-A6CEDCE5FD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8880" y="3770541"/>
            <a:ext cx="4572000" cy="1279321"/>
          </a:xfrm>
          <a:prstGeom prst="rect">
            <a:avLst/>
          </a:prstGeom>
        </p:spPr>
      </p:pic>
      <p:pic>
        <p:nvPicPr>
          <p:cNvPr id="18" name="Picture 17" descr="Substitution table for S8">
            <a:extLst>
              <a:ext uri="{FF2B5EF4-FFF2-40B4-BE49-F238E27FC236}">
                <a16:creationId xmlns:a16="http://schemas.microsoft.com/office/drawing/2014/main" id="{B331901E-5443-8F4E-B83E-4C710C30AD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8880" y="5305320"/>
            <a:ext cx="4572000" cy="13152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A9B181-4802-D747-58B3-78DD5B1A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20" y="8378"/>
            <a:ext cx="10515600" cy="785696"/>
          </a:xfrm>
        </p:spPr>
        <p:txBody>
          <a:bodyPr/>
          <a:lstStyle/>
          <a:p>
            <a:r>
              <a:rPr lang="en-US" dirty="0"/>
              <a:t>Substitution Tables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C3775-58DF-2B41-3CD9-15BA0680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6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176"/>
    </mc:Choice>
    <mc:Fallback xmlns="">
      <p:transition spd="slow" advTm="6617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F-function:&#10;&#10;Expansion&#10;E-box provides diffusion&#10;32 bits -&gt; 48 bits&#10;Key mixing &#10;XOR operation&#10;Key: 48 bits&#10;Substitution&#10;S-box provides confusion&#10;Permutation&#10;">
            <a:extLst>
              <a:ext uri="{FF2B5EF4-FFF2-40B4-BE49-F238E27FC236}">
                <a16:creationId xmlns:a16="http://schemas.microsoft.com/office/drawing/2014/main" id="{7F5E4A4F-E97F-3D4C-B63A-4D5F22112DFF}"/>
              </a:ext>
            </a:extLst>
          </p:cNvPr>
          <p:cNvGrpSpPr/>
          <p:nvPr/>
        </p:nvGrpSpPr>
        <p:grpSpPr>
          <a:xfrm>
            <a:off x="7176120" y="25747"/>
            <a:ext cx="4699000" cy="6832253"/>
            <a:chOff x="7176120" y="25747"/>
            <a:chExt cx="4699000" cy="6832253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A47EF9C7-456C-C645-9657-3B0A38F38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6120" y="749300"/>
              <a:ext cx="4699000" cy="6108700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6F5878C-E7F7-9E40-B844-1A035EE43FA9}"/>
                </a:ext>
              </a:extLst>
            </p:cNvPr>
            <p:cNvSpPr/>
            <p:nvPr/>
          </p:nvSpPr>
          <p:spPr>
            <a:xfrm>
              <a:off x="8193472" y="25747"/>
              <a:ext cx="2664296" cy="870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F-function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C7A4E7D-FDA0-E24B-8A28-7E11EB0EC213}"/>
              </a:ext>
            </a:extLst>
          </p:cNvPr>
          <p:cNvSpPr txBox="1"/>
          <p:nvPr/>
        </p:nvSpPr>
        <p:spPr>
          <a:xfrm>
            <a:off x="316880" y="1312666"/>
            <a:ext cx="66096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The 32-bit output is permuted according to the P permutation.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After permutation, the bits from the output of each S-box in this round are spread across four different S-boxes in the next round.</a:t>
            </a:r>
          </a:p>
        </p:txBody>
      </p:sp>
      <p:pic>
        <p:nvPicPr>
          <p:cNvPr id="7" name="Picture 6" descr="Permutation table">
            <a:extLst>
              <a:ext uri="{FF2B5EF4-FFF2-40B4-BE49-F238E27FC236}">
                <a16:creationId xmlns:a16="http://schemas.microsoft.com/office/drawing/2014/main" id="{8C099AD1-0C8A-B54A-A07C-D8F5E80A9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8" y="3861048"/>
            <a:ext cx="4338745" cy="24234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8DD9FD-730E-A719-BB42-8B91127B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Permutation: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17A5D5-F74E-0526-379F-CFA64D70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3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834"/>
    </mc:Choice>
    <mc:Fallback xmlns="">
      <p:transition spd="slow" advTm="22583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7C7090-F164-0BD2-AEF7-E191B61F41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091284" y="2844225"/>
            <a:ext cx="4009431" cy="5847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F-Function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4DA61-5866-045F-773C-1CAEB00A0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7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79"/>
    </mc:Choice>
    <mc:Fallback xmlns="">
      <p:transition spd="slow" advTm="1547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CC04B1-35B2-6942-A596-F60BD5C67391}"/>
              </a:ext>
            </a:extLst>
          </p:cNvPr>
          <p:cNvSpPr txBox="1"/>
          <p:nvPr/>
        </p:nvSpPr>
        <p:spPr>
          <a:xfrm>
            <a:off x="937783" y="980728"/>
            <a:ext cx="530664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+mn-lt"/>
              </a:rPr>
              <a:t>F-function Review:</a:t>
            </a:r>
          </a:p>
          <a:p>
            <a:endParaRPr lang="en-US" sz="3200" b="1" dirty="0">
              <a:solidFill>
                <a:schemeClr val="accent1"/>
              </a:solidFill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Expansion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E-box provides diffusion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32 bits -&gt; 48 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Key mixing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XOR operation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Key: 48 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Substitution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S-box provides confusion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Permutation</a:t>
            </a:r>
          </a:p>
        </p:txBody>
      </p:sp>
      <p:pic>
        <p:nvPicPr>
          <p:cNvPr id="7" name="Picture 6" descr="F-function:&#10;&#10;Expansion&#10;E-box provides diffusion&#10;32 bits -&gt; 48 bits&#10;Key mixing &#10;XOR operation&#10;Key: 48 bits&#10;Substitution&#10;S-box provides confusion&#10;Permutation&#10;">
            <a:extLst>
              <a:ext uri="{FF2B5EF4-FFF2-40B4-BE49-F238E27FC236}">
                <a16:creationId xmlns:a16="http://schemas.microsoft.com/office/drawing/2014/main" id="{DA1E535A-F3B9-A744-8952-45EE21B4C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120" y="749300"/>
            <a:ext cx="4699000" cy="61087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10421DF-918D-6E48-A987-F529624052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193472" y="25747"/>
            <a:ext cx="2664296" cy="870522"/>
          </a:xfrm>
          <a:prstGeom prst="roundRect">
            <a:avLst/>
          </a:prstGeom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F-function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lang="en-US" sz="3200" b="1" noProof="0" dirty="0"/>
              <a:t>Review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3DFEB1-854C-7985-0895-EEAC362F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8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723"/>
    </mc:Choice>
    <mc:Fallback xmlns="">
      <p:transition spd="slow" advTm="47723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F-function:&#10;&#10;Expansion&#10;E-box provides diffusion&#10;32 bits -&gt; 48 bits&#10;Key mixing &#10;XOR operation&#10;Key: 48 bits&#10;Substitution&#10;S-box provides confusion&#10;Permutation&#10;">
            <a:extLst>
              <a:ext uri="{FF2B5EF4-FFF2-40B4-BE49-F238E27FC236}">
                <a16:creationId xmlns:a16="http://schemas.microsoft.com/office/drawing/2014/main" id="{CB22B44D-11C1-0F4B-89F8-126281145A2C}"/>
              </a:ext>
            </a:extLst>
          </p:cNvPr>
          <p:cNvGrpSpPr/>
          <p:nvPr/>
        </p:nvGrpSpPr>
        <p:grpSpPr>
          <a:xfrm>
            <a:off x="7176120" y="25747"/>
            <a:ext cx="4699000" cy="6832253"/>
            <a:chOff x="7176120" y="25747"/>
            <a:chExt cx="4699000" cy="6832253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CC6B1746-1539-D24B-9B5B-1CFF4E4A4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6120" y="749300"/>
              <a:ext cx="4699000" cy="6108700"/>
            </a:xfrm>
            <a:prstGeom prst="rect">
              <a:avLst/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A439E6D3-16AF-7E49-B5A8-92BF7B0A6EE2}"/>
                </a:ext>
              </a:extLst>
            </p:cNvPr>
            <p:cNvSpPr/>
            <p:nvPr/>
          </p:nvSpPr>
          <p:spPr>
            <a:xfrm>
              <a:off x="8193472" y="25747"/>
              <a:ext cx="2664296" cy="870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F-function</a:t>
              </a:r>
            </a:p>
          </p:txBody>
        </p:sp>
      </p:grpSp>
      <p:pic>
        <p:nvPicPr>
          <p:cNvPr id="8" name="Picture 7" descr="Expansion map">
            <a:extLst>
              <a:ext uri="{FF2B5EF4-FFF2-40B4-BE49-F238E27FC236}">
                <a16:creationId xmlns:a16="http://schemas.microsoft.com/office/drawing/2014/main" id="{747BF627-09AA-6F47-B258-1FCB2D4E9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957" y="3523378"/>
            <a:ext cx="5832648" cy="210759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A4942A-BE11-BFAC-F4F0-624A34E5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68083-3090-E00B-DC3F-EC776EA08CE2}"/>
              </a:ext>
            </a:extLst>
          </p:cNvPr>
          <p:cNvSpPr txBox="1">
            <a:spLocks/>
          </p:cNvSpPr>
          <p:nvPr/>
        </p:nvSpPr>
        <p:spPr>
          <a:xfrm>
            <a:off x="350466" y="1298983"/>
            <a:ext cx="660963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32-bit input is expanded to 48 bits by partitioning the input into eight 4-bit blocks and by expanding each block to 6 bits.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output consists of eight 6-bit (8 × 6 = 48 bits) pieces, each containing a copy of 4 corresponding input bits,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plus a copy of the immediately adjacent bit from each of the input pieces to either side.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75BE1C7C-3F17-6EF2-AE80-93B7AE11BC6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Expansion Review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290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304"/>
    </mc:Choice>
    <mc:Fallback xmlns="">
      <p:transition spd="slow" advTm="29030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F-function:&#10;&#10;Expansion&#10;E-box provides diffusion&#10;32 bits -&gt; 48 bits&#10;Key mixing &#10;XOR operation&#10;Key: 48 bits&#10;Substitution&#10;S-box provides confusion&#10;Permutation&#10;">
            <a:extLst>
              <a:ext uri="{FF2B5EF4-FFF2-40B4-BE49-F238E27FC236}">
                <a16:creationId xmlns:a16="http://schemas.microsoft.com/office/drawing/2014/main" id="{7F5E4A4F-E97F-3D4C-B63A-4D5F22112DFF}"/>
              </a:ext>
            </a:extLst>
          </p:cNvPr>
          <p:cNvGrpSpPr/>
          <p:nvPr/>
        </p:nvGrpSpPr>
        <p:grpSpPr>
          <a:xfrm>
            <a:off x="7176120" y="25747"/>
            <a:ext cx="4699000" cy="6832253"/>
            <a:chOff x="7176120" y="25747"/>
            <a:chExt cx="4699000" cy="6832253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A47EF9C7-456C-C645-9657-3B0A38F38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76120" y="749300"/>
              <a:ext cx="4699000" cy="6108700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6F5878C-E7F7-9E40-B844-1A035EE43FA9}"/>
                </a:ext>
              </a:extLst>
            </p:cNvPr>
            <p:cNvSpPr/>
            <p:nvPr/>
          </p:nvSpPr>
          <p:spPr>
            <a:xfrm>
              <a:off x="8193472" y="25747"/>
              <a:ext cx="2664296" cy="870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F-function</a:t>
              </a:r>
            </a:p>
          </p:txBody>
        </p:sp>
      </p:grpSp>
      <p:pic>
        <p:nvPicPr>
          <p:cNvPr id="7" name="Picture 6" descr="Substitution workflow">
            <a:extLst>
              <a:ext uri="{FF2B5EF4-FFF2-40B4-BE49-F238E27FC236}">
                <a16:creationId xmlns:a16="http://schemas.microsoft.com/office/drawing/2014/main" id="{16B43EFA-6F03-9F43-B2F0-A5D91D2AA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2551311"/>
            <a:ext cx="4037581" cy="2043410"/>
          </a:xfrm>
          <a:prstGeom prst="rect">
            <a:avLst/>
          </a:prstGeom>
        </p:spPr>
      </p:pic>
      <p:pic>
        <p:nvPicPr>
          <p:cNvPr id="9" name="Picture 8" descr="Substitution table for S1">
            <a:extLst>
              <a:ext uri="{FF2B5EF4-FFF2-40B4-BE49-F238E27FC236}">
                <a16:creationId xmlns:a16="http://schemas.microsoft.com/office/drawing/2014/main" id="{774BFFB9-B3DD-1B4D-84CA-DB4320343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56" y="4725932"/>
            <a:ext cx="6560050" cy="1800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19922E-ECD2-8F55-5E5E-356CE7BB3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A9D9F-745F-03EC-1DD6-8B844428EA6C}"/>
              </a:ext>
            </a:extLst>
          </p:cNvPr>
          <p:cNvSpPr txBox="1"/>
          <p:nvPr/>
        </p:nvSpPr>
        <p:spPr>
          <a:xfrm>
            <a:off x="316880" y="1254905"/>
            <a:ext cx="66096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Eight 6-bit blocks are fed into eight different substitution boxes </a:t>
            </a:r>
            <a:r>
              <a:rPr lang="en-US" sz="2000" b="1" u="sng" dirty="0">
                <a:latin typeface="+mn-lt"/>
              </a:rPr>
              <a:t>(S-boxes)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Each S-box is a lookup table that maps a 6-bit input to a 4-bit output.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atin typeface="+mn-lt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178652E-23E3-0183-27C5-B1BC80E408F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b="1" dirty="0"/>
              <a:t>Substitution Review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702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3269"/>
    </mc:Choice>
    <mc:Fallback xmlns="">
      <p:transition spd="slow" advTm="23326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 descr="F-function:&#10;&#10;Expansion&#10;E-box provides diffusion&#10;32 bits -&gt; 48 bits&#10;Key mixing &#10;XOR operation&#10;Key: 48 bits&#10;Substitution&#10;S-box provides confusion&#10;Permutation&#10;">
            <a:extLst>
              <a:ext uri="{FF2B5EF4-FFF2-40B4-BE49-F238E27FC236}">
                <a16:creationId xmlns:a16="http://schemas.microsoft.com/office/drawing/2014/main" id="{7F5E4A4F-E97F-3D4C-B63A-4D5F22112DFF}"/>
              </a:ext>
            </a:extLst>
          </p:cNvPr>
          <p:cNvGrpSpPr/>
          <p:nvPr/>
        </p:nvGrpSpPr>
        <p:grpSpPr>
          <a:xfrm>
            <a:off x="7176120" y="25747"/>
            <a:ext cx="4699000" cy="6832253"/>
            <a:chOff x="7176120" y="25747"/>
            <a:chExt cx="4699000" cy="6832253"/>
          </a:xfrm>
        </p:grpSpPr>
        <p:pic>
          <p:nvPicPr>
            <p:cNvPr id="4" name="Picture 3" descr="Diagram&#10;&#10;Description automatically generated">
              <a:extLst>
                <a:ext uri="{FF2B5EF4-FFF2-40B4-BE49-F238E27FC236}">
                  <a16:creationId xmlns:a16="http://schemas.microsoft.com/office/drawing/2014/main" id="{A47EF9C7-456C-C645-9657-3B0A38F38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76120" y="749300"/>
              <a:ext cx="4699000" cy="6108700"/>
            </a:xfrm>
            <a:prstGeom prst="rect">
              <a:avLst/>
            </a:prstGeom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6F5878C-E7F7-9E40-B844-1A035EE43FA9}"/>
                </a:ext>
              </a:extLst>
            </p:cNvPr>
            <p:cNvSpPr/>
            <p:nvPr/>
          </p:nvSpPr>
          <p:spPr>
            <a:xfrm>
              <a:off x="8193472" y="25747"/>
              <a:ext cx="2664296" cy="87052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/>
                <a:t>F-function</a:t>
              </a:r>
            </a:p>
          </p:txBody>
        </p:sp>
      </p:grpSp>
      <p:pic>
        <p:nvPicPr>
          <p:cNvPr id="7" name="Picture 6" descr="Permutation table">
            <a:extLst>
              <a:ext uri="{FF2B5EF4-FFF2-40B4-BE49-F238E27FC236}">
                <a16:creationId xmlns:a16="http://schemas.microsoft.com/office/drawing/2014/main" id="{8C099AD1-0C8A-B54A-A07C-D8F5E80A9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8" y="3861048"/>
            <a:ext cx="4338745" cy="2423443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238719-54A3-74B9-B5F3-D7532B68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2B4ECE-1E53-C219-2416-B14EB8B15510}"/>
              </a:ext>
            </a:extLst>
          </p:cNvPr>
          <p:cNvSpPr txBox="1"/>
          <p:nvPr/>
        </p:nvSpPr>
        <p:spPr>
          <a:xfrm>
            <a:off x="316880" y="1312666"/>
            <a:ext cx="66096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The 32-bit output is permuted according to the P permutation.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After permutation, the bits from the output of each S-box in this round are spread across four different S-boxes in the next round.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36839D-BCAE-257F-3371-20280615EEF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b="1" dirty="0"/>
              <a:t>Permutation Review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415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424"/>
    </mc:Choice>
    <mc:Fallback xmlns="">
      <p:transition spd="slow" advTm="9942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15A999-538D-8D02-6501-89F21580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79511-FFA1-22BD-02C9-7103A46AE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f-function is the core source of security in DES</a:t>
            </a:r>
          </a:p>
          <a:p>
            <a:r>
              <a:rPr lang="en-US" dirty="0"/>
              <a:t>It combines:</a:t>
            </a:r>
          </a:p>
          <a:p>
            <a:pPr lvl="1"/>
            <a:r>
              <a:rPr lang="en-US" dirty="0"/>
              <a:t>expansion</a:t>
            </a:r>
          </a:p>
          <a:p>
            <a:pPr lvl="1"/>
            <a:r>
              <a:rPr lang="en-US" dirty="0"/>
              <a:t>key mixing</a:t>
            </a:r>
          </a:p>
          <a:p>
            <a:pPr lvl="1"/>
            <a:r>
              <a:rPr lang="en-US" dirty="0"/>
              <a:t>substitution (S-boxes)</a:t>
            </a:r>
          </a:p>
          <a:p>
            <a:pPr lvl="1"/>
            <a:r>
              <a:rPr lang="en-US" dirty="0"/>
              <a:t>permutation</a:t>
            </a:r>
          </a:p>
          <a:p>
            <a:r>
              <a:rPr lang="en-US" dirty="0"/>
              <a:t>Nonlinearity comes entirely from S-boxes</a:t>
            </a:r>
          </a:p>
          <a:p>
            <a:r>
              <a:rPr lang="en-US" dirty="0"/>
              <a:t>Diffusion is achieved across rounds, not in a single step</a:t>
            </a:r>
          </a:p>
          <a:p>
            <a:r>
              <a:rPr lang="en-US" dirty="0"/>
              <a:t>The f-function itself is not invertible</a:t>
            </a:r>
          </a:p>
          <a:p>
            <a:r>
              <a:rPr lang="en-US" dirty="0"/>
              <a:t>Security emerges from repetition inside the Feistel structure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291698-CFE7-85FE-BAFB-A3F3E80A4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CDF3-0577-4E46-DF24-F9D920364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36A13-02F9-A443-89CF-7F8DF9E59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figures are from the following textbooks:</a:t>
            </a:r>
          </a:p>
          <a:p>
            <a:pPr lvl="1"/>
            <a:r>
              <a:rPr lang="en-US" dirty="0"/>
              <a:t>Paar, Christof, and Jan Pelzl. </a:t>
            </a:r>
            <a:r>
              <a:rPr lang="en-US" i="1" dirty="0"/>
              <a:t>Understanding cryptography</a:t>
            </a:r>
            <a:r>
              <a:rPr lang="en-US" dirty="0"/>
              <a:t>. Vol. 1. Springer-Verlag Berlin Heidelberg, 2010.</a:t>
            </a:r>
          </a:p>
          <a:p>
            <a:pPr lvl="1"/>
            <a:r>
              <a:rPr lang="en-US" dirty="0"/>
              <a:t>Stallings, William. Cryptography and Network Security: Principles and Practice, 7th ed. England: Pearson Education Limited, 2017.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E23A2-A987-771B-0FFD-F76EE263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36EF1-E91E-3245-9153-77EA29F06AD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9724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5.8|3.2|2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9EFBAC-8B5A-4B0F-AAD7-F323147AD671}">
  <we:reference id="WA200009978" version="1.0.0.1" store="Omex" storeType="OMEX"/>
  <we:alternateReferences>
    <we:reference id="WA200009978" version="1.0.0.1" store="WA20000997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668</Words>
  <Application>Microsoft Office PowerPoint</Application>
  <PresentationFormat>Widescreen</PresentationFormat>
  <Paragraphs>127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Data Encryption Standard</vt:lpstr>
      <vt:lpstr>Outline</vt:lpstr>
      <vt:lpstr>Block Cipher</vt:lpstr>
      <vt:lpstr>Block Cipher (cont.)</vt:lpstr>
      <vt:lpstr>DES Encryption and Decryption</vt:lpstr>
      <vt:lpstr>F-function</vt:lpstr>
      <vt:lpstr>Expansion</vt:lpstr>
      <vt:lpstr>Expansion:</vt:lpstr>
      <vt:lpstr>Substitution</vt:lpstr>
      <vt:lpstr>Substitution Tables</vt:lpstr>
      <vt:lpstr>Permutation:</vt:lpstr>
      <vt:lpstr>F-Function Summary</vt:lpstr>
      <vt:lpstr>F-function Review</vt:lpstr>
      <vt:lpstr>Expansion Review</vt:lpstr>
      <vt:lpstr>Substitution Review</vt:lpstr>
      <vt:lpstr>Permutation Review</vt:lpstr>
      <vt:lpstr>Key Takeaways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Xinyue Zhang</dc:creator>
  <cp:lastModifiedBy>Xinyue Zhang</cp:lastModifiedBy>
  <cp:revision>6</cp:revision>
  <dcterms:created xsi:type="dcterms:W3CDTF">2026-02-03T22:05:00Z</dcterms:created>
  <dcterms:modified xsi:type="dcterms:W3CDTF">2026-04-20T17:08:15Z</dcterms:modified>
</cp:coreProperties>
</file>